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sldIdLst>
    <p:sldId id="256" r:id="rId2"/>
    <p:sldId id="317" r:id="rId3"/>
    <p:sldId id="318" r:id="rId4"/>
    <p:sldId id="319" r:id="rId5"/>
    <p:sldId id="274" r:id="rId6"/>
    <p:sldId id="272" r:id="rId7"/>
    <p:sldId id="306" r:id="rId8"/>
    <p:sldId id="331" r:id="rId9"/>
    <p:sldId id="332" r:id="rId10"/>
    <p:sldId id="327" r:id="rId11"/>
    <p:sldId id="323" r:id="rId12"/>
    <p:sldId id="273" r:id="rId13"/>
    <p:sldId id="298" r:id="rId14"/>
    <p:sldId id="592" r:id="rId15"/>
    <p:sldId id="281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3826" autoAdjust="0"/>
  </p:normalViewPr>
  <p:slideViewPr>
    <p:cSldViewPr>
      <p:cViewPr varScale="1">
        <p:scale>
          <a:sx n="73" d="100"/>
          <a:sy n="73" d="100"/>
        </p:scale>
        <p:origin x="129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C9BF10F-8002-4304-A139-E52FB0530B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 eaLnBrk="1" hangingPunct="1">
              <a:buFont typeface="Arial" panose="020B0604020202020204" pitchFamily="34" charset="0"/>
              <a:buNone/>
              <a:defRPr sz="1200" b="0" noProof="1"/>
            </a:lvl1pPr>
          </a:lstStyle>
          <a:p>
            <a:pPr>
              <a:defRPr/>
            </a:pPr>
            <a:endParaRPr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D520B32-18E0-4B9A-8741-4355FDDBEE3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 algn="r" eaLnBrk="1" hangingPunct="1">
              <a:buFont typeface="Arial" panose="020B0604020202020204" pitchFamily="34" charset="0"/>
              <a:buNone/>
              <a:defRPr sz="1200" b="0" noProof="1"/>
            </a:lvl1pPr>
          </a:lstStyle>
          <a:p>
            <a:pPr>
              <a:defRPr/>
            </a:pPr>
            <a:endParaRPr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FDA31B1-EE8E-49A6-ACCC-F64A26D2382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3F374281-4581-41C0-BE9F-71473DBBE3F7}"/>
              </a:ext>
            </a:extLst>
          </p:cNvPr>
          <p:cNvSpPr>
            <a:spLocks noGrp="1" noChangeArrowheads="1" noTextEdit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            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2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3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4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495EAD9-F80A-42EC-8B2A-B59786EDC0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b"/>
          <a:lstStyle>
            <a:lvl1pPr eaLnBrk="1" hangingPunct="1">
              <a:buFont typeface="Arial" panose="020B0604020202020204" pitchFamily="34" charset="0"/>
              <a:buNone/>
              <a:defRPr sz="1200" b="0" noProof="1"/>
            </a:lvl1pPr>
          </a:lstStyle>
          <a:p>
            <a:pPr>
              <a:defRPr/>
            </a:pPr>
            <a:endParaRPr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6F6929E-24A8-4B7B-BFD8-68CF7656D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b"/>
          <a:lstStyle>
            <a:lvl1pPr algn="r" eaLnBrk="1" hangingPunct="1">
              <a:buFont typeface="Arial" panose="020B0604020202020204" pitchFamily="34" charset="0"/>
              <a:buNone/>
              <a:defRPr noProof="1">
                <a:latin typeface="Times New Roman" panose="02020603050405020304" pitchFamily="2" charset="0"/>
                <a:cs typeface="+mn-ea"/>
              </a:defRPr>
            </a:lvl1pPr>
          </a:lstStyle>
          <a:p>
            <a:pPr>
              <a:defRPr/>
            </a:pPr>
            <a:fld id="{AF2FAD2B-4DDD-49B0-9094-CF39F9917E1B}" type="slidenum">
              <a:rPr lang="zh-CN" altLang="en-US"/>
              <a:pPr>
                <a:defRPr/>
              </a:pPr>
              <a:t>‹#›</a:t>
            </a:fld>
            <a:endParaRPr lang="en-US" altLang="x-none" sz="1200" b="0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lvl="1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lvl="2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lvl="3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lvl="4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lvl="5" indent="0">
      <a:defRPr sz="1200" kern="1200">
        <a:latin typeface="+mn-lt"/>
        <a:ea typeface="+mn-ea"/>
        <a:cs typeface="+mn-cs"/>
      </a:defRPr>
    </a:lvl6pPr>
    <a:lvl7pPr marL="2743200" lvl="6" indent="0">
      <a:defRPr sz="1200" kern="1200">
        <a:latin typeface="+mn-lt"/>
        <a:ea typeface="+mn-ea"/>
        <a:cs typeface="+mn-cs"/>
      </a:defRPr>
    </a:lvl7pPr>
    <a:lvl8pPr marL="3200400" lvl="7" indent="0">
      <a:defRPr sz="1200" kern="1200">
        <a:latin typeface="+mn-lt"/>
        <a:ea typeface="+mn-ea"/>
        <a:cs typeface="+mn-cs"/>
      </a:defRPr>
    </a:lvl8pPr>
    <a:lvl9pPr marL="3657600" lvl="8" indent="0">
      <a:defRPr sz="1200" kern="12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75C9A16-C5AA-43C4-B062-91C18E1792A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-3608388" y="0"/>
            <a:ext cx="7905751" cy="5930900"/>
          </a:xfrm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0BC9927-A8D3-438B-82E4-13AF263FEDAA}"/>
              </a:ext>
            </a:extLst>
          </p:cNvPr>
          <p:cNvSpPr>
            <a:spLocks noGrp="1" noChangeArrowheads="1" noTextEdit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80219A-D562-4295-A2DD-B2D4B35B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4CC21C-A4DA-4EBA-9A04-43CDE850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695473-1632-4E9F-AA86-B38C7177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97EB-C036-4F96-A6F5-9A1B62AA91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3730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D0D24C-E941-4FC4-B6C5-6311FD0A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FE2D4B-EFE6-4B8A-84FB-3D065390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68929-38BA-4A36-84D7-55309B0A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5049C5-3F3E-43C7-8B59-FE00EA401D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38424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2746F7-553C-43CB-BC48-A4CD14D4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262E13-98FC-487E-B3D1-933C6ED11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2FC2CC-0BC1-4594-B2FA-E7BB2E6B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635EC-3973-4968-87F3-D17889B2D5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11385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D70CB-602A-433E-A829-DB805A768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E2BD8-5D8D-446D-B2F8-9C75C7A6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0BFD9A-699B-461E-BB13-6A74F996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8028C-F9F3-4452-8BB8-9DAD7016DA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95003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970222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567346"/>
            <a:ext cx="3526380" cy="710095"/>
          </a:xfrm>
        </p:spPr>
        <p:txBody>
          <a:bodyPr anchor="ctr">
            <a:norm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2338388"/>
            <a:ext cx="3526380" cy="378596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567346"/>
            <a:ext cx="3526381" cy="710095"/>
          </a:xfrm>
        </p:spPr>
        <p:txBody>
          <a:bodyPr rtlCol="0" anchor="ctr">
            <a:normAutofit/>
          </a:bodyPr>
          <a:lstStyle>
            <a:lvl1pPr marL="171450" indent="-171450">
              <a:buNone/>
              <a:defRPr lang="zh-CN" altLang="en-US" b="0" smtClean="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2357460"/>
            <a:ext cx="3526381" cy="376689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10A8C86-A6F9-4CB5-B637-EADD4746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C159A35-53F3-4BB8-A437-58082E37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2668496-726A-4F0A-BC94-2D4B1CF2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4429D-2525-4E33-892D-8D2A03F799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5538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0BD2195-AB1B-47A3-B8A4-3D5F61EE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7FE65E-C90D-4EA2-9FEC-C2DECAEC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EDEC50-75D9-4F39-9098-9EE87DD1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EA0E5-5358-4A68-8602-22B2EB459E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51518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800D5BE-7CBC-4458-9276-F89371C7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6684FC9-38CC-4783-AFC8-C6D04A3A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C50551-A100-4275-BAB0-6A47B9B4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4BB84-BCD8-4173-970C-DFD35E16FA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6949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D0473C-1CE2-4802-854D-70684971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00605-711D-46DE-B0A7-F49411BE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FE7247-12DF-4E0E-A5A0-A0B8C155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382B7-F5A3-469E-8C50-9397E02D21C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85289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95638" cy="1600200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457201"/>
            <a:ext cx="4477941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95638" cy="381158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7449C-6BDA-4B75-A7A7-1702D219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5E402-841A-4DB4-9757-82220A01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43DFFE-7006-4E93-B43A-102E0BF9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EB609-C78D-4EF7-8AC4-4EE2011203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1236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44F037-827F-46E4-B2FF-BC273187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B9D052-FFA4-4819-AD5A-4445F506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B158AA-C6AA-48A0-9C8B-CB696E97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DAA24B-D75F-484C-8CBC-C7C7B7DCCF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4747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016261-5C15-4E3A-824D-B164E24E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F59DC2-841D-429B-9396-E122B931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9614E0-221B-485E-A249-0249B74E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D8F411-5C40-4CA3-8D17-AD129234F2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8920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03679F4-0E20-4E43-B539-6098CA8179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单击以编辑母版标题样式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C38AD8-497C-432C-B5AC-053512688A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单击以编辑母版文本样式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第三级</a:t>
            </a:r>
          </a:p>
          <a:p>
            <a:pPr lvl="3"/>
            <a:r>
              <a:rPr lang="zh-CN" altLang="en-US">
                <a:sym typeface="Times New Roman" panose="02020603050405020304" pitchFamily="18" charset="0"/>
              </a:rPr>
              <a:t>第四级</a:t>
            </a:r>
          </a:p>
          <a:p>
            <a:pPr lvl="4"/>
            <a:r>
              <a:rPr lang="zh-CN" altLang="en-US">
                <a:sym typeface="Times New Roman" panose="02020603050405020304" pitchFamily="18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A4952AC-562B-4DF2-B1EC-9E9CB4611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0"/>
            </a:lvl1pPr>
          </a:lstStyle>
          <a:p>
            <a:pPr>
              <a:defRPr/>
            </a:pPr>
            <a:endParaRPr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92841F-D0AE-4334-9BA5-A988EC831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 algn="ct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0"/>
            </a:lvl1pPr>
          </a:lstStyle>
          <a:p>
            <a:pPr>
              <a:defRPr/>
            </a:pPr>
            <a:endParaRPr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221C71A-4D66-4740-AD87-C879A813B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cs typeface="+mn-ea"/>
              </a:defRPr>
            </a:lvl1pPr>
          </a:lstStyle>
          <a:p>
            <a:pPr>
              <a:defRPr/>
            </a:pPr>
            <a:fld id="{2DBDE696-9350-419E-B834-C1637C95B4B7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  <p:grpSp>
        <p:nvGrpSpPr>
          <p:cNvPr id="1031" name="Group 7">
            <a:extLst>
              <a:ext uri="{FF2B5EF4-FFF2-40B4-BE49-F238E27FC236}">
                <a16:creationId xmlns:a16="http://schemas.microsoft.com/office/drawing/2014/main" id="{40FA00C8-F211-46AC-AAC6-2EADE68CED70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2" name="Rectangle 8">
              <a:extLst>
                <a:ext uri="{FF2B5EF4-FFF2-40B4-BE49-F238E27FC236}">
                  <a16:creationId xmlns:a16="http://schemas.microsoft.com/office/drawing/2014/main" id="{22734BE6-732D-4E0C-ACEE-624EDBFE3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400" b="0"/>
                <a:t>                  </a:t>
              </a:r>
              <a:endParaRPr lang="zh-CN" altLang="en-US"/>
            </a:p>
          </p:txBody>
        </p:sp>
        <p:sp>
          <p:nvSpPr>
            <p:cNvPr id="1033" name="Line 9">
              <a:extLst>
                <a:ext uri="{FF2B5EF4-FFF2-40B4-BE49-F238E27FC236}">
                  <a16:creationId xmlns:a16="http://schemas.microsoft.com/office/drawing/2014/main" id="{014E242A-FBFA-4080-9B7D-32763D22E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000000"/>
                </a:solidFill>
                <a:sym typeface="Times New Roman" panose="02020603050405020304" pitchFamily="18" charset="0"/>
              </a:endParaRPr>
            </a:p>
          </p:txBody>
        </p:sp>
        <p:sp>
          <p:nvSpPr>
            <p:cNvPr id="2" name="Line 10">
              <a:extLst>
                <a:ext uri="{FF2B5EF4-FFF2-40B4-BE49-F238E27FC236}">
                  <a16:creationId xmlns:a16="http://schemas.microsoft.com/office/drawing/2014/main" id="{E3217293-18B9-462E-B334-083F0B4CD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000000"/>
                </a:solidFill>
                <a:sym typeface="Times New Roman" panose="02020603050405020304" pitchFamily="18" charset="0"/>
              </a:endParaRPr>
            </a:p>
          </p:txBody>
        </p:sp>
        <p:sp>
          <p:nvSpPr>
            <p:cNvPr id="1035" name="Line 11">
              <a:extLst>
                <a:ext uri="{FF2B5EF4-FFF2-40B4-BE49-F238E27FC236}">
                  <a16:creationId xmlns:a16="http://schemas.microsoft.com/office/drawing/2014/main" id="{94241F26-101B-4A87-A7E8-927F7B3C7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000000"/>
                </a:solidFill>
                <a:sym typeface="Times New Roman" panose="02020603050405020304" pitchFamily="18" charset="0"/>
              </a:endParaRPr>
            </a:p>
          </p:txBody>
        </p:sp>
        <p:sp>
          <p:nvSpPr>
            <p:cNvPr id="1036" name="Line 12">
              <a:extLst>
                <a:ext uri="{FF2B5EF4-FFF2-40B4-BE49-F238E27FC236}">
                  <a16:creationId xmlns:a16="http://schemas.microsoft.com/office/drawing/2014/main" id="{29E01ABF-186D-4CF7-B9C1-8FDBD8C80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000000"/>
                </a:solidFill>
                <a:sym typeface="Times New Roman" panose="02020603050405020304" pitchFamily="18" charset="0"/>
              </a:endParaRPr>
            </a:p>
          </p:txBody>
        </p:sp>
        <p:sp>
          <p:nvSpPr>
            <p:cNvPr id="1037" name="Line 13">
              <a:extLst>
                <a:ext uri="{FF2B5EF4-FFF2-40B4-BE49-F238E27FC236}">
                  <a16:creationId xmlns:a16="http://schemas.microsoft.com/office/drawing/2014/main" id="{FD3E7953-261D-49FC-B1F4-243328981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000000"/>
                </a:solidFill>
                <a:sym typeface="Times New Roman" panose="02020603050405020304" pitchFamily="18" charset="0"/>
              </a:endParaRPr>
            </a:p>
          </p:txBody>
        </p:sp>
        <p:sp>
          <p:nvSpPr>
            <p:cNvPr id="1038" name="Line 14">
              <a:extLst>
                <a:ext uri="{FF2B5EF4-FFF2-40B4-BE49-F238E27FC236}">
                  <a16:creationId xmlns:a16="http://schemas.microsoft.com/office/drawing/2014/main" id="{6DA1819B-DA94-4304-B15F-8F0DCA541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000000"/>
                </a:solidFill>
                <a:sym typeface="Times New Roman" panose="02020603050405020304" pitchFamily="18" charset="0"/>
              </a:endParaRPr>
            </a:p>
          </p:txBody>
        </p:sp>
        <p:sp>
          <p:nvSpPr>
            <p:cNvPr id="1039" name="Line 15">
              <a:extLst>
                <a:ext uri="{FF2B5EF4-FFF2-40B4-BE49-F238E27FC236}">
                  <a16:creationId xmlns:a16="http://schemas.microsoft.com/office/drawing/2014/main" id="{DA04552B-21F5-4EC8-81C2-7C6BADBAF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000000"/>
                </a:solidFill>
                <a:sym typeface="Times New Roman" panose="02020603050405020304" pitchFamily="18" charset="0"/>
              </a:endParaRPr>
            </a:p>
          </p:txBody>
        </p:sp>
      </p:grpSp>
      <p:sp>
        <p:nvSpPr>
          <p:cNvPr id="1040" name="Line 16">
            <a:extLst>
              <a:ext uri="{FF2B5EF4-FFF2-40B4-BE49-F238E27FC236}">
                <a16:creationId xmlns:a16="http://schemas.microsoft.com/office/drawing/2014/main" id="{B347FE9B-A5E9-42D3-A79E-32B215C8A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1587"/>
          </a:xfrm>
          <a:prstGeom prst="line">
            <a:avLst/>
          </a:prstGeom>
          <a:noFill/>
          <a:ln w="57150">
            <a:solidFill>
              <a:srgbClr val="33CCCC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000000"/>
              </a:solidFill>
              <a:sym typeface="Times New Roman" panose="02020603050405020304" pitchFamily="18" charset="0"/>
            </a:endParaRPr>
          </a:p>
        </p:txBody>
      </p:sp>
      <p:sp>
        <p:nvSpPr>
          <p:cNvPr id="1041" name="Text Box 17">
            <a:extLst>
              <a:ext uri="{FF2B5EF4-FFF2-40B4-BE49-F238E27FC236}">
                <a16:creationId xmlns:a16="http://schemas.microsoft.com/office/drawing/2014/main" id="{11B1562C-BBFF-4632-B039-3567E4F06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en-US" altLang="zh-CN" sz="3200">
              <a:solidFill>
                <a:srgbClr val="FFFFFF"/>
              </a:solidFill>
            </a:endParaRPr>
          </a:p>
        </p:txBody>
      </p:sp>
      <p:pic>
        <p:nvPicPr>
          <p:cNvPr id="1034" name="Picture 18" descr="bupt">
            <a:extLst>
              <a:ext uri="{FF2B5EF4-FFF2-40B4-BE49-F238E27FC236}">
                <a16:creationId xmlns:a16="http://schemas.microsoft.com/office/drawing/2014/main" id="{A13CB442-D653-4D1D-8265-09E8B4208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ransition/>
  <p:txStyles>
    <p:titleStyle>
      <a:lvl1pPr algn="r" defTabSz="0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2pPr>
      <a:lvl3pPr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3pPr>
      <a:lvl4pPr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4pPr>
      <a:lvl5pPr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5pPr>
      <a:lvl6pPr marL="457200"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6pPr>
      <a:lvl7pPr marL="914400"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7pPr>
      <a:lvl8pPr marL="1371600"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8pPr>
      <a:lvl9pPr marL="1828800" algn="r" defTabSz="0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panose="020B0604020202020204" pitchFamily="34" charset="0"/>
          <a:ea typeface="宋体" panose="02010600030101010101" pitchFamily="2" charset="-122"/>
          <a:sym typeface="Times New Roman" panose="02020603050405020304" pitchFamily="18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742950" lvl="1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143000" lvl="2" indent="-228600" algn="l" defTabSz="0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600200" lvl="3" indent="-228600" algn="l" defTabSz="0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2057400" lvl="4" indent="-228600" algn="l" defTabSz="0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lvl="5" indent="-228600" algn="l" defTabSz="0" eaLnBrk="0" fontAlgn="base" latinLnBrk="0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2" charset="0"/>
        </a:defRPr>
      </a:lvl6pPr>
      <a:lvl7pPr marL="2971800" lvl="6" indent="-228600" algn="l" defTabSz="0" eaLnBrk="0" fontAlgn="base" latinLnBrk="0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2" charset="0"/>
        </a:defRPr>
      </a:lvl7pPr>
      <a:lvl8pPr marL="3429000" lvl="7" indent="-228600" algn="l" defTabSz="0" eaLnBrk="0" fontAlgn="base" latinLnBrk="0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2" charset="0"/>
        </a:defRPr>
      </a:lvl8pPr>
      <a:lvl9pPr marL="3886200" lvl="8" indent="-228600" algn="l" defTabSz="0" eaLnBrk="0" fontAlgn="base" latinLnBrk="0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2" charset="0"/>
        </a:defRPr>
      </a:lvl9pPr>
    </p:bodyStyle>
    <p:otherStyle>
      <a:lvl1pPr lvl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灯片编号占位符 5">
            <a:extLst>
              <a:ext uri="{FF2B5EF4-FFF2-40B4-BE49-F238E27FC236}">
                <a16:creationId xmlns:a16="http://schemas.microsoft.com/office/drawing/2014/main" id="{75AF9852-38CB-4B5A-8665-5C1AE48DA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960618BD-6DE5-40A4-8A35-312F328A08DA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1</a:t>
            </a:fld>
            <a:endParaRPr lang="zh-CN" altLang="en-US" b="0"/>
          </a:p>
        </p:txBody>
      </p:sp>
      <p:sp>
        <p:nvSpPr>
          <p:cNvPr id="14339" name="Rectangle 7">
            <a:extLst>
              <a:ext uri="{FF2B5EF4-FFF2-40B4-BE49-F238E27FC236}">
                <a16:creationId xmlns:a16="http://schemas.microsoft.com/office/drawing/2014/main" id="{C84C9971-5790-4D9B-AAEB-57AE76B4C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860800"/>
            <a:ext cx="7056437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b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计算机学院软件与理论中心</a:t>
            </a:r>
          </a:p>
        </p:txBody>
      </p:sp>
      <p:grpSp>
        <p:nvGrpSpPr>
          <p:cNvPr id="14340" name="Group 8">
            <a:extLst>
              <a:ext uri="{FF2B5EF4-FFF2-40B4-BE49-F238E27FC236}">
                <a16:creationId xmlns:a16="http://schemas.microsoft.com/office/drawing/2014/main" id="{4E86C280-56F2-4F04-AF53-0ECF83F84820}"/>
              </a:ext>
            </a:extLst>
          </p:cNvPr>
          <p:cNvGrpSpPr>
            <a:grpSpLocks/>
          </p:cNvGrpSpPr>
          <p:nvPr/>
        </p:nvGrpSpPr>
        <p:grpSpPr bwMode="auto">
          <a:xfrm>
            <a:off x="1701800" y="1885950"/>
            <a:ext cx="6313488" cy="1751013"/>
            <a:chOff x="36" y="220"/>
            <a:chExt cx="2736" cy="624"/>
          </a:xfrm>
        </p:grpSpPr>
        <p:sp>
          <p:nvSpPr>
            <p:cNvPr id="14342" name="Rectangle 9">
              <a:extLst>
                <a:ext uri="{FF2B5EF4-FFF2-40B4-BE49-F238E27FC236}">
                  <a16:creationId xmlns:a16="http://schemas.microsoft.com/office/drawing/2014/main" id="{E1EDC3EE-2576-4B0F-A8EC-504FAF536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" y="220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189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Times New Roman" panose="02020603050405020304" pitchFamily="18" charset="0"/>
              </a:endParaRPr>
            </a:p>
          </p:txBody>
        </p:sp>
        <p:sp>
          <p:nvSpPr>
            <p:cNvPr id="14343" name="Text Box 10">
              <a:extLst>
                <a:ext uri="{FF2B5EF4-FFF2-40B4-BE49-F238E27FC236}">
                  <a16:creationId xmlns:a16="http://schemas.microsoft.com/office/drawing/2014/main" id="{830E1FC6-05DD-45F0-A778-575C572AA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" y="246"/>
              <a:ext cx="2612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36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计算导论与程序设计</a:t>
              </a:r>
              <a:endPara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36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课程设计</a:t>
              </a:r>
              <a:r>
                <a:rPr lang="en-US" altLang="zh-CN" sz="36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lang="zh-CN" altLang="en-US" sz="36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前言</a:t>
              </a:r>
              <a:endPara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4341" name="Picture 11" descr="地球">
            <a:extLst>
              <a:ext uri="{FF2B5EF4-FFF2-40B4-BE49-F238E27FC236}">
                <a16:creationId xmlns:a16="http://schemas.microsoft.com/office/drawing/2014/main" id="{AED9E84C-483D-4E1D-9617-876FB6047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733800"/>
            <a:ext cx="1752600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>
            <a:extLst>
              <a:ext uri="{FF2B5EF4-FFF2-40B4-BE49-F238E27FC236}">
                <a16:creationId xmlns:a16="http://schemas.microsoft.com/office/drawing/2014/main" id="{CB7952B3-90F6-4995-8C5A-D1708945B9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6F05EC1C-CCDF-4273-95F6-32D24B8E1D97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2</a:t>
            </a:fld>
            <a:endParaRPr lang="zh-CN" altLang="en-US" b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D618957-C599-462E-AF80-996C7D690F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63650" y="404813"/>
            <a:ext cx="7772400" cy="720725"/>
          </a:xfrm>
        </p:spPr>
        <p:txBody>
          <a:bodyPr anchor="ctr"/>
          <a:lstStyle/>
          <a:p>
            <a:pPr eaLnBrk="1" hangingPunct="1"/>
            <a:r>
              <a:rPr lang="zh-CN" altLang="en-US" sz="3200">
                <a:ea typeface="华文琥珀" panose="02010800040101010101" pitchFamily="2" charset="-122"/>
              </a:rPr>
              <a:t>课程概述</a:t>
            </a:r>
            <a:endParaRPr lang="zh-CN" altLang="en-US" sz="3200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3A87116-89C3-4475-AEF9-839BC0AEC9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1319213"/>
            <a:ext cx="7772400" cy="4611687"/>
          </a:xfrm>
        </p:spPr>
        <p:txBody>
          <a:bodyPr/>
          <a:lstStyle/>
          <a:p>
            <a:pPr marL="711200" indent="-711200" algn="l" eaLnBrk="1" hangingPunct="1"/>
            <a:r>
              <a:rPr lang="zh-CN" altLang="en-US" sz="2800" b="1" u="sng">
                <a:ea typeface="黑体" panose="02010609060101010101" pitchFamily="49" charset="-122"/>
              </a:rPr>
              <a:t>提纲</a:t>
            </a:r>
            <a:endParaRPr lang="zh-CN" altLang="en-US" sz="2800"/>
          </a:p>
          <a:p>
            <a:pPr marL="711200" indent="-711200" algn="l" eaLnBrk="1" hangingPunct="1">
              <a:buFontTx/>
              <a:buAutoNum type="arabicPeriod"/>
            </a:pPr>
            <a:r>
              <a:rPr lang="zh-CN" altLang="en-US" sz="2800" b="1"/>
              <a:t>教学目的</a:t>
            </a:r>
          </a:p>
          <a:p>
            <a:pPr marL="711200" indent="-711200" algn="l" eaLnBrk="1" hangingPunct="1">
              <a:buFontTx/>
              <a:buAutoNum type="arabicPeriod"/>
            </a:pPr>
            <a:r>
              <a:rPr lang="zh-CN" altLang="en-US" sz="2800" b="1"/>
              <a:t>关于课程</a:t>
            </a:r>
          </a:p>
          <a:p>
            <a:pPr marL="1168400" lvl="1" indent="-711200" algn="l" eaLnBrk="1" hangingPunct="1"/>
            <a:r>
              <a:rPr lang="zh-CN" altLang="en-US" sz="2800" b="1"/>
              <a:t>  </a:t>
            </a:r>
            <a:r>
              <a:rPr lang="en-US" altLang="zh-CN" sz="2800" b="1"/>
              <a:t>(1) </a:t>
            </a:r>
            <a:r>
              <a:rPr lang="zh-CN" altLang="en-US" sz="2800" b="1"/>
              <a:t>教材</a:t>
            </a:r>
          </a:p>
          <a:p>
            <a:pPr marL="1168400" lvl="1" indent="-711200" algn="l" eaLnBrk="1" hangingPunct="1"/>
            <a:r>
              <a:rPr lang="zh-CN" altLang="en-US" sz="2800" b="1"/>
              <a:t>  </a:t>
            </a:r>
            <a:r>
              <a:rPr lang="en-US" altLang="zh-CN" sz="2800" b="1"/>
              <a:t>(2) </a:t>
            </a:r>
            <a:r>
              <a:rPr lang="zh-CN" altLang="en-US" sz="2800" b="1"/>
              <a:t>教学内容</a:t>
            </a:r>
          </a:p>
          <a:p>
            <a:pPr marL="1168400" lvl="1" indent="-711200" algn="l" eaLnBrk="1" hangingPunct="1"/>
            <a:r>
              <a:rPr lang="zh-CN" altLang="en-US" sz="2800" b="1"/>
              <a:t>  </a:t>
            </a:r>
            <a:r>
              <a:rPr lang="en-US" altLang="zh-CN" sz="2800" b="1"/>
              <a:t>(3) </a:t>
            </a:r>
            <a:r>
              <a:rPr lang="zh-CN" altLang="en-US" sz="2800" b="1"/>
              <a:t>教学计划</a:t>
            </a:r>
          </a:p>
          <a:p>
            <a:pPr marL="1168400" lvl="1" indent="-711200" algn="l" eaLnBrk="1" hangingPunct="1"/>
            <a:r>
              <a:rPr lang="zh-CN" altLang="en-US" sz="2800" b="1"/>
              <a:t>  </a:t>
            </a:r>
            <a:r>
              <a:rPr lang="en-US" altLang="zh-CN" sz="2800" b="1"/>
              <a:t>(4) </a:t>
            </a:r>
            <a:r>
              <a:rPr lang="zh-CN" altLang="en-US" sz="2800" b="1"/>
              <a:t>教学方式</a:t>
            </a:r>
          </a:p>
          <a:p>
            <a:pPr marL="711200" indent="-711200" algn="l" eaLnBrk="1" hangingPunct="1">
              <a:buFontTx/>
              <a:buAutoNum type="arabicPeriod"/>
            </a:pPr>
            <a:r>
              <a:rPr lang="zh-CN" altLang="en-US" sz="2800" b="1"/>
              <a:t>其它</a:t>
            </a:r>
          </a:p>
          <a:p>
            <a:pPr marL="711200" indent="-711200" algn="l" eaLnBrk="1" hangingPunct="1">
              <a:buFontTx/>
              <a:buAutoNum type="arabicPeriod"/>
            </a:pPr>
            <a:endParaRPr lang="zh-CN" altLang="en-US" sz="2800" b="1"/>
          </a:p>
          <a:p>
            <a:pPr marL="711200" indent="-711200" algn="l" eaLnBrk="1" hangingPunct="1">
              <a:buFontTx/>
              <a:buAutoNum type="arabicPeriod"/>
            </a:pPr>
            <a:endParaRPr lang="zh-CN" altLang="en-US" sz="2800" b="1"/>
          </a:p>
          <a:p>
            <a:pPr marL="711200" indent="-711200" algn="l" eaLnBrk="1" hangingPunct="1">
              <a:buFontTx/>
              <a:buAutoNum type="arabicPeriod"/>
            </a:pPr>
            <a:endParaRPr lang="zh-CN" altLang="en-US" sz="2800"/>
          </a:p>
        </p:txBody>
      </p:sp>
      <p:sp>
        <p:nvSpPr>
          <p:cNvPr id="15365" name="灯片编号占位符 1">
            <a:extLst>
              <a:ext uri="{FF2B5EF4-FFF2-40B4-BE49-F238E27FC236}">
                <a16:creationId xmlns:a16="http://schemas.microsoft.com/office/drawing/2014/main" id="{4ACD9A18-8D15-474A-AD54-01B6A1B9F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8B0363CF-117B-49C3-8B6F-C6EEABCD3F2C}" type="slidenum">
              <a:rPr lang="zh-CN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2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>
            <a:extLst>
              <a:ext uri="{FF2B5EF4-FFF2-40B4-BE49-F238E27FC236}">
                <a16:creationId xmlns:a16="http://schemas.microsoft.com/office/drawing/2014/main" id="{D55A8E85-5E33-4C2C-852C-1A467C4F00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9CF7EA97-CB1D-4880-B795-EDE111360066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3</a:t>
            </a:fld>
            <a:endParaRPr lang="zh-CN" altLang="en-US" b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7D789FA-7AFB-4988-8807-9D479FF298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63650" y="404813"/>
            <a:ext cx="7772400" cy="720725"/>
          </a:xfrm>
        </p:spPr>
        <p:txBody>
          <a:bodyPr anchor="ctr"/>
          <a:lstStyle/>
          <a:p>
            <a:pPr eaLnBrk="1" hangingPunct="1"/>
            <a:r>
              <a:rPr lang="en-US" altLang="zh-CN" sz="3200">
                <a:ea typeface="华文琥珀" panose="02010800040101010101" pitchFamily="2" charset="-122"/>
              </a:rPr>
              <a:t>1</a:t>
            </a:r>
            <a:r>
              <a:rPr lang="zh-CN" altLang="en-US" sz="3200">
                <a:ea typeface="华文琥珀" panose="02010800040101010101" pitchFamily="2" charset="-122"/>
              </a:rPr>
              <a:t>、教学目的</a:t>
            </a:r>
            <a:endParaRPr lang="zh-CN" altLang="en-US" sz="320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EFD82F2-BFF8-4D34-9BD2-4F77808DD3C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1319213"/>
            <a:ext cx="7772400" cy="4611687"/>
          </a:xfrm>
        </p:spPr>
        <p:txBody>
          <a:bodyPr/>
          <a:lstStyle/>
          <a:p>
            <a:pPr marL="533400" indent="-533400" algn="l" eaLnBrk="1" hangingPunct="1"/>
            <a:r>
              <a:rPr lang="zh-CN" altLang="en-US" sz="2800" b="1" dirty="0">
                <a:ea typeface="黑体" panose="02010609060101010101" pitchFamily="49" charset="-122"/>
              </a:rPr>
              <a:t>问题：为什么要进行课程设计？意义？</a:t>
            </a:r>
          </a:p>
          <a:p>
            <a:pPr marL="990600" lvl="1" indent="-533400" algn="l" eaLnBrk="1" hangingPunct="1">
              <a:buFontTx/>
              <a:buAutoNum type="arabicPeriod"/>
            </a:pPr>
            <a:r>
              <a:rPr lang="zh-CN" altLang="en-US" sz="2800" b="1" dirty="0"/>
              <a:t>巩固和提高，</a:t>
            </a:r>
            <a:r>
              <a:rPr lang="zh-CN" altLang="en-US" sz="2800" b="1" dirty="0">
                <a:solidFill>
                  <a:srgbClr val="FF0000"/>
                </a:solidFill>
              </a:rPr>
              <a:t>程序设计</a:t>
            </a:r>
            <a:r>
              <a:rPr lang="zh-CN" altLang="en-US" sz="2800" b="1" dirty="0"/>
              <a:t>不间断（算法</a:t>
            </a:r>
            <a:r>
              <a:rPr lang="en-US" altLang="zh-CN" sz="2800" b="1" dirty="0"/>
              <a:t>+</a:t>
            </a:r>
            <a:r>
              <a:rPr lang="zh-CN" altLang="en-US" sz="2800" b="1" dirty="0"/>
              <a:t>数据结构）</a:t>
            </a:r>
          </a:p>
          <a:p>
            <a:pPr marL="990600" lvl="1" indent="-533400" algn="l" eaLnBrk="1" hangingPunct="1">
              <a:buFontTx/>
              <a:buAutoNum type="arabicPeriod"/>
            </a:pPr>
            <a:r>
              <a:rPr lang="zh-CN" altLang="en-US" sz="2800" b="1" dirty="0"/>
              <a:t>对较复杂的问题进行</a:t>
            </a:r>
            <a:r>
              <a:rPr lang="zh-CN" altLang="en-US" sz="2800" b="1" dirty="0">
                <a:solidFill>
                  <a:srgbClr val="FF0000"/>
                </a:solidFill>
              </a:rPr>
              <a:t>问题分析</a:t>
            </a:r>
            <a:r>
              <a:rPr lang="zh-CN" altLang="en-US" sz="2800" b="1" dirty="0"/>
              <a:t>和</a:t>
            </a:r>
            <a:r>
              <a:rPr lang="zh-CN" altLang="en-US" sz="2800" b="1" dirty="0">
                <a:solidFill>
                  <a:srgbClr val="FF0000"/>
                </a:solidFill>
              </a:rPr>
              <a:t>方案求解</a:t>
            </a:r>
            <a:r>
              <a:rPr lang="zh-CN" altLang="en-US" sz="2800" b="1" dirty="0"/>
              <a:t>，提高</a:t>
            </a:r>
            <a:r>
              <a:rPr lang="zh-CN" altLang="en-US" sz="2800" b="1" dirty="0">
                <a:solidFill>
                  <a:srgbClr val="FF0000"/>
                </a:solidFill>
              </a:rPr>
              <a:t>抽象</a:t>
            </a:r>
            <a:r>
              <a:rPr lang="zh-CN" altLang="en-US" sz="2800" b="1" dirty="0"/>
              <a:t>和</a:t>
            </a:r>
            <a:r>
              <a:rPr lang="zh-CN" altLang="en-US" sz="2800" b="1" dirty="0">
                <a:solidFill>
                  <a:srgbClr val="FF0000"/>
                </a:solidFill>
              </a:rPr>
              <a:t>建模</a:t>
            </a:r>
            <a:r>
              <a:rPr lang="zh-CN" altLang="en-US" sz="2800" b="1" dirty="0"/>
              <a:t>的能力，掌握基本的问题求解方法</a:t>
            </a:r>
          </a:p>
          <a:p>
            <a:pPr marL="990600" lvl="1" indent="-533400" algn="l" eaLnBrk="1" hangingPunct="1">
              <a:buFontTx/>
              <a:buAutoNum type="arabicPeriod"/>
            </a:pPr>
            <a:r>
              <a:rPr lang="zh-CN" altLang="en-US" sz="2800" b="1" dirty="0"/>
              <a:t>初步的</a:t>
            </a:r>
            <a:r>
              <a:rPr lang="zh-CN" altLang="en-US" sz="2800" b="1" dirty="0">
                <a:solidFill>
                  <a:srgbClr val="FF0000"/>
                </a:solidFill>
              </a:rPr>
              <a:t>软件工程</a:t>
            </a:r>
            <a:r>
              <a:rPr lang="zh-CN" altLang="en-US" sz="2800" b="1" dirty="0"/>
              <a:t>训练</a:t>
            </a:r>
            <a:r>
              <a:rPr lang="en-US" altLang="zh-CN" sz="2800" b="1" dirty="0"/>
              <a:t>[</a:t>
            </a:r>
            <a:r>
              <a:rPr lang="zh-CN" altLang="en-US" sz="2800" b="1" dirty="0">
                <a:hlinkClick r:id="rId3" action="ppaction://hlinksldjump"/>
              </a:rPr>
              <a:t>链接</a:t>
            </a:r>
            <a:r>
              <a:rPr lang="en-US" altLang="zh-CN" sz="2800" b="1" dirty="0"/>
              <a:t>]</a:t>
            </a:r>
            <a:endParaRPr lang="zh-CN" altLang="en-US" sz="2800" b="1" dirty="0"/>
          </a:p>
          <a:p>
            <a:pPr marL="1447800" lvl="2" indent="-533400" algn="l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b="1" dirty="0"/>
              <a:t>软件工程的过程</a:t>
            </a:r>
          </a:p>
          <a:p>
            <a:pPr marL="1447800" lvl="2" indent="-533400" algn="l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b="1" dirty="0"/>
              <a:t>团队合作的意识和能力</a:t>
            </a:r>
          </a:p>
          <a:p>
            <a:pPr marL="990600" lvl="1" indent="-533400" algn="l" eaLnBrk="1" hangingPunct="1">
              <a:buFont typeface="Arial" panose="020B0604020202020204" pitchFamily="34" charset="0"/>
              <a:buChar char="•"/>
            </a:pPr>
            <a:endParaRPr lang="zh-CN" altLang="en-US" sz="2800" b="1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5">
            <a:extLst>
              <a:ext uri="{FF2B5EF4-FFF2-40B4-BE49-F238E27FC236}">
                <a16:creationId xmlns:a16="http://schemas.microsoft.com/office/drawing/2014/main" id="{6E14584F-B2CE-47BE-A500-ABA3EAE0A5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72C54383-A9C8-471D-A720-359D708E8F93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4</a:t>
            </a:fld>
            <a:endParaRPr lang="zh-CN" altLang="en-US" b="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0CDA66AF-B5A2-4E74-8CBD-42F55B89C6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63650" y="404813"/>
            <a:ext cx="7772400" cy="720725"/>
          </a:xfrm>
        </p:spPr>
        <p:txBody>
          <a:bodyPr anchor="ctr"/>
          <a:lstStyle/>
          <a:p>
            <a:pPr eaLnBrk="1" hangingPunct="1"/>
            <a:r>
              <a:rPr lang="en-US" altLang="zh-CN" sz="3200">
                <a:ea typeface="华文琥珀" panose="02010800040101010101" pitchFamily="2" charset="-122"/>
              </a:rPr>
              <a:t>1</a:t>
            </a:r>
            <a:r>
              <a:rPr lang="zh-CN" altLang="en-US" sz="3200">
                <a:ea typeface="华文琥珀" panose="02010800040101010101" pitchFamily="2" charset="-122"/>
              </a:rPr>
              <a:t>、教学目的</a:t>
            </a:r>
            <a:endParaRPr lang="zh-CN" altLang="en-US" sz="3200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77731F2-BB76-4A81-9511-0AEDD0624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319213"/>
            <a:ext cx="7772400" cy="4611687"/>
          </a:xfrm>
          <a:ln>
            <a:miter/>
          </a:ln>
        </p:spPr>
        <p:txBody>
          <a:bodyPr/>
          <a:lstStyle/>
          <a:p>
            <a:pPr marL="533400" indent="-533400" algn="l" eaLnBrk="1" hangingPunct="1">
              <a:defRPr/>
            </a:pPr>
            <a:r>
              <a:rPr lang="zh-CN" altLang="en-US" sz="2800" b="1" noProof="1">
                <a:ea typeface="黑体" panose="02010609060101010101" pitchFamily="1" charset="-122"/>
              </a:rPr>
              <a:t>问题：通过课程设计能够得到什么？目标？</a:t>
            </a:r>
          </a:p>
          <a:p>
            <a:pPr marL="533400" indent="-533400" algn="just" eaLnBrk="1" hangingPunct="1">
              <a:buFontTx/>
              <a:buAutoNum type="arabicPeriod"/>
              <a:defRPr/>
            </a:pPr>
            <a:r>
              <a:rPr lang="en-US" altLang="x-none" sz="2800" b="1" noProof="1"/>
              <a:t>C</a:t>
            </a:r>
            <a:r>
              <a:rPr lang="zh-CN" altLang="en-US" sz="2800" b="1" noProof="1"/>
              <a:t>语言的编程能力的提高；</a:t>
            </a:r>
          </a:p>
          <a:p>
            <a:pPr marL="533400" indent="-533400" algn="just" eaLnBrk="1" hangingPunct="1">
              <a:buFontTx/>
              <a:buAutoNum type="arabicPeriod"/>
              <a:defRPr/>
            </a:pPr>
            <a:r>
              <a:rPr lang="zh-CN" altLang="en-US" sz="2800" b="1" noProof="1"/>
              <a:t>能够用</a:t>
            </a:r>
            <a:r>
              <a:rPr lang="zh-CN" altLang="en-US" sz="2800" b="1" noProof="1">
                <a:solidFill>
                  <a:srgbClr val="FF0000"/>
                </a:solidFill>
              </a:rPr>
              <a:t>计算模型</a:t>
            </a:r>
            <a:r>
              <a:rPr lang="zh-CN" altLang="en-US" sz="2800" b="1" noProof="1"/>
              <a:t>分析、求解某些问题</a:t>
            </a:r>
          </a:p>
          <a:p>
            <a:pPr marL="533400" indent="-533400" algn="just" eaLnBrk="1" hangingPunct="1">
              <a:buFontTx/>
              <a:buAutoNum type="arabicPeriod"/>
              <a:defRPr/>
            </a:pPr>
            <a:r>
              <a:rPr lang="zh-CN" altLang="en-US" sz="2800" b="1" noProof="1"/>
              <a:t>了解传统的软件开发过程（如：瀑布模型），初步</a:t>
            </a:r>
            <a:r>
              <a:rPr lang="zh-CN" altLang="en-US" sz="2800" b="1" noProof="1">
                <a:solidFill>
                  <a:srgbClr val="FF3300"/>
                </a:solidFill>
              </a:rPr>
              <a:t>学习和实践</a:t>
            </a: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结构化</a:t>
            </a:r>
            <a:r>
              <a:rPr lang="zh-CN" altLang="en-US" sz="2800" b="1" noProof="1"/>
              <a:t>开发方法和软件工程思想</a:t>
            </a:r>
          </a:p>
          <a:p>
            <a:pPr marL="533400" indent="-533400" algn="just" eaLnBrk="1" hangingPunct="1">
              <a:buFontTx/>
              <a:buAutoNum type="arabicPeriod"/>
              <a:defRPr/>
            </a:pPr>
            <a:r>
              <a:rPr lang="zh-CN" altLang="en-US" sz="2800" b="1" noProof="1"/>
              <a:t>综合运用以前所学程序设计知识解决较复杂的问题，</a:t>
            </a:r>
            <a:r>
              <a:rPr lang="zh-CN" altLang="en-US" sz="2800" b="1" noProof="1">
                <a:solidFill>
                  <a:srgbClr val="FF0000"/>
                </a:solidFill>
              </a:rPr>
              <a:t>问题解决能力</a:t>
            </a:r>
            <a:r>
              <a:rPr lang="zh-CN" altLang="en-US" sz="2800" b="1" noProof="1"/>
              <a:t>的提高</a:t>
            </a:r>
            <a:endParaRPr lang="zh-CN" altLang="en-US" sz="2800" noProof="1"/>
          </a:p>
        </p:txBody>
      </p:sp>
      <p:sp>
        <p:nvSpPr>
          <p:cNvPr id="18437" name="灯片编号占位符 1">
            <a:extLst>
              <a:ext uri="{FF2B5EF4-FFF2-40B4-BE49-F238E27FC236}">
                <a16:creationId xmlns:a16="http://schemas.microsoft.com/office/drawing/2014/main" id="{8BE1E618-88CD-48E4-BED5-A34C2AFE4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90A4CA61-7ED1-4F62-9F79-961DE248B1F9}" type="slidenum">
              <a:rPr lang="zh-CN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4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5">
            <a:extLst>
              <a:ext uri="{FF2B5EF4-FFF2-40B4-BE49-F238E27FC236}">
                <a16:creationId xmlns:a16="http://schemas.microsoft.com/office/drawing/2014/main" id="{DD7C6EC9-12C8-49ED-9C89-E476D96E8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7F909D99-7C06-4319-B43B-068EE2FE51DA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5</a:t>
            </a:fld>
            <a:endParaRPr lang="zh-CN" altLang="en-US" b="0"/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id="{80B72738-69A6-4613-BB5B-880B9A3359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50739" y="1485274"/>
            <a:ext cx="7700962" cy="576262"/>
          </a:xfrm>
        </p:spPr>
        <p:txBody>
          <a:bodyPr lIns="92075" tIns="46038" rIns="92075" bIns="46038"/>
          <a:lstStyle/>
          <a:p>
            <a:pPr algn="l" eaLnBrk="1" hangingPunct="1"/>
            <a:r>
              <a:rPr lang="zh-CN" altLang="en-US" sz="2800" b="1" dirty="0"/>
              <a:t>课程名称：</a:t>
            </a:r>
          </a:p>
          <a:p>
            <a:pPr eaLnBrk="1" hangingPunct="1"/>
            <a:endParaRPr lang="zh-CN" altLang="en-US" sz="2800" b="1" dirty="0"/>
          </a:p>
        </p:txBody>
      </p:sp>
      <p:sp>
        <p:nvSpPr>
          <p:cNvPr id="8196" name="Text Box 8">
            <a:extLst>
              <a:ext uri="{FF2B5EF4-FFF2-40B4-BE49-F238E27FC236}">
                <a16:creationId xmlns:a16="http://schemas.microsoft.com/office/drawing/2014/main" id="{33116BE2-8B20-49A3-A7A8-E0EEDA607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034" y="2708950"/>
            <a:ext cx="7848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参考书：上学期使用的教材</a:t>
            </a:r>
          </a:p>
        </p:txBody>
      </p:sp>
      <p:sp>
        <p:nvSpPr>
          <p:cNvPr id="19461" name="Text Box 9">
            <a:extLst>
              <a:ext uri="{FF2B5EF4-FFF2-40B4-BE49-F238E27FC236}">
                <a16:creationId xmlns:a16="http://schemas.microsoft.com/office/drawing/2014/main" id="{28CF9EA6-CB96-41B2-9A89-D37979EB5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1522107"/>
            <a:ext cx="63373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《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计算导论与程序设计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</a:rPr>
              <a:t>课程设计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》</a:t>
            </a:r>
            <a:endParaRPr lang="zh-CN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9462" name="Rectangle 12">
            <a:extLst>
              <a:ext uri="{FF2B5EF4-FFF2-40B4-BE49-F238E27FC236}">
                <a16:creationId xmlns:a16="http://schemas.microsoft.com/office/drawing/2014/main" id="{BDF96688-5BD5-441B-91AC-312848BE6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0">
                <a:solidFill>
                  <a:srgbClr val="FF3300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2</a:t>
            </a:r>
            <a:r>
              <a:rPr lang="zh-CN" altLang="en-US" sz="3200" b="0">
                <a:solidFill>
                  <a:srgbClr val="FF3300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、关于课程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AB55267-C95A-4F36-B07C-FD17C797AC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2D195ABC-4E3C-4BA1-A5D5-5AA12321BE71}" type="slidenum">
              <a:rPr lang="zh-CN" altLang="en-US" sz="1400"/>
              <a:pPr algn="r" eaLnBrk="1" hangingPunct="1">
                <a:spcBef>
                  <a:spcPct val="50000"/>
                </a:spcBef>
                <a:buFontTx/>
                <a:buNone/>
              </a:pPr>
              <a:t>5</a:t>
            </a:fld>
            <a:endParaRPr lang="en-US" altLang="zh-CN" sz="1400"/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CD4B9AFE-26FF-4FE9-9EE5-79B805874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3402013"/>
            <a:ext cx="2320925" cy="295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2">
            <a:extLst>
              <a:ext uri="{FF2B5EF4-FFF2-40B4-BE49-F238E27FC236}">
                <a16:creationId xmlns:a16="http://schemas.microsoft.com/office/drawing/2014/main" id="{CE07B1CA-8440-40B1-8C9A-4E288B4C0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416300"/>
            <a:ext cx="2236788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48D81E30-DADF-4989-A362-8EDFA67F2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281363"/>
            <a:ext cx="2455862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灯片编号占位符 6">
            <a:extLst>
              <a:ext uri="{FF2B5EF4-FFF2-40B4-BE49-F238E27FC236}">
                <a16:creationId xmlns:a16="http://schemas.microsoft.com/office/drawing/2014/main" id="{BED8090F-A761-4A5F-855A-B6D9699A49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659855E8-0F1E-4023-8FF6-05A8502230A3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6</a:t>
            </a:fld>
            <a:endParaRPr lang="zh-CN" altLang="en-US" b="0"/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393252C4-2453-4EF6-A2C1-F6E21EABF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1917700"/>
            <a:ext cx="8061325" cy="3748088"/>
          </a:xfrm>
          <a:ln>
            <a:miter/>
          </a:ln>
        </p:spPr>
        <p:txBody>
          <a:bodyPr lIns="92075" tIns="46038" rIns="92075" bIns="46038"/>
          <a:lstStyle/>
          <a:p>
            <a:pPr marL="457200" indent="-457200" algn="l" eaLnBrk="1" hangingPunct="1">
              <a:lnSpc>
                <a:spcPct val="15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en-US" altLang="x-none" sz="2400" b="1" noProof="1"/>
              <a:t>《</a:t>
            </a:r>
            <a:r>
              <a:rPr lang="en-US" altLang="x-none" sz="2400" noProof="1">
                <a:sym typeface="Arial" panose="020B0604020202020204" pitchFamily="34" charset="0"/>
              </a:rPr>
              <a:t>C</a:t>
            </a:r>
            <a:r>
              <a:rPr lang="zh-CN" altLang="en-US" sz="2400" noProof="1">
                <a:sym typeface="Arial" panose="020B0604020202020204" pitchFamily="34" charset="0"/>
              </a:rPr>
              <a:t>Primer Plus(第5</a:t>
            </a:r>
            <a:r>
              <a:rPr lang="en-US" altLang="zh-CN" sz="2400" noProof="1">
                <a:sym typeface="Arial" panose="020B0604020202020204" pitchFamily="34" charset="0"/>
              </a:rPr>
              <a:t>/6</a:t>
            </a:r>
            <a:r>
              <a:rPr lang="zh-CN" altLang="en-US" sz="2400" noProof="1">
                <a:sym typeface="Arial" panose="020B0604020202020204" pitchFamily="34" charset="0"/>
              </a:rPr>
              <a:t>版)</a:t>
            </a:r>
            <a:r>
              <a:rPr lang="en-US" altLang="x-none" sz="2400" b="1" noProof="1"/>
              <a:t>》</a:t>
            </a:r>
            <a:r>
              <a:rPr lang="zh-CN" altLang="en-US" sz="2400" b="1" noProof="1"/>
              <a:t>第</a:t>
            </a:r>
            <a:r>
              <a:rPr lang="en-US" altLang="x-none" sz="2400" b="1" noProof="1"/>
              <a:t>17</a:t>
            </a:r>
            <a:r>
              <a:rPr lang="zh-CN" altLang="en-US" sz="2400" b="1" noProof="1"/>
              <a:t>章 高级数据表示</a:t>
            </a:r>
            <a:r>
              <a:rPr lang="en-US" altLang="zh-CN" sz="2400" b="1" noProof="1"/>
              <a:t>(</a:t>
            </a:r>
            <a:r>
              <a:rPr lang="zh-CN" altLang="en-US" sz="2400" b="1" noProof="1"/>
              <a:t>链表</a:t>
            </a:r>
            <a:r>
              <a:rPr lang="en-US" altLang="zh-CN" sz="2400" b="1" noProof="1"/>
              <a:t>)</a:t>
            </a:r>
          </a:p>
          <a:p>
            <a:pPr marL="457200" indent="-457200" algn="l" eaLnBrk="1" hangingPunct="1">
              <a:lnSpc>
                <a:spcPct val="15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en-US" altLang="x-none" sz="2400" b="1" noProof="1"/>
              <a:t>《</a:t>
            </a:r>
            <a:r>
              <a:rPr lang="en-US" altLang="x-none" sz="2400" noProof="1">
                <a:sym typeface="Arial" panose="020B0604020202020204" pitchFamily="34" charset="0"/>
              </a:rPr>
              <a:t>C</a:t>
            </a:r>
            <a:r>
              <a:rPr lang="zh-CN" altLang="en-US" sz="2400" noProof="1">
                <a:sym typeface="Arial" panose="020B0604020202020204" pitchFamily="34" charset="0"/>
              </a:rPr>
              <a:t>Primer Plus(第5</a:t>
            </a:r>
            <a:r>
              <a:rPr lang="en-US" altLang="zh-CN" sz="2400" noProof="1">
                <a:sym typeface="Arial" panose="020B0604020202020204" pitchFamily="34" charset="0"/>
              </a:rPr>
              <a:t>/6</a:t>
            </a:r>
            <a:r>
              <a:rPr lang="zh-CN" altLang="en-US" sz="2400" noProof="1">
                <a:sym typeface="Arial" panose="020B0604020202020204" pitchFamily="34" charset="0"/>
              </a:rPr>
              <a:t>版)</a:t>
            </a:r>
            <a:r>
              <a:rPr lang="en-US" altLang="x-none" sz="2400" b="1" noProof="1"/>
              <a:t>》</a:t>
            </a:r>
            <a:r>
              <a:rPr lang="zh-CN" altLang="en-US" sz="2400" b="1" noProof="1"/>
              <a:t>第</a:t>
            </a:r>
            <a:r>
              <a:rPr lang="en-US" altLang="x-none" sz="2400" b="1" noProof="1"/>
              <a:t>13</a:t>
            </a:r>
            <a:r>
              <a:rPr lang="zh-CN" altLang="en-US" sz="2400" b="1" noProof="1"/>
              <a:t>章 文件输入</a:t>
            </a:r>
            <a:r>
              <a:rPr lang="en-US" altLang="zh-CN" sz="2400" b="1" noProof="1"/>
              <a:t>/</a:t>
            </a:r>
            <a:r>
              <a:rPr lang="zh-CN" altLang="en-US" sz="2400" b="1" noProof="1"/>
              <a:t>输出</a:t>
            </a: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x-none" sz="2400" b="1" noProof="1"/>
              <a:t>3. 《</a:t>
            </a:r>
            <a:r>
              <a:rPr lang="zh-CN" altLang="en-US" sz="2400" b="1" noProof="1"/>
              <a:t>计算机导论与程序设计基础</a:t>
            </a:r>
            <a:r>
              <a:rPr lang="en-US" altLang="x-none" sz="2400" b="1" noProof="1"/>
              <a:t>》</a:t>
            </a:r>
            <a:r>
              <a:rPr lang="zh-CN" altLang="en-US" sz="2400" b="1" noProof="1"/>
              <a:t>第二篇 应用有限状态自动机模型解题</a:t>
            </a: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x-none" sz="2400" b="1" noProof="1"/>
              <a:t>4.《</a:t>
            </a:r>
            <a:r>
              <a:rPr lang="en-US" altLang="x-none" sz="2400" noProof="1">
                <a:sym typeface="Arial" panose="020B0604020202020204" pitchFamily="34" charset="0"/>
              </a:rPr>
              <a:t>C</a:t>
            </a:r>
            <a:r>
              <a:rPr lang="zh-CN" altLang="en-US" sz="2400" noProof="1">
                <a:sym typeface="Arial" panose="020B0604020202020204" pitchFamily="34" charset="0"/>
              </a:rPr>
              <a:t>Primer Plus(第5</a:t>
            </a:r>
            <a:r>
              <a:rPr lang="en-US" altLang="zh-CN" sz="2400" noProof="1">
                <a:sym typeface="Arial" panose="020B0604020202020204" pitchFamily="34" charset="0"/>
              </a:rPr>
              <a:t>/6</a:t>
            </a:r>
            <a:r>
              <a:rPr lang="zh-CN" altLang="en-US" sz="2400" noProof="1">
                <a:sym typeface="Arial" panose="020B0604020202020204" pitchFamily="34" charset="0"/>
              </a:rPr>
              <a:t>版)</a:t>
            </a:r>
            <a:r>
              <a:rPr lang="en-US" altLang="x-none" sz="2400" b="1" noProof="1"/>
              <a:t>》</a:t>
            </a:r>
            <a:r>
              <a:rPr lang="zh-CN" altLang="en-US" sz="2400" b="1" noProof="1"/>
              <a:t>第</a:t>
            </a:r>
            <a:r>
              <a:rPr lang="en-US" altLang="x-none" sz="2400" b="1" noProof="1"/>
              <a:t>5</a:t>
            </a:r>
            <a:r>
              <a:rPr lang="zh-CN" altLang="en-US" sz="2400" b="1" noProof="1"/>
              <a:t>章 函数中 变量的存储类别、内部函数和外部函数</a:t>
            </a: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2400" b="1" noProof="1"/>
              <a:t>5. </a:t>
            </a:r>
            <a:r>
              <a:rPr lang="en-US" altLang="x-none" sz="2400" b="1" noProof="1">
                <a:solidFill>
                  <a:srgbClr val="000000"/>
                </a:solidFill>
                <a:latin typeface="Times New Roman" panose="02020603050405020304" pitchFamily="2" charset="0"/>
                <a:sym typeface="Times New Roman" panose="02020603050405020304" pitchFamily="2" charset="0"/>
              </a:rPr>
              <a:t>《</a:t>
            </a:r>
            <a:r>
              <a:rPr lang="zh-CN" altLang="en-US" sz="2400" b="1" noProof="1">
                <a:solidFill>
                  <a:srgbClr val="000000"/>
                </a:solidFill>
                <a:latin typeface="Times New Roman" panose="02020603050405020304" pitchFamily="2" charset="0"/>
                <a:sym typeface="Times New Roman" panose="02020603050405020304" pitchFamily="2" charset="0"/>
              </a:rPr>
              <a:t>程序设计（</a:t>
            </a:r>
            <a:r>
              <a:rPr lang="en-US" altLang="x-none" sz="2400" b="1" noProof="1">
                <a:solidFill>
                  <a:srgbClr val="000000"/>
                </a:solidFill>
                <a:latin typeface="Times New Roman" panose="02020603050405020304" pitchFamily="2" charset="0"/>
                <a:sym typeface="Times New Roman" panose="02020603050405020304" pitchFamily="2" charset="0"/>
              </a:rPr>
              <a:t>C</a:t>
            </a:r>
            <a:r>
              <a:rPr lang="zh-CN" altLang="en-US" sz="2400" b="1" noProof="1">
                <a:solidFill>
                  <a:srgbClr val="000000"/>
                </a:solidFill>
                <a:latin typeface="Times New Roman" panose="02020603050405020304" pitchFamily="2" charset="0"/>
                <a:sym typeface="Times New Roman" panose="02020603050405020304" pitchFamily="2" charset="0"/>
              </a:rPr>
              <a:t>语言）实验指导</a:t>
            </a:r>
            <a:r>
              <a:rPr lang="en-US" altLang="x-none" sz="2400" b="1" noProof="1">
                <a:solidFill>
                  <a:srgbClr val="000000"/>
                </a:solidFill>
                <a:latin typeface="Times New Roman" panose="02020603050405020304" pitchFamily="2" charset="0"/>
                <a:sym typeface="Times New Roman" panose="02020603050405020304" pitchFamily="2" charset="0"/>
              </a:rPr>
              <a:t>》</a:t>
            </a:r>
            <a:r>
              <a:rPr lang="zh-CN" altLang="x-none" sz="2400" b="1" noProof="1">
                <a:solidFill>
                  <a:srgbClr val="000000"/>
                </a:solidFill>
                <a:latin typeface="Times New Roman" panose="02020603050405020304" pitchFamily="2" charset="0"/>
                <a:sym typeface="Times New Roman" panose="02020603050405020304" pitchFamily="2" charset="0"/>
              </a:rPr>
              <a:t>第二部分</a:t>
            </a:r>
            <a:r>
              <a:rPr lang="zh-CN" altLang="x-none" sz="2400" noProof="1">
                <a:solidFill>
                  <a:srgbClr val="000000"/>
                </a:solidFill>
                <a:latin typeface="Times New Roman" panose="02020603050405020304" pitchFamily="2" charset="0"/>
                <a:sym typeface="Times New Roman" panose="02020603050405020304" pitchFamily="2" charset="0"/>
              </a:rPr>
              <a:t> </a:t>
            </a:r>
            <a:r>
              <a:rPr lang="zh-CN" altLang="en-US" sz="2400" b="1" noProof="1"/>
              <a:t>软件工程初步（包括</a:t>
            </a:r>
            <a:r>
              <a:rPr lang="en-US" altLang="x-none" sz="2400" b="1" noProof="1"/>
              <a:t>C</a:t>
            </a:r>
            <a:r>
              <a:rPr lang="zh-CN" altLang="en-US" sz="2400" b="1" noProof="1"/>
              <a:t>语言如何模块化软件）</a:t>
            </a:r>
          </a:p>
          <a:p>
            <a:pPr marL="457200" indent="-457200" algn="l" eaLnBrk="1" hangingPunct="1">
              <a:lnSpc>
                <a:spcPct val="150000"/>
              </a:lnSpc>
              <a:spcBef>
                <a:spcPct val="0"/>
              </a:spcBef>
              <a:defRPr/>
            </a:pPr>
            <a:endParaRPr lang="zh-CN" altLang="en-US" sz="2400" noProof="1"/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8847320A-FA61-40E0-B396-92E126B74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777240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0">
                <a:solidFill>
                  <a:srgbClr val="FF3300"/>
                </a:solidFill>
                <a:latin typeface="Times New Roman" panose="02020603050405020304" pitchFamily="18" charset="0"/>
              </a:rPr>
              <a:t> 二、教学内容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20485" name="Rectangle 14">
            <a:extLst>
              <a:ext uri="{FF2B5EF4-FFF2-40B4-BE49-F238E27FC236}">
                <a16:creationId xmlns:a16="http://schemas.microsoft.com/office/drawing/2014/main" id="{3C3AA348-AD55-4578-AF24-999648E113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63650" y="404813"/>
            <a:ext cx="7772400" cy="720725"/>
          </a:xfrm>
        </p:spPr>
        <p:txBody>
          <a:bodyPr anchor="ctr"/>
          <a:lstStyle/>
          <a:p>
            <a:pPr eaLnBrk="1" hangingPunct="1"/>
            <a:r>
              <a:rPr lang="en-US" altLang="zh-CN" sz="3200">
                <a:ea typeface="华文琥珀" panose="02010800040101010101" pitchFamily="2" charset="-122"/>
              </a:rPr>
              <a:t>2</a:t>
            </a:r>
            <a:r>
              <a:rPr lang="zh-CN" altLang="en-US" sz="3200">
                <a:ea typeface="华文琥珀" panose="02010800040101010101" pitchFamily="2" charset="-122"/>
              </a:rPr>
              <a:t>、关于课程</a:t>
            </a:r>
            <a:endParaRPr lang="zh-CN" altLang="en-US" sz="3200"/>
          </a:p>
        </p:txBody>
      </p:sp>
      <p:sp>
        <p:nvSpPr>
          <p:cNvPr id="20486" name="灯片编号占位符 1">
            <a:extLst>
              <a:ext uri="{FF2B5EF4-FFF2-40B4-BE49-F238E27FC236}">
                <a16:creationId xmlns:a16="http://schemas.microsoft.com/office/drawing/2014/main" id="{1926DC00-0331-47EA-BDF9-AD60D28A1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96EB58F6-6297-4167-AF42-14EDCEE6D2B4}" type="slidenum">
              <a:rPr lang="zh-CN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6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5">
            <a:extLst>
              <a:ext uri="{FF2B5EF4-FFF2-40B4-BE49-F238E27FC236}">
                <a16:creationId xmlns:a16="http://schemas.microsoft.com/office/drawing/2014/main" id="{D7442772-D80C-4752-8FA1-628A76509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9075A268-C4BB-460B-8E77-E5C14A1B3445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7</a:t>
            </a:fld>
            <a:endParaRPr lang="zh-CN" altLang="en-US" b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6AD66B0-95BA-4540-B06C-8E969ADF9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319213"/>
            <a:ext cx="7772400" cy="4611687"/>
          </a:xfrm>
          <a:ln>
            <a:miter/>
          </a:ln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b="1" noProof="1"/>
              <a:t>6</a:t>
            </a:r>
            <a:r>
              <a:rPr lang="en-US" altLang="x-none" sz="2400" b="1" noProof="1"/>
              <a:t>. </a:t>
            </a:r>
            <a:r>
              <a:rPr lang="zh-CN" altLang="en-US" sz="2400" b="1" noProof="1"/>
              <a:t>程序设计实践</a:t>
            </a:r>
          </a:p>
          <a:p>
            <a:pPr marL="914400" lvl="1" indent="-457200"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b="1" noProof="1"/>
              <a:t>题目：</a:t>
            </a:r>
          </a:p>
          <a:p>
            <a:pPr marL="914400" lvl="1" indent="-457200"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b="1" noProof="1">
                <a:solidFill>
                  <a:schemeClr val="accent6">
                    <a:lumMod val="60000"/>
                    <a:lumOff val="40000"/>
                  </a:schemeClr>
                </a:solidFill>
                <a:sym typeface="+mn-ea"/>
              </a:rPr>
              <a:t>（具体任务要求待发布）</a:t>
            </a:r>
          </a:p>
          <a:p>
            <a:pPr marL="914400" lvl="1" indent="-457200"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b="1" noProof="1"/>
              <a:t> 初步感受建立模型对问题求解的作用；</a:t>
            </a:r>
          </a:p>
          <a:p>
            <a:pPr marL="914400" lvl="1" indent="-457200"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b="1" noProof="1"/>
              <a:t> 进一步运用和巩固上学期程序设计所学知识：</a:t>
            </a:r>
            <a:endParaRPr lang="en-US" altLang="zh-CN" sz="2400" b="1" noProof="1"/>
          </a:p>
          <a:p>
            <a:pPr marL="914400" lvl="1" indent="-457200" algn="l" eaLnBrk="1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400" b="1" noProof="1">
                <a:solidFill>
                  <a:srgbClr val="FF0000"/>
                </a:solidFill>
              </a:rPr>
              <a:t>三种基本结构、数组、链表、结构、文件等。</a:t>
            </a:r>
          </a:p>
          <a:p>
            <a:pPr algn="l" eaLnBrk="1" hangingPunct="1">
              <a:spcBef>
                <a:spcPct val="0"/>
              </a:spcBef>
              <a:defRPr/>
            </a:pPr>
            <a:endParaRPr lang="zh-CN" altLang="en-US" sz="2400" b="1" noProof="1"/>
          </a:p>
          <a:p>
            <a:pPr algn="l" eaLnBrk="1" hangingPunct="1">
              <a:spcBef>
                <a:spcPct val="0"/>
              </a:spcBef>
              <a:defRPr/>
            </a:pPr>
            <a:endParaRPr lang="zh-CN" altLang="en-US" sz="2400" noProof="1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0E4DF40F-1595-4A36-BA84-07472A9F5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33375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0">
                <a:solidFill>
                  <a:srgbClr val="FF3300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2</a:t>
            </a:r>
            <a:r>
              <a:rPr lang="zh-CN" altLang="en-US" sz="3200" b="0">
                <a:solidFill>
                  <a:srgbClr val="FF3300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、关于课程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21509" name="灯片编号占位符 1">
            <a:extLst>
              <a:ext uri="{FF2B5EF4-FFF2-40B4-BE49-F238E27FC236}">
                <a16:creationId xmlns:a16="http://schemas.microsoft.com/office/drawing/2014/main" id="{D6F7E7BC-DECE-4F44-90D2-FF9D20E32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0B99697E-8040-4826-BB7B-5B93F15C6E69}" type="slidenum">
              <a:rPr lang="zh-CN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7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>
            <a:extLst>
              <a:ext uri="{FF2B5EF4-FFF2-40B4-BE49-F238E27FC236}">
                <a16:creationId xmlns:a16="http://schemas.microsoft.com/office/drawing/2014/main" id="{C3DDF2D5-0E78-43FD-9784-FEFA62F55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8" y="1555750"/>
            <a:ext cx="8350250" cy="5526088"/>
          </a:xfrm>
          <a:ln>
            <a:miter/>
          </a:ln>
        </p:spPr>
        <p:txBody>
          <a:bodyPr/>
          <a:lstStyle/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程序设计语言基本成分</a:t>
            </a:r>
            <a:r>
              <a:rPr lang="zh-CN" altLang="en-US" sz="2800" b="1" noProof="1"/>
              <a:t>：数据类型、常量、变量、表达式、语句、函数</a:t>
            </a:r>
            <a:endParaRPr lang="en-US" altLang="x-none" sz="2800" b="1" noProof="1"/>
          </a:p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三种基本结构</a:t>
            </a:r>
            <a:r>
              <a:rPr lang="zh-CN" altLang="en-US" sz="2800" b="1" noProof="1"/>
              <a:t>：顺序、选择（</a:t>
            </a:r>
            <a:r>
              <a:rPr lang="en-US" altLang="x-none" sz="2800" b="1" noProof="1"/>
              <a:t>if-else</a:t>
            </a:r>
            <a:r>
              <a:rPr lang="zh-CN" altLang="en-US" sz="2800" b="1" noProof="1"/>
              <a:t>、</a:t>
            </a:r>
            <a:r>
              <a:rPr lang="en-US" altLang="x-none" sz="2800" b="1" noProof="1"/>
              <a:t>switch</a:t>
            </a:r>
            <a:r>
              <a:rPr lang="zh-CN" altLang="en-US" sz="2800" b="1" noProof="1"/>
              <a:t>）、循环</a:t>
            </a:r>
            <a:r>
              <a:rPr lang="en-US" altLang="x-none" sz="2800" b="1" noProof="1"/>
              <a:t>(while,do-while, for)</a:t>
            </a:r>
            <a:endParaRPr lang="zh-CN" altLang="en-US" sz="2800" b="1" noProof="1"/>
          </a:p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结构化程序设计方法</a:t>
            </a:r>
            <a:r>
              <a:rPr lang="zh-CN" altLang="en-US" sz="2800" b="1" noProof="1"/>
              <a:t>：</a:t>
            </a:r>
            <a:endParaRPr lang="en-US" altLang="x-none" sz="2800" b="1" noProof="1"/>
          </a:p>
          <a:p>
            <a:pPr marL="457200" lvl="1" algn="l">
              <a:defRPr/>
            </a:pPr>
            <a:r>
              <a:rPr lang="zh-CN" altLang="en-US" sz="2800" b="1" noProof="1"/>
              <a:t>自顶向下、逐步细化</a:t>
            </a:r>
            <a:endParaRPr lang="en-US" altLang="x-none" sz="2800" b="1" noProof="1"/>
          </a:p>
          <a:p>
            <a:pPr marL="457200" lvl="1" algn="l">
              <a:defRPr/>
            </a:pPr>
            <a:r>
              <a:rPr lang="zh-CN" altLang="en-US" sz="2800" b="1" noProof="1"/>
              <a:t>结构化编码</a:t>
            </a:r>
            <a:endParaRPr lang="en-US" altLang="x-none" sz="2800" b="1" noProof="1"/>
          </a:p>
          <a:p>
            <a:pPr marL="457200" lvl="1" algn="l">
              <a:defRPr/>
            </a:pPr>
            <a:r>
              <a:rPr lang="zh-CN" altLang="en-US" sz="2800" b="1" noProof="1"/>
              <a:t>模块化设计</a:t>
            </a:r>
            <a:endParaRPr lang="en-US" altLang="x-none" sz="2800" b="1" noProof="1"/>
          </a:p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算法</a:t>
            </a:r>
            <a:r>
              <a:rPr lang="zh-CN" altLang="en-US" sz="2800" b="1" noProof="1"/>
              <a:t>：穷举法、递归</a:t>
            </a:r>
            <a:endParaRPr lang="en-US" altLang="x-none" sz="2800" b="1" noProof="1"/>
          </a:p>
          <a:p>
            <a:pPr marL="457200" lvl="1" algn="l">
              <a:defRPr/>
            </a:pPr>
            <a:endParaRPr lang="zh-CN" altLang="en-US" sz="2800" b="1" noProof="1"/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D64725DA-7015-4100-A51B-6D4C9F5D1E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D75D262D-7C5A-4690-AEA1-D1263DC0F253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8</a:t>
            </a:fld>
            <a:endParaRPr lang="zh-CN" altLang="en-US"/>
          </a:p>
        </p:txBody>
      </p:sp>
      <p:sp>
        <p:nvSpPr>
          <p:cNvPr id="22532" name="TextBox 3">
            <a:extLst>
              <a:ext uri="{FF2B5EF4-FFF2-40B4-BE49-F238E27FC236}">
                <a16:creationId xmlns:a16="http://schemas.microsoft.com/office/drawing/2014/main" id="{3CBD17BB-D864-41D1-A0E7-29415B9F9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60350"/>
            <a:ext cx="4321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000000"/>
                </a:solidFill>
                <a:latin typeface="Times New Roman" panose="02020603050405020304" pitchFamily="18" charset="0"/>
              </a:rPr>
              <a:t>回顾</a:t>
            </a:r>
          </a:p>
        </p:txBody>
      </p:sp>
      <p:sp>
        <p:nvSpPr>
          <p:cNvPr id="22533" name="灯片编号占位符 1">
            <a:extLst>
              <a:ext uri="{FF2B5EF4-FFF2-40B4-BE49-F238E27FC236}">
                <a16:creationId xmlns:a16="http://schemas.microsoft.com/office/drawing/2014/main" id="{3CC52DD2-7914-4797-A82A-DE2B17DE9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EFFB1C6B-98D1-4341-8E00-A1E70B6CE66F}" type="slidenum">
              <a:rPr lang="zh-CN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8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1">
            <a:extLst>
              <a:ext uri="{FF2B5EF4-FFF2-40B4-BE49-F238E27FC236}">
                <a16:creationId xmlns:a16="http://schemas.microsoft.com/office/drawing/2014/main" id="{18BD01C7-8599-4A25-8480-6E7447AFD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8" y="1331913"/>
            <a:ext cx="8350250" cy="5526087"/>
          </a:xfrm>
          <a:ln>
            <a:miter/>
          </a:ln>
        </p:spPr>
        <p:txBody>
          <a:bodyPr/>
          <a:lstStyle/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向量的存储</a:t>
            </a:r>
            <a:r>
              <a:rPr lang="zh-CN" altLang="en-US" sz="2800" b="1" noProof="1"/>
              <a:t>：一维数组</a:t>
            </a:r>
            <a:endParaRPr lang="en-US" altLang="x-none" sz="2800" b="1" noProof="1"/>
          </a:p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矩阵的存储</a:t>
            </a:r>
            <a:r>
              <a:rPr lang="zh-CN" altLang="en-US" sz="2800" b="1" noProof="1"/>
              <a:t>：二维数组</a:t>
            </a:r>
            <a:endParaRPr lang="en-US" altLang="x-none" sz="2800" b="1" noProof="1"/>
          </a:p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指针</a:t>
            </a:r>
            <a:r>
              <a:rPr lang="zh-CN" altLang="en-US" sz="2800" b="1" noProof="1"/>
              <a:t>：模拟传引用调用、操作动态内存</a:t>
            </a:r>
            <a:endParaRPr lang="en-US" altLang="x-none" sz="2800" b="1" noProof="1"/>
          </a:p>
          <a:p>
            <a:pPr algn="l">
              <a:defRPr/>
            </a:pPr>
            <a:r>
              <a:rPr lang="zh-CN" altLang="en-US" sz="2800" b="1" noProof="1">
                <a:solidFill>
                  <a:schemeClr val="accent6">
                    <a:lumMod val="60000"/>
                    <a:lumOff val="40000"/>
                  </a:schemeClr>
                </a:solidFill>
              </a:rPr>
              <a:t>自定义数据类型</a:t>
            </a:r>
            <a:r>
              <a:rPr lang="zh-CN" altLang="en-US" sz="2800" b="1" noProof="1"/>
              <a:t>：结构、枚举</a:t>
            </a:r>
          </a:p>
          <a:p>
            <a:pPr algn="l">
              <a:defRPr/>
            </a:pPr>
            <a:endParaRPr lang="en-US" altLang="x-none" sz="2800" b="1" noProof="1"/>
          </a:p>
          <a:p>
            <a:pPr algn="l">
              <a:defRPr/>
            </a:pPr>
            <a:r>
              <a:rPr lang="zh-CN" altLang="en-US" sz="2800" b="1" noProof="1"/>
              <a:t>后续需要学习：链表、文件</a:t>
            </a:r>
            <a:endParaRPr lang="en-US" altLang="x-none" sz="2800" b="1" noProof="1"/>
          </a:p>
          <a:p>
            <a:pPr algn="l">
              <a:defRPr/>
            </a:pPr>
            <a:endParaRPr lang="zh-CN" altLang="en-US" sz="2800" b="1" noProof="1"/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30BECCBF-0094-4E89-9F2B-8865BE473F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6FABBDFC-FC22-4A64-82B7-2700FB87E079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9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14F77BE4-5FD4-46B1-9FDC-BC8B68C41E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63650" y="404813"/>
            <a:ext cx="7772400" cy="720725"/>
          </a:xfrm>
        </p:spPr>
        <p:txBody>
          <a:bodyPr anchor="ctr"/>
          <a:lstStyle/>
          <a:p>
            <a:endParaRPr lang="zh-CN" altLang="en-US" sz="3200"/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82199382-3D88-47C9-B2D1-434606CC86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4213" y="1917700"/>
            <a:ext cx="7772400" cy="415925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前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周(C语言后续内容)</a:t>
            </a:r>
            <a:endParaRPr lang="en-US" altLang="zh-CN" sz="2800" b="1" dirty="0"/>
          </a:p>
          <a:p>
            <a:pPr lvl="1" algn="l" eaLnBrk="1" hangingPunct="1">
              <a:lnSpc>
                <a:spcPct val="90000"/>
              </a:lnSpc>
            </a:pPr>
            <a:r>
              <a:rPr lang="zh-CN" altLang="en-US" sz="2800" b="1" dirty="0"/>
              <a:t>课堂授课（链表、文件，配套上机作业）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第</a:t>
            </a:r>
            <a:r>
              <a:rPr lang="en-US" altLang="zh-CN" sz="2800" b="1" dirty="0"/>
              <a:t>7</a:t>
            </a:r>
            <a:r>
              <a:rPr lang="zh-CN" altLang="en-US" sz="2800" b="1" dirty="0"/>
              <a:t>周</a:t>
            </a:r>
            <a:r>
              <a:rPr lang="en-US" altLang="zh-CN" sz="2800" b="1" dirty="0"/>
              <a:t>~</a:t>
            </a:r>
            <a:r>
              <a:rPr lang="zh-CN" altLang="en-US" sz="2800" b="1" dirty="0"/>
              <a:t>第</a:t>
            </a:r>
            <a:r>
              <a:rPr lang="en-US" altLang="zh-CN" sz="2800" b="1" dirty="0"/>
              <a:t>14</a:t>
            </a:r>
            <a:r>
              <a:rPr lang="zh-CN" altLang="en-US" sz="2800" b="1" dirty="0"/>
              <a:t>周（课程设计）</a:t>
            </a:r>
            <a:endParaRPr lang="en-US" altLang="zh-CN" sz="2800" b="1" dirty="0"/>
          </a:p>
          <a:p>
            <a:pPr lvl="1" algn="l" eaLnBrk="1" hangingPunct="1">
              <a:lnSpc>
                <a:spcPct val="90000"/>
              </a:lnSpc>
            </a:pPr>
            <a:r>
              <a:rPr lang="zh-CN" altLang="en-US" sz="2800" b="1" dirty="0"/>
              <a:t>课堂：授课、讨论与讲解、答疑（教室）</a:t>
            </a:r>
            <a:endParaRPr lang="en-US" altLang="zh-CN" sz="2800" b="1" dirty="0"/>
          </a:p>
          <a:p>
            <a:pPr lvl="1" algn="l" eaLnBrk="1" hangingPunct="1">
              <a:lnSpc>
                <a:spcPct val="90000"/>
              </a:lnSpc>
            </a:pPr>
            <a:r>
              <a:rPr lang="zh-CN" altLang="en-US" sz="2800" b="1" dirty="0"/>
              <a:t>课下：分析、设计、编码、测试。</a:t>
            </a:r>
            <a:endParaRPr lang="en-US" altLang="zh-CN" sz="2800" b="1" dirty="0"/>
          </a:p>
          <a:p>
            <a:pPr lvl="1" algn="l" eaLnBrk="1" hangingPunct="1">
              <a:lnSpc>
                <a:spcPct val="90000"/>
              </a:lnSpc>
            </a:pPr>
            <a:r>
              <a:rPr lang="zh-CN" altLang="en-US" sz="2800" b="1" dirty="0"/>
              <a:t>验收：需要提交源代码、可运行代码及文档</a:t>
            </a:r>
            <a:endParaRPr lang="en-US" altLang="zh-CN" sz="2800" b="1" dirty="0"/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E30B6400-0A68-47BF-9348-55BD5D12E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0EB2D18D-65BF-47E3-941C-101D4BA3D52F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10</a:t>
            </a:fld>
            <a:endParaRPr lang="zh-CN" altLang="en-US" b="0"/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F1A50323-295D-4A32-BF1B-E1C1E77E6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0">
                <a:solidFill>
                  <a:srgbClr val="FF3300"/>
                </a:solidFill>
                <a:latin typeface="Times New Roman" panose="02020603050405020304" pitchFamily="18" charset="0"/>
              </a:rPr>
              <a:t> 三、教学计划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5">
            <a:extLst>
              <a:ext uri="{FF2B5EF4-FFF2-40B4-BE49-F238E27FC236}">
                <a16:creationId xmlns:a16="http://schemas.microsoft.com/office/drawing/2014/main" id="{93F4EDE4-537A-441E-A950-180324626B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C4AE10E8-CCBD-4772-9DD2-414EAAD8D9E6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11</a:t>
            </a:fld>
            <a:endParaRPr lang="zh-CN" altLang="en-US" b="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BC0EAF5-7019-40C7-9A80-CB04F7712B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1319213"/>
            <a:ext cx="7772400" cy="4611687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3300"/>
                </a:solidFill>
                <a:ea typeface="黑体" panose="02010609060101010101" pitchFamily="49" charset="-122"/>
              </a:rPr>
              <a:t>教学计划（具体）：</a:t>
            </a:r>
          </a:p>
          <a:p>
            <a:pPr algn="l" eaLnBrk="1" hangingPunct="1"/>
            <a:r>
              <a:rPr lang="zh-CN" altLang="en-US" sz="2400" b="1" dirty="0"/>
              <a:t>1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链表 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学时），配套上机作业</a:t>
            </a:r>
            <a:endParaRPr lang="en-US" altLang="zh-CN" sz="2400" b="1" dirty="0"/>
          </a:p>
          <a:p>
            <a:pPr algn="l" eaLnBrk="1" hangingPunct="1"/>
            <a:r>
              <a:rPr lang="en-US" altLang="zh-CN" sz="2400" b="1" dirty="0"/>
              <a:t>2.C</a:t>
            </a:r>
            <a:r>
              <a:rPr lang="zh-CN" altLang="en-US" sz="2400" b="1" dirty="0"/>
              <a:t>语言文件操作（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学时），配套上机作业</a:t>
            </a:r>
          </a:p>
          <a:p>
            <a:pPr algn="l" eaLnBrk="1" hangingPunct="1"/>
            <a:r>
              <a:rPr lang="zh-CN" altLang="en-US" sz="2400" b="1" dirty="0"/>
              <a:t>3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课程设计任务布置及软件开发过程简介</a:t>
            </a:r>
            <a:endParaRPr lang="en-US" altLang="zh-CN" sz="2400" b="1" dirty="0"/>
          </a:p>
          <a:p>
            <a:pPr algn="l" eaLnBrk="1" hangingPunct="1"/>
            <a:r>
              <a:rPr lang="en-US" altLang="zh-CN" sz="2400" b="1" dirty="0"/>
              <a:t>4.</a:t>
            </a:r>
            <a:r>
              <a:rPr lang="zh-CN" altLang="en-US" sz="2400" b="1" dirty="0"/>
              <a:t>有限状态自动机（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学时），配套上机作业</a:t>
            </a:r>
          </a:p>
          <a:p>
            <a:pPr algn="l" eaLnBrk="1" hangingPunct="1"/>
            <a:r>
              <a:rPr lang="en-US" altLang="zh-CN" sz="2400" b="1" dirty="0"/>
              <a:t>5.</a:t>
            </a:r>
            <a:r>
              <a:rPr lang="zh-CN" altLang="en-US" sz="2400" b="1" dirty="0"/>
              <a:t>线程、模块化与工程、基于多文件的程序开发</a:t>
            </a:r>
            <a:endParaRPr lang="en-US" altLang="zh-CN" sz="2400" b="1" dirty="0"/>
          </a:p>
          <a:p>
            <a:pPr algn="l" eaLnBrk="1" hangingPunct="1"/>
            <a:r>
              <a:rPr lang="en-US" altLang="zh-CN" sz="2400" b="1" dirty="0"/>
              <a:t>6.</a:t>
            </a:r>
            <a:r>
              <a:rPr lang="zh-CN" altLang="en-US" sz="2400" b="1" dirty="0"/>
              <a:t>概要设计、时间函数、预处理</a:t>
            </a:r>
            <a:endParaRPr lang="en-US" altLang="zh-CN" sz="2400" b="1" dirty="0"/>
          </a:p>
          <a:p>
            <a:pPr algn="l" eaLnBrk="1" hangingPunct="1"/>
            <a:r>
              <a:rPr lang="en-US" altLang="zh-CN" sz="2400" b="1" dirty="0"/>
              <a:t>7.</a:t>
            </a:r>
            <a:r>
              <a:rPr lang="zh-CN" altLang="en-US" sz="2400" b="1" dirty="0"/>
              <a:t>软件测试</a:t>
            </a:r>
          </a:p>
          <a:p>
            <a:pPr algn="l" eaLnBrk="1" hangingPunct="1"/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8.</a:t>
            </a:r>
            <a:r>
              <a:rPr lang="zh-CN" altLang="en-US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实现核心控制模块</a:t>
            </a:r>
            <a:endParaRPr lang="en-US" altLang="zh-CN" sz="2400" b="1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algn="l" eaLnBrk="1" hangingPunct="1"/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9.</a:t>
            </a:r>
            <a:r>
              <a:rPr lang="zh-CN" altLang="en-US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实现完整版本提交验收</a:t>
            </a:r>
          </a:p>
          <a:p>
            <a:pPr algn="l" eaLnBrk="1" hangingPunct="1"/>
            <a:endParaRPr lang="zh-CN" altLang="en-US" sz="2400" b="1" dirty="0"/>
          </a:p>
          <a:p>
            <a:pPr algn="l" eaLnBrk="1" hangingPunct="1"/>
            <a:endParaRPr lang="zh-CN" altLang="en-US" sz="2800" dirty="0"/>
          </a:p>
        </p:txBody>
      </p:sp>
      <p:pic>
        <p:nvPicPr>
          <p:cNvPr id="25604" name="Picture 4" descr="页面">
            <a:extLst>
              <a:ext uri="{FF2B5EF4-FFF2-40B4-BE49-F238E27FC236}">
                <a16:creationId xmlns:a16="http://schemas.microsoft.com/office/drawing/2014/main" id="{CF09F158-E6DD-48A0-BA82-083B6F67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6">
            <a:extLst>
              <a:ext uri="{FF2B5EF4-FFF2-40B4-BE49-F238E27FC236}">
                <a16:creationId xmlns:a16="http://schemas.microsoft.com/office/drawing/2014/main" id="{BF37CC8B-C19F-429F-9A11-4EB232D2C5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63650" y="404813"/>
            <a:ext cx="7772400" cy="720725"/>
          </a:xfrm>
        </p:spPr>
        <p:txBody>
          <a:bodyPr anchor="ctr"/>
          <a:lstStyle/>
          <a:p>
            <a:pPr eaLnBrk="1" hangingPunct="1"/>
            <a:r>
              <a:rPr lang="en-US" altLang="zh-CN" sz="3200">
                <a:ea typeface="华文琥珀" panose="02010800040101010101" pitchFamily="2" charset="-122"/>
              </a:rPr>
              <a:t>2</a:t>
            </a:r>
            <a:r>
              <a:rPr lang="zh-CN" altLang="en-US" sz="3200">
                <a:ea typeface="华文琥珀" panose="02010800040101010101" pitchFamily="2" charset="-122"/>
              </a:rPr>
              <a:t>、关于课程</a:t>
            </a:r>
            <a:endParaRPr lang="zh-CN" altLang="en-US" sz="32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5">
            <a:extLst>
              <a:ext uri="{FF2B5EF4-FFF2-40B4-BE49-F238E27FC236}">
                <a16:creationId xmlns:a16="http://schemas.microsoft.com/office/drawing/2014/main" id="{3732D19C-C743-440F-81D5-AD12A3D621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4C8A1054-B513-43A8-9D91-2D69CC58DC1F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12</a:t>
            </a:fld>
            <a:endParaRPr lang="zh-CN" altLang="en-US" b="0"/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7D21D323-F486-4B09-BBCF-FAB24587C8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1196975"/>
            <a:ext cx="7772400" cy="720725"/>
          </a:xfrm>
        </p:spPr>
        <p:txBody>
          <a:bodyPr lIns="92075" tIns="46038" rIns="92075" bIns="46038" anchor="ctr"/>
          <a:lstStyle/>
          <a:p>
            <a:pPr algn="l" eaLnBrk="1" hangingPunct="1"/>
            <a:r>
              <a:rPr lang="en-US" altLang="zh-CN" sz="3200" b="1"/>
              <a:t> </a:t>
            </a:r>
            <a:r>
              <a:rPr lang="zh-CN" altLang="en-US" sz="3200" b="1"/>
              <a:t>四、考核方式</a:t>
            </a:r>
            <a:endParaRPr lang="zh-CN" altLang="en-US" sz="3200"/>
          </a:p>
        </p:txBody>
      </p:sp>
      <p:sp>
        <p:nvSpPr>
          <p:cNvPr id="26628" name="Text Box 5">
            <a:extLst>
              <a:ext uri="{FF2B5EF4-FFF2-40B4-BE49-F238E27FC236}">
                <a16:creationId xmlns:a16="http://schemas.microsoft.com/office/drawing/2014/main" id="{EB47AADA-612C-4908-883F-C084D89F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2565400"/>
            <a:ext cx="8280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三次上机作业（源程序）</a:t>
            </a:r>
            <a:r>
              <a:rPr lang="en-US" altLang="zh-CN" dirty="0">
                <a:latin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大作业：设计文档</a:t>
            </a:r>
            <a:r>
              <a:rPr lang="en-US" altLang="zh-CN" dirty="0">
                <a:latin typeface="Times New Roman" panose="02020603050405020304" pitchFamily="18" charset="0"/>
              </a:rPr>
              <a:t>		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大作业：版本</a:t>
            </a:r>
            <a:r>
              <a:rPr lang="en-US" altLang="zh-CN" dirty="0">
                <a:latin typeface="Times New Roman" panose="02020603050405020304" pitchFamily="18" charset="0"/>
              </a:rPr>
              <a:t>1	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大作业：版本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29" name="灯片编号占位符 1">
            <a:extLst>
              <a:ext uri="{FF2B5EF4-FFF2-40B4-BE49-F238E27FC236}">
                <a16:creationId xmlns:a16="http://schemas.microsoft.com/office/drawing/2014/main" id="{00806A9D-FC1D-464D-848D-0147EF885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FEA6C07E-98FD-41F0-AF74-D1E5DB3F13ED}" type="slidenum">
              <a:rPr lang="zh-CN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12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5">
            <a:extLst>
              <a:ext uri="{FF2B5EF4-FFF2-40B4-BE49-F238E27FC236}">
                <a16:creationId xmlns:a16="http://schemas.microsoft.com/office/drawing/2014/main" id="{0ABCD325-3F52-4C02-9752-7216D74C72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BF2668E3-8AC1-4EFD-8FFC-CFE9C7D0C3FA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13</a:t>
            </a:fld>
            <a:endParaRPr lang="zh-CN" altLang="en-US" b="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02ECCBE-E4C5-4D06-BD19-0D6CD906F7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63650" y="404813"/>
            <a:ext cx="7772400" cy="720725"/>
          </a:xfrm>
        </p:spPr>
        <p:txBody>
          <a:bodyPr anchor="ctr"/>
          <a:lstStyle/>
          <a:p>
            <a:pPr algn="r" eaLnBrk="1" hangingPunct="1"/>
            <a:r>
              <a:rPr lang="zh-CN" altLang="en-US" sz="3200"/>
              <a:t>代码提交网站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8FB89F1A-42CE-408A-A1C9-ADAAC574A1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9720" y="1447800"/>
            <a:ext cx="7920550" cy="39624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/>
              <a:t>代码提交网站</a:t>
            </a:r>
            <a:r>
              <a:rPr lang="en-US" altLang="zh-CN" sz="2800" b="1" dirty="0"/>
              <a:t>: PTA</a:t>
            </a:r>
          </a:p>
          <a:p>
            <a:pPr marL="800100" lvl="1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800" dirty="0"/>
              <a:t>平台会发布编程作业和大作业，请按时提交；</a:t>
            </a:r>
            <a:endParaRPr lang="en-US" altLang="zh-CN" sz="2800" dirty="0"/>
          </a:p>
          <a:p>
            <a:pPr marL="800100" lvl="1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800" dirty="0"/>
              <a:t>所有作业不要等到最后时刻再交，</a:t>
            </a:r>
            <a:r>
              <a:rPr lang="en-US" altLang="zh-CN" sz="2800" dirty="0"/>
              <a:t>OJ</a:t>
            </a:r>
            <a:r>
              <a:rPr lang="zh-CN" altLang="en-US" sz="2800" dirty="0"/>
              <a:t>平台可能有问题或者提交人数过多导致你交不上。</a:t>
            </a:r>
            <a:endParaRPr lang="en-US" altLang="zh-CN" sz="2800" dirty="0"/>
          </a:p>
          <a:p>
            <a:pPr marL="800100" lvl="1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800" dirty="0"/>
              <a:t>我不接受任何理由，除非收作业的平台</a:t>
            </a:r>
            <a:r>
              <a:rPr lang="en-US" altLang="zh-CN" sz="2800" dirty="0"/>
              <a:t>1</a:t>
            </a:r>
            <a:r>
              <a:rPr lang="zh-CN" altLang="en-US" sz="2800" dirty="0"/>
              <a:t>个星期以上都无法正常提交。</a:t>
            </a:r>
            <a:endParaRPr lang="en-US" altLang="zh-CN" sz="2800" dirty="0"/>
          </a:p>
        </p:txBody>
      </p:sp>
      <p:sp>
        <p:nvSpPr>
          <p:cNvPr id="27653" name="灯片编号占位符 1">
            <a:extLst>
              <a:ext uri="{FF2B5EF4-FFF2-40B4-BE49-F238E27FC236}">
                <a16:creationId xmlns:a16="http://schemas.microsoft.com/office/drawing/2014/main" id="{C7D8A400-AB83-4749-8D86-80C4AF6ED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77EA03EC-97A0-4499-B381-AC54A728DE33}" type="slidenum">
              <a:rPr lang="zh-CN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50000"/>
                </a:spcBef>
                <a:buFontTx/>
                <a:buNone/>
              </a:pPr>
              <a:t>13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F245A99A-EE79-4E79-AAE5-85DA6ED182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186401C5-1B5D-4231-A129-A017CA3C939F}" type="slidenum">
              <a:rPr lang="zh-CN" altLang="en-US" sz="1400"/>
              <a:pPr algn="r" eaLnBrk="1" hangingPunct="1">
                <a:spcBef>
                  <a:spcPct val="50000"/>
                </a:spcBef>
                <a:buFontTx/>
                <a:buNone/>
              </a:pPr>
              <a:t>14</a:t>
            </a:fld>
            <a:endParaRPr lang="en-US" altLang="zh-CN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810FAA3-F2AC-49E8-BFFB-A42081BA462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联系我</a:t>
            </a:r>
            <a:endParaRPr lang="zh-CN" altLang="zh-CN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5336A75-8786-4394-BBBD-04CE8D283F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423988"/>
            <a:ext cx="7054850" cy="29733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3200" b="1" dirty="0">
                <a:solidFill>
                  <a:srgbClr val="FF3300"/>
                </a:solidFill>
              </a:rPr>
              <a:t>袁宝库：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邮箱：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yuanbaoku@bupt.edu.cn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QQ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群：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219334710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358DD366-0032-45DF-ADD3-2CB2590205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6630CC72-8CF9-43A8-9CE1-E0865BB67DDD}" type="slidenum">
              <a:rPr lang="zh-CN" altLang="en-US" dirty="0" smtClean="0"/>
              <a:pPr>
                <a:spcBef>
                  <a:spcPct val="0"/>
                </a:spcBef>
                <a:defRPr/>
              </a:pPr>
              <a:t>15</a:t>
            </a:fld>
            <a:endParaRPr lang="zh-CN" altLang="en-US" b="0"/>
          </a:p>
        </p:txBody>
      </p:sp>
      <p:pic>
        <p:nvPicPr>
          <p:cNvPr id="28675" name="Object 4">
            <a:extLst>
              <a:ext uri="{FF2B5EF4-FFF2-40B4-BE49-F238E27FC236}">
                <a16:creationId xmlns:a16="http://schemas.microsoft.com/office/drawing/2014/main" id="{4F04C0CD-4ACD-4AB2-9F6A-D324AC1D7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2640013"/>
            <a:ext cx="2376487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"/>
</p:tagLst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</TotalTime>
  <Pages>0</Pages>
  <Words>722</Words>
  <Characters>0</Characters>
  <Application>Microsoft Office PowerPoint</Application>
  <DocSecurity>0</DocSecurity>
  <PresentationFormat>全屏显示(4:3)</PresentationFormat>
  <Lines>0</Lines>
  <Paragraphs>114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黑体</vt:lpstr>
      <vt:lpstr>华文琥珀</vt:lpstr>
      <vt:lpstr>宋体</vt:lpstr>
      <vt:lpstr>Arial</vt:lpstr>
      <vt:lpstr>Calibri</vt:lpstr>
      <vt:lpstr>Times New Roman</vt:lpstr>
      <vt:lpstr>Wingdings</vt:lpstr>
      <vt:lpstr>经分互动规范介绍</vt:lpstr>
      <vt:lpstr>PowerPoint 演示文稿</vt:lpstr>
      <vt:lpstr>课程概述</vt:lpstr>
      <vt:lpstr>1、教学目的</vt:lpstr>
      <vt:lpstr>1、教学目的</vt:lpstr>
      <vt:lpstr>PowerPoint 演示文稿</vt:lpstr>
      <vt:lpstr>2、关于课程</vt:lpstr>
      <vt:lpstr>PowerPoint 演示文稿</vt:lpstr>
      <vt:lpstr>PowerPoint 演示文稿</vt:lpstr>
      <vt:lpstr>PowerPoint 演示文稿</vt:lpstr>
      <vt:lpstr>PowerPoint 演示文稿</vt:lpstr>
      <vt:lpstr>2、关于课程</vt:lpstr>
      <vt:lpstr> 四、考核方式</vt:lpstr>
      <vt:lpstr>代码提交网站</vt:lpstr>
      <vt:lpstr>联系我</vt:lpstr>
      <vt:lpstr>PowerPoint 演示文稿</vt:lpstr>
    </vt:vector>
  </TitlesOfParts>
  <Manager/>
  <Company>bupt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cyzhou</dc:creator>
  <cp:keywords/>
  <dc:description/>
  <cp:lastModifiedBy>yuanbaoku</cp:lastModifiedBy>
  <cp:revision>614</cp:revision>
  <dcterms:created xsi:type="dcterms:W3CDTF">2002-12-06T01:10:00Z</dcterms:created>
  <dcterms:modified xsi:type="dcterms:W3CDTF">2026-03-17T07:46:32Z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2052-10.1.0.6207</vt:lpwstr>
  </property>
</Properties>
</file>