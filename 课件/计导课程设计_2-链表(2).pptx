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54"/>
  </p:notesMasterIdLst>
  <p:sldIdLst>
    <p:sldId id="415" r:id="rId2"/>
    <p:sldId id="358" r:id="rId3"/>
    <p:sldId id="354" r:id="rId4"/>
    <p:sldId id="626" r:id="rId5"/>
    <p:sldId id="630" r:id="rId6"/>
    <p:sldId id="664" r:id="rId7"/>
    <p:sldId id="629" r:id="rId8"/>
    <p:sldId id="357" r:id="rId9"/>
    <p:sldId id="302" r:id="rId10"/>
    <p:sldId id="631" r:id="rId11"/>
    <p:sldId id="632" r:id="rId12"/>
    <p:sldId id="633" r:id="rId13"/>
    <p:sldId id="634" r:id="rId14"/>
    <p:sldId id="636" r:id="rId15"/>
    <p:sldId id="635" r:id="rId16"/>
    <p:sldId id="637" r:id="rId17"/>
    <p:sldId id="638" r:id="rId18"/>
    <p:sldId id="639" r:id="rId19"/>
    <p:sldId id="641" r:id="rId20"/>
    <p:sldId id="642" r:id="rId21"/>
    <p:sldId id="643" r:id="rId22"/>
    <p:sldId id="644" r:id="rId23"/>
    <p:sldId id="645" r:id="rId24"/>
    <p:sldId id="647" r:id="rId25"/>
    <p:sldId id="648" r:id="rId26"/>
    <p:sldId id="654" r:id="rId27"/>
    <p:sldId id="364" r:id="rId28"/>
    <p:sldId id="368" r:id="rId29"/>
    <p:sldId id="369" r:id="rId30"/>
    <p:sldId id="649" r:id="rId31"/>
    <p:sldId id="650" r:id="rId32"/>
    <p:sldId id="651" r:id="rId33"/>
    <p:sldId id="421" r:id="rId34"/>
    <p:sldId id="652" r:id="rId35"/>
    <p:sldId id="314" r:id="rId36"/>
    <p:sldId id="452" r:id="rId37"/>
    <p:sldId id="427" r:id="rId38"/>
    <p:sldId id="655" r:id="rId39"/>
    <p:sldId id="372" r:id="rId40"/>
    <p:sldId id="392" r:id="rId41"/>
    <p:sldId id="393" r:id="rId42"/>
    <p:sldId id="398" r:id="rId43"/>
    <p:sldId id="656" r:id="rId44"/>
    <p:sldId id="428" r:id="rId45"/>
    <p:sldId id="429" r:id="rId46"/>
    <p:sldId id="657" r:id="rId47"/>
    <p:sldId id="658" r:id="rId48"/>
    <p:sldId id="659" r:id="rId49"/>
    <p:sldId id="660" r:id="rId50"/>
    <p:sldId id="661" r:id="rId51"/>
    <p:sldId id="662" r:id="rId52"/>
    <p:sldId id="281" r:id="rId53"/>
  </p:sldIdLst>
  <p:sldSz cx="9144000" cy="6858000" type="screen4x3"/>
  <p:notesSz cx="6815138" cy="99425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14E4DFF-99F8-48A8-B24D-A2657320EB1E}">
          <p14:sldIdLst>
            <p14:sldId id="415"/>
            <p14:sldId id="358"/>
            <p14:sldId id="354"/>
            <p14:sldId id="626"/>
            <p14:sldId id="630"/>
            <p14:sldId id="664"/>
            <p14:sldId id="629"/>
          </p14:sldIdLst>
        </p14:section>
        <p14:section name="尾插" id="{B57D9D51-5516-43FC-AE5F-C36591036C51}">
          <p14:sldIdLst>
            <p14:sldId id="357"/>
            <p14:sldId id="302"/>
            <p14:sldId id="631"/>
            <p14:sldId id="632"/>
            <p14:sldId id="633"/>
            <p14:sldId id="634"/>
            <p14:sldId id="636"/>
            <p14:sldId id="635"/>
          </p14:sldIdLst>
        </p14:section>
        <p14:section name="头插" id="{DC1457A3-2F8C-41FA-B158-6354B09140CF}">
          <p14:sldIdLst>
            <p14:sldId id="637"/>
            <p14:sldId id="638"/>
          </p14:sldIdLst>
        </p14:section>
        <p14:section name="有序插" id="{82BF4DC3-666D-4122-89DC-062782BB61EC}">
          <p14:sldIdLst>
            <p14:sldId id="639"/>
            <p14:sldId id="641"/>
            <p14:sldId id="642"/>
          </p14:sldIdLst>
        </p14:section>
        <p14:section name="删除节点" id="{FCF00BD0-21FA-4673-BEC5-F499B1D4BCEA}">
          <p14:sldIdLst>
            <p14:sldId id="643"/>
            <p14:sldId id="644"/>
            <p14:sldId id="645"/>
            <p14:sldId id="647"/>
            <p14:sldId id="648"/>
            <p14:sldId id="654"/>
          </p14:sldIdLst>
        </p14:section>
        <p14:section name="链表遍历" id="{7262F7BC-6DDD-4863-9BA7-2A46DBD779AD}">
          <p14:sldIdLst>
            <p14:sldId id="364"/>
            <p14:sldId id="368"/>
            <p14:sldId id="369"/>
            <p14:sldId id="649"/>
            <p14:sldId id="650"/>
            <p14:sldId id="651"/>
          </p14:sldIdLst>
        </p14:section>
        <p14:section name="链表检索" id="{38B9B9A0-0524-45FE-9EAF-CF40AA8C767E}">
          <p14:sldIdLst>
            <p14:sldId id="421"/>
            <p14:sldId id="652"/>
          </p14:sldIdLst>
        </p14:section>
        <p14:section name="逆序" id="{B59AF888-AF2C-4754-9786-660FD80B7381}">
          <p14:sldIdLst>
            <p14:sldId id="314"/>
            <p14:sldId id="452"/>
            <p14:sldId id="427"/>
            <p14:sldId id="655"/>
          </p14:sldIdLst>
        </p14:section>
        <p14:section name="链表归并" id="{CB9EB5DC-AB85-48E7-9DD9-195A366ED47A}">
          <p14:sldIdLst>
            <p14:sldId id="372"/>
            <p14:sldId id="392"/>
            <p14:sldId id="393"/>
            <p14:sldId id="398"/>
            <p14:sldId id="656"/>
          </p14:sldIdLst>
        </p14:section>
        <p14:section name="环形链表" id="{041138F6-C3BA-40F4-9BF7-01E089FC61FA}">
          <p14:sldIdLst>
            <p14:sldId id="428"/>
            <p14:sldId id="429"/>
            <p14:sldId id="657"/>
            <p14:sldId id="658"/>
            <p14:sldId id="659"/>
            <p14:sldId id="660"/>
            <p14:sldId id="661"/>
            <p14:sldId id="662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FFCC"/>
    <a:srgbClr val="0033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2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721809-F922-469E-89D7-7E2041EE2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b="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ABA780C-92E5-4936-B54F-9D3D1B1855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b="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669B904-59FB-4CF6-BCE6-A153A8F60961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923925" y="746125"/>
            <a:ext cx="4968875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C033E08-2D14-4FC4-8919-D0C52FBDC03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1038" y="4722813"/>
            <a:ext cx="5453062" cy="4473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AAC8874-52D5-44AA-835D-9C9DD6F0F9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b="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60B893DC-E978-4140-AE35-FE20E5CB7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b="0" noProof="1">
                <a:latin typeface="Times New Roman" pitchFamily="2" charset="0"/>
                <a:ea typeface="宋体" charset="-122"/>
                <a:cs typeface="+mn-ea"/>
              </a:defRPr>
            </a:lvl1pPr>
          </a:lstStyle>
          <a:p>
            <a:pPr>
              <a:defRPr/>
            </a:pPr>
            <a:fld id="{8D64C6CD-A365-4E05-9D6E-8B2695FBCFDC}" type="slidenum">
              <a:rPr lang="en-US" altLang="x-none"/>
              <a:pPr>
                <a:defRPr/>
              </a:pPr>
              <a:t>‹#›</a:t>
            </a:fld>
            <a:endParaRPr lang="en-US" altLang="x-none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BBB3C7-85D8-472E-A6B1-1F004B8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EEBBAA-4EE9-47F1-91E5-178D3554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1A9D2C-8B42-4A7F-A86C-1D249327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6075A-36BB-465E-B615-6556BF929AF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386935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77D741-B1A4-4F19-8E4A-16B70CE5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85F6F8-43D6-4359-BFEF-B3C9134D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9E97B3-5236-4ECA-A7C5-06FDCC3B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162EF-7264-4E62-A7FF-01F081F43C1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76133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33FFDF-C878-4B06-A4F0-5CFFDBA8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53BE1B-C3EC-44AB-BEA9-27B6F5DC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59EC15-76CE-4B98-9E2D-D0BCBE5A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1E494-3D97-4F7A-A179-E06A5BCB6A7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5877744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05BBC-E091-472C-818A-5606A45D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C5367-574D-4635-8234-9C562A15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E5A1FC-6FA3-484D-8CAC-705EF98B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EE90E-B22B-465E-AF5B-466A809985F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5695947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970222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567346"/>
            <a:ext cx="3526380" cy="710095"/>
          </a:xfrm>
        </p:spPr>
        <p:txBody>
          <a:bodyPr anchor="ctr">
            <a:norm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2338388"/>
            <a:ext cx="3526380" cy="378596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567346"/>
            <a:ext cx="3526381" cy="710095"/>
          </a:xfrm>
        </p:spPr>
        <p:txBody>
          <a:bodyPr rtlCol="0" anchor="ctr">
            <a:normAutofit/>
          </a:bodyPr>
          <a:lstStyle>
            <a:lvl1pPr marL="171450" indent="-171450">
              <a:buNone/>
              <a:defRPr lang="zh-CN" altLang="en-US" b="0" smtClean="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2357460"/>
            <a:ext cx="3526381" cy="376689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FBEC0A1-C5CE-42E3-BECA-3F886773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78C954-A92D-48AB-A94A-81C8D6DC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8D3229-90F1-4BAC-AC0C-2F6BDBC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6ED6A-BC8A-4F6E-BFBF-F47CE4F6FE5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8942290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51875E-C40A-4CE7-8098-70446C62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AAC658-1594-4DF1-AB17-F718A380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673351D-3DA0-4BE0-ACCC-A641BEC6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81FF1-6078-4322-A670-FB31035B4E7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17915813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4797C7-EDA0-4668-AD11-5C6035F6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92DF16-25EC-4D1D-9D4E-64900617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BA3921-E7F8-497F-BDB0-E27A3F88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9CB4D-65FF-4D11-9ED8-CFE65E5412C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41826231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1C5F2-3079-4C09-8E65-08B20B99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E592C-8F9C-412B-A8B3-4094E1FB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4938CC-02DD-402A-904F-B1379F6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13021-8016-483B-8FA9-0E3C04A126F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4670369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95638" cy="1600200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457201"/>
            <a:ext cx="4477941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95638" cy="381158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E3D23-F0CD-4EE8-9E98-3AE8324D8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72BF4-5225-474D-803D-74DA5F76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507615-1021-4734-8706-7437FB0B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DEEAE-5735-43D4-A215-B435B750D7F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0640410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1B06F7-8BF1-437C-9A8B-B15FEC93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B1744-3751-4493-86EF-8E86269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39C8D0-75F8-4092-86D0-5F8A9C9C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2B9EE-61D9-4FD2-895A-BB231AAF39F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4759901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11F46C-C116-4024-A6B6-E5AFD0E2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78BB7F-6B64-44AA-B038-A2B663A6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E67495-1759-4834-AADA-9BE4459D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53DB9-C109-44E9-9548-53C54DD4035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1603420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402DB4-8D43-43E9-B590-3AA1370CA1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F841C5-76C0-41C8-BDCE-061918E099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2AF3DE4-0F54-49C9-AD8F-C7E36926C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F5C0D2B-F238-4CB0-A1A4-2DAE65834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0" noProof="1"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1BBDD86-59F3-4DD0-8279-C2945FC18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noProof="1">
                <a:latin typeface="Times New Roman" pitchFamily="2" charset="0"/>
                <a:ea typeface="宋体" charset="-122"/>
                <a:cs typeface="+mn-ea"/>
              </a:defRPr>
            </a:lvl1pPr>
          </a:lstStyle>
          <a:p>
            <a:pPr>
              <a:defRPr/>
            </a:pPr>
            <a:fld id="{DCB94BE1-E5C3-4051-8D4E-303F18139C16}" type="slidenum">
              <a:rPr lang="en-US" altLang="x-none"/>
              <a:pPr>
                <a:defRPr/>
              </a:pPr>
              <a:t>‹#›</a:t>
            </a:fld>
            <a:endParaRPr lang="en-US" altLang="x-none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1" name="Group 7">
            <a:extLst>
              <a:ext uri="{FF2B5EF4-FFF2-40B4-BE49-F238E27FC236}">
                <a16:creationId xmlns:a16="http://schemas.microsoft.com/office/drawing/2014/main" id="{D9E9953B-2039-4032-AF13-1EC95E72D5B0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25DD2675-64DA-42FD-B29E-5D74ACAD7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b="0">
                  <a:latin typeface="Times New Roman" panose="02020603050405020304" pitchFamily="18" charset="0"/>
                </a:rPr>
                <a:t>                  </a:t>
              </a:r>
            </a:p>
          </p:txBody>
        </p:sp>
        <p:sp>
          <p:nvSpPr>
            <p:cNvPr id="1036" name="Line 9">
              <a:extLst>
                <a:ext uri="{FF2B5EF4-FFF2-40B4-BE49-F238E27FC236}">
                  <a16:creationId xmlns:a16="http://schemas.microsoft.com/office/drawing/2014/main" id="{4B9EE589-F35C-4AAE-A5B5-05B7F4F9F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10">
              <a:extLst>
                <a:ext uri="{FF2B5EF4-FFF2-40B4-BE49-F238E27FC236}">
                  <a16:creationId xmlns:a16="http://schemas.microsoft.com/office/drawing/2014/main" id="{8B9E7C34-E79B-4792-8983-A878D9363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Line 11">
              <a:extLst>
                <a:ext uri="{FF2B5EF4-FFF2-40B4-BE49-F238E27FC236}">
                  <a16:creationId xmlns:a16="http://schemas.microsoft.com/office/drawing/2014/main" id="{3F1403FF-96DA-4AC8-9FE7-04AB89E23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Line 12">
              <a:extLst>
                <a:ext uri="{FF2B5EF4-FFF2-40B4-BE49-F238E27FC236}">
                  <a16:creationId xmlns:a16="http://schemas.microsoft.com/office/drawing/2014/main" id="{3718A52D-6BF8-4011-807C-436F2730E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Line 13">
              <a:extLst>
                <a:ext uri="{FF2B5EF4-FFF2-40B4-BE49-F238E27FC236}">
                  <a16:creationId xmlns:a16="http://schemas.microsoft.com/office/drawing/2014/main" id="{ECDC412F-AAA6-4138-907C-D1DE21051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Line 14">
              <a:extLst>
                <a:ext uri="{FF2B5EF4-FFF2-40B4-BE49-F238E27FC236}">
                  <a16:creationId xmlns:a16="http://schemas.microsoft.com/office/drawing/2014/main" id="{C310785F-057D-418B-93EC-0215E8A83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Line 15">
              <a:extLst>
                <a:ext uri="{FF2B5EF4-FFF2-40B4-BE49-F238E27FC236}">
                  <a16:creationId xmlns:a16="http://schemas.microsoft.com/office/drawing/2014/main" id="{5599A005-8303-49EE-979F-08248CD42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2" name="Line 16">
            <a:extLst>
              <a:ext uri="{FF2B5EF4-FFF2-40B4-BE49-F238E27FC236}">
                <a16:creationId xmlns:a16="http://schemas.microsoft.com/office/drawing/2014/main" id="{AD7D2CE9-E180-4B10-8C31-F5B426BCE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Text Box 17">
            <a:extLst>
              <a:ext uri="{FF2B5EF4-FFF2-40B4-BE49-F238E27FC236}">
                <a16:creationId xmlns:a16="http://schemas.microsoft.com/office/drawing/2014/main" id="{A74A8A2E-3366-45EB-8B87-B35C8BDB8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320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zh-CN" sz="320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zh-CN" sz="320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zh-CN" sz="320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zh-CN" sz="32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4" name="Picture 18" descr="bupt">
            <a:extLst>
              <a:ext uri="{FF2B5EF4-FFF2-40B4-BE49-F238E27FC236}">
                <a16:creationId xmlns:a16="http://schemas.microsoft.com/office/drawing/2014/main" id="{744F8573-34B9-4EB4-9E8C-B0F6C0F74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Font typeface="Wingdings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Font typeface="Wingdings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Font typeface="Wingdings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Font typeface="Wingdings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charset="0"/>
        <a:buNone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49933560-DAEB-4911-AFC4-70819F8F8F7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D51654BA-4206-455C-9D52-B0701B464CC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0B177F57-3955-48F0-8381-EB73266540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271588"/>
            <a:ext cx="7848600" cy="5181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zh-CN" b="1" dirty="0"/>
              <a:t>12.2  </a:t>
            </a:r>
            <a:r>
              <a:rPr lang="zh-CN" altLang="en-US" b="1" dirty="0"/>
              <a:t>自引用结构</a:t>
            </a:r>
          </a:p>
          <a:p>
            <a:pPr eaLnBrk="1" hangingPunct="1">
              <a:buFontTx/>
              <a:buNone/>
            </a:pPr>
            <a:r>
              <a:rPr lang="en-US" altLang="zh-CN" b="1" dirty="0"/>
              <a:t>12.4  </a:t>
            </a:r>
            <a:r>
              <a:rPr lang="zh-CN" altLang="en-US" b="1" dirty="0"/>
              <a:t>链表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12.4.1 </a:t>
            </a:r>
            <a:r>
              <a:rPr lang="zh-CN" altLang="en-US" b="1" dirty="0"/>
              <a:t>链表结构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12.4.2 </a:t>
            </a:r>
            <a:r>
              <a:rPr lang="zh-CN" altLang="en-US" b="1" dirty="0"/>
              <a:t>链表的创建</a:t>
            </a:r>
            <a:r>
              <a:rPr lang="zh-CN" altLang="en-US" b="1" dirty="0" smtClean="0"/>
              <a:t>、结点的</a:t>
            </a:r>
            <a:r>
              <a:rPr lang="zh-CN" altLang="en-US" b="1" dirty="0"/>
              <a:t>插入和删除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12.4.3 </a:t>
            </a:r>
            <a:r>
              <a:rPr lang="zh-CN" altLang="en-US" b="1" dirty="0"/>
              <a:t>链表基本操作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893ED510-72A4-47ED-8327-6F435430F3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63650" y="404813"/>
            <a:ext cx="7485063" cy="7207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提纲</a:t>
            </a:r>
          </a:p>
        </p:txBody>
      </p:sp>
      <p:pic>
        <p:nvPicPr>
          <p:cNvPr id="14341" name="Picture 6" descr="页面">
            <a:extLst>
              <a:ext uri="{FF2B5EF4-FFF2-40B4-BE49-F238E27FC236}">
                <a16:creationId xmlns:a16="http://schemas.microsoft.com/office/drawing/2014/main" id="{7298DFC3-20B7-48BC-8398-DF14748C9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 Box 7">
            <a:extLst>
              <a:ext uri="{FF2B5EF4-FFF2-40B4-BE49-F238E27FC236}">
                <a16:creationId xmlns:a16="http://schemas.microsoft.com/office/drawing/2014/main" id="{0D594E3C-493D-4184-AB54-2507BA79C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413125"/>
            <a:ext cx="6335713" cy="376238"/>
          </a:xfrm>
          <a:prstGeom prst="rect">
            <a:avLst/>
          </a:pr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0C1B1EDF-3D23-4C61-BFEF-BFDCC02ECA4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C3078FEE-E3A5-42C9-94BA-55F3F73B8C05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FBCDF46-9693-485F-A9D9-3E17404D78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63650" y="404813"/>
            <a:ext cx="7575550" cy="720725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12.4.3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链表基本操作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3CECE3F-BADB-4283-8DBD-8096DCED61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19138" y="4743450"/>
            <a:ext cx="8424862" cy="2286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typedef </a:t>
            </a:r>
            <a:r>
              <a:rPr lang="en-US" altLang="zh-CN" sz="2400" b="1" dirty="0">
                <a:solidFill>
                  <a:schemeClr val="accent2"/>
                </a:solidFill>
              </a:rPr>
              <a:t>struct </a:t>
            </a:r>
            <a:r>
              <a:rPr lang="en-US" altLang="zh-CN" sz="2400" b="1" dirty="0" err="1">
                <a:solidFill>
                  <a:schemeClr val="accent2"/>
                </a:solidFill>
              </a:rPr>
              <a:t>listNode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3300"/>
                </a:solidFill>
              </a:rPr>
              <a:t>LISTNODE</a:t>
            </a:r>
            <a:r>
              <a:rPr lang="en-US" altLang="zh-CN" sz="2400" b="1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typedef </a:t>
            </a:r>
            <a:r>
              <a:rPr lang="en-US" altLang="zh-CN" sz="2400" b="1" dirty="0">
                <a:solidFill>
                  <a:schemeClr val="accent2"/>
                </a:solidFill>
              </a:rPr>
              <a:t>LISTNODE *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3300"/>
                </a:solidFill>
              </a:rPr>
              <a:t>LISTNODEPTR</a:t>
            </a:r>
            <a:r>
              <a:rPr lang="en-US" altLang="zh-CN" sz="2400" b="1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/*LISTNODEPTR</a:t>
            </a:r>
            <a:r>
              <a:rPr lang="zh-CN" altLang="en-US" sz="2400" b="1" dirty="0"/>
              <a:t>：指向</a:t>
            </a:r>
            <a:r>
              <a:rPr lang="en-US" altLang="zh-CN" sz="2400" b="1" dirty="0"/>
              <a:t>LISTNODE</a:t>
            </a:r>
            <a:r>
              <a:rPr lang="zh-CN" altLang="en-US" sz="2400" b="1" dirty="0"/>
              <a:t>指针*</a:t>
            </a:r>
            <a:r>
              <a:rPr lang="en-US" altLang="zh-CN" sz="2400" b="1" dirty="0"/>
              <a:t>/</a:t>
            </a:r>
          </a:p>
          <a:p>
            <a:pPr eaLnBrk="1" hangingPunct="1">
              <a:buFontTx/>
              <a:buNone/>
            </a:pPr>
            <a:endParaRPr lang="en-US" altLang="zh-CN" sz="2400" b="1" dirty="0"/>
          </a:p>
        </p:txBody>
      </p:sp>
      <p:grpSp>
        <p:nvGrpSpPr>
          <p:cNvPr id="16389" name="Group 7">
            <a:extLst>
              <a:ext uri="{FF2B5EF4-FFF2-40B4-BE49-F238E27FC236}">
                <a16:creationId xmlns:a16="http://schemas.microsoft.com/office/drawing/2014/main" id="{2C8FB7A0-08CC-4F2D-ACCE-0A0671945665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886075"/>
            <a:ext cx="6172200" cy="1838325"/>
            <a:chOff x="0" y="0"/>
            <a:chExt cx="3888" cy="1158"/>
          </a:xfrm>
        </p:grpSpPr>
        <p:grpSp>
          <p:nvGrpSpPr>
            <p:cNvPr id="16393" name="Group 8">
              <a:extLst>
                <a:ext uri="{FF2B5EF4-FFF2-40B4-BE49-F238E27FC236}">
                  <a16:creationId xmlns:a16="http://schemas.microsoft.com/office/drawing/2014/main" id="{C702FA74-5179-4DC8-BBF2-3DB7C229BF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864"/>
              <a:ext cx="624" cy="294"/>
              <a:chOff x="0" y="0"/>
              <a:chExt cx="624" cy="294"/>
            </a:xfrm>
          </p:grpSpPr>
          <p:sp>
            <p:nvSpPr>
              <p:cNvPr id="16414" name="Text Box 9">
                <a:extLst>
                  <a:ext uri="{FF2B5EF4-FFF2-40B4-BE49-F238E27FC236}">
                    <a16:creationId xmlns:a16="http://schemas.microsoft.com/office/drawing/2014/main" id="{A0AC668E-8272-44C7-8458-B87E1A26A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17     </a:t>
                </a:r>
              </a:p>
            </p:txBody>
          </p:sp>
          <p:sp>
            <p:nvSpPr>
              <p:cNvPr id="16415" name="Line 10">
                <a:extLst>
                  <a:ext uri="{FF2B5EF4-FFF2-40B4-BE49-F238E27FC236}">
                    <a16:creationId xmlns:a16="http://schemas.microsoft.com/office/drawing/2014/main" id="{3204C9E0-4050-4944-9D5B-1C4B87ED7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4" name="Group 11">
              <a:extLst>
                <a:ext uri="{FF2B5EF4-FFF2-40B4-BE49-F238E27FC236}">
                  <a16:creationId xmlns:a16="http://schemas.microsoft.com/office/drawing/2014/main" id="{42ACACE3-4BC5-46F9-9F3C-FCE7A8134F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864"/>
              <a:ext cx="624" cy="294"/>
              <a:chOff x="0" y="0"/>
              <a:chExt cx="624" cy="294"/>
            </a:xfrm>
          </p:grpSpPr>
          <p:sp>
            <p:nvSpPr>
              <p:cNvPr id="16412" name="Text Box 12">
                <a:extLst>
                  <a:ext uri="{FF2B5EF4-FFF2-40B4-BE49-F238E27FC236}">
                    <a16:creationId xmlns:a16="http://schemas.microsoft.com/office/drawing/2014/main" id="{A7F401D2-4C22-447B-A39D-08504CE2F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19  </a:t>
                </a:r>
              </a:p>
            </p:txBody>
          </p:sp>
          <p:sp>
            <p:nvSpPr>
              <p:cNvPr id="16413" name="Line 13">
                <a:extLst>
                  <a:ext uri="{FF2B5EF4-FFF2-40B4-BE49-F238E27FC236}">
                    <a16:creationId xmlns:a16="http://schemas.microsoft.com/office/drawing/2014/main" id="{A38FC135-1073-469B-94C5-FC000D47A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5" name="Group 14">
              <a:extLst>
                <a:ext uri="{FF2B5EF4-FFF2-40B4-BE49-F238E27FC236}">
                  <a16:creationId xmlns:a16="http://schemas.microsoft.com/office/drawing/2014/main" id="{BE53BA41-F952-4110-91FB-77A22CC17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864"/>
              <a:ext cx="624" cy="294"/>
              <a:chOff x="0" y="0"/>
              <a:chExt cx="624" cy="294"/>
            </a:xfrm>
          </p:grpSpPr>
          <p:sp>
            <p:nvSpPr>
              <p:cNvPr id="16410" name="Text Box 15">
                <a:extLst>
                  <a:ext uri="{FF2B5EF4-FFF2-40B4-BE49-F238E27FC236}">
                    <a16:creationId xmlns:a16="http://schemas.microsoft.com/office/drawing/2014/main" id="{A3240D71-3FF0-4094-B0E8-4C70A59773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47  </a:t>
                </a:r>
              </a:p>
            </p:txBody>
          </p:sp>
          <p:sp>
            <p:nvSpPr>
              <p:cNvPr id="16411" name="Line 16">
                <a:extLst>
                  <a:ext uri="{FF2B5EF4-FFF2-40B4-BE49-F238E27FC236}">
                    <a16:creationId xmlns:a16="http://schemas.microsoft.com/office/drawing/2014/main" id="{315F9BC1-C835-4CCE-8FD6-1901BB366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6" name="Group 17">
              <a:extLst>
                <a:ext uri="{FF2B5EF4-FFF2-40B4-BE49-F238E27FC236}">
                  <a16:creationId xmlns:a16="http://schemas.microsoft.com/office/drawing/2014/main" id="{1003B87D-84C5-422D-BD0D-45380BF54F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987"/>
              <a:ext cx="528" cy="48"/>
              <a:chOff x="0" y="0"/>
              <a:chExt cx="528" cy="48"/>
            </a:xfrm>
          </p:grpSpPr>
          <p:sp>
            <p:nvSpPr>
              <p:cNvPr id="16408" name="Line 18">
                <a:extLst>
                  <a:ext uri="{FF2B5EF4-FFF2-40B4-BE49-F238E27FC236}">
                    <a16:creationId xmlns:a16="http://schemas.microsoft.com/office/drawing/2014/main" id="{32F9FA4C-8FE7-4B75-8F64-3B2A11246A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9" name="Oval 19">
                <a:extLst>
                  <a:ext uri="{FF2B5EF4-FFF2-40B4-BE49-F238E27FC236}">
                    <a16:creationId xmlns:a16="http://schemas.microsoft.com/office/drawing/2014/main" id="{243AD7D1-B5F0-45C1-A8A2-FA4212C72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7" name="Group 20">
              <a:extLst>
                <a:ext uri="{FF2B5EF4-FFF2-40B4-BE49-F238E27FC236}">
                  <a16:creationId xmlns:a16="http://schemas.microsoft.com/office/drawing/2014/main" id="{5247369B-8671-4E19-A064-E0FD0BB86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990"/>
              <a:ext cx="528" cy="48"/>
              <a:chOff x="0" y="0"/>
              <a:chExt cx="528" cy="48"/>
            </a:xfrm>
          </p:grpSpPr>
          <p:sp>
            <p:nvSpPr>
              <p:cNvPr id="16406" name="Line 21">
                <a:extLst>
                  <a:ext uri="{FF2B5EF4-FFF2-40B4-BE49-F238E27FC236}">
                    <a16:creationId xmlns:a16="http://schemas.microsoft.com/office/drawing/2014/main" id="{D7B7EBDF-B059-46C1-AFE9-C5045F187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7" name="Oval 22">
                <a:extLst>
                  <a:ext uri="{FF2B5EF4-FFF2-40B4-BE49-F238E27FC236}">
                    <a16:creationId xmlns:a16="http://schemas.microsoft.com/office/drawing/2014/main" id="{15A70B78-0D85-41B7-BEF4-685E2C73A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398" name="Text Box 23">
              <a:extLst>
                <a:ext uri="{FF2B5EF4-FFF2-40B4-BE49-F238E27FC236}">
                  <a16:creationId xmlns:a16="http://schemas.microsoft.com/office/drawing/2014/main" id="{F0D45B69-E04B-4564-8461-B2A06F37F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81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… </a:t>
              </a:r>
            </a:p>
          </p:txBody>
        </p:sp>
        <p:sp>
          <p:nvSpPr>
            <p:cNvPr id="16399" name="Line 24">
              <a:extLst>
                <a:ext uri="{FF2B5EF4-FFF2-40B4-BE49-F238E27FC236}">
                  <a16:creationId xmlns:a16="http://schemas.microsoft.com/office/drawing/2014/main" id="{B9EB3E5C-FFBD-4134-A787-961F34605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Text Box 25">
              <a:extLst>
                <a:ext uri="{FF2B5EF4-FFF2-40B4-BE49-F238E27FC236}">
                  <a16:creationId xmlns:a16="http://schemas.microsoft.com/office/drawing/2014/main" id="{EE1A1124-FE12-4983-9A62-16DF0DEC2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401" name="Text Box 26">
              <a:extLst>
                <a:ext uri="{FF2B5EF4-FFF2-40B4-BE49-F238E27FC236}">
                  <a16:creationId xmlns:a16="http://schemas.microsoft.com/office/drawing/2014/main" id="{346FD21C-6CE7-400B-BEBB-461540EA2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16402" name="Group 27">
              <a:extLst>
                <a:ext uri="{FF2B5EF4-FFF2-40B4-BE49-F238E27FC236}">
                  <a16:creationId xmlns:a16="http://schemas.microsoft.com/office/drawing/2014/main" id="{1D271F6B-3F97-407C-936C-A230382816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16404" name="Oval 28">
                <a:extLst>
                  <a:ext uri="{FF2B5EF4-FFF2-40B4-BE49-F238E27FC236}">
                    <a16:creationId xmlns:a16="http://schemas.microsoft.com/office/drawing/2014/main" id="{46889C65-17CC-44BC-91C8-3376652B4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5" name="Line 29">
                <a:extLst>
                  <a:ext uri="{FF2B5EF4-FFF2-40B4-BE49-F238E27FC236}">
                    <a16:creationId xmlns:a16="http://schemas.microsoft.com/office/drawing/2014/main" id="{9DF10DB4-B9F6-4AB8-BB85-1898CE9FF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403" name="Line 30">
              <a:extLst>
                <a:ext uri="{FF2B5EF4-FFF2-40B4-BE49-F238E27FC236}">
                  <a16:creationId xmlns:a16="http://schemas.microsoft.com/office/drawing/2014/main" id="{9A61D757-A08B-4216-909C-E7DE403BD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864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90" name="AutoShape 31">
            <a:extLst>
              <a:ext uri="{FF2B5EF4-FFF2-40B4-BE49-F238E27FC236}">
                <a16:creationId xmlns:a16="http://schemas.microsoft.com/office/drawing/2014/main" id="{5FDCBB3E-D2D7-4002-A710-412CEFF84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173413"/>
            <a:ext cx="1657350" cy="720725"/>
          </a:xfrm>
          <a:prstGeom prst="wedgeRoundRectCallout">
            <a:avLst>
              <a:gd name="adj1" fmla="val -43773"/>
              <a:gd name="adj2" fmla="val 100000"/>
              <a:gd name="adj3" fmla="val 16667"/>
            </a:avLst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prstShdw prst="shdw17" dist="17961" dir="13500000">
              <a:srgbClr val="1F1F7A"/>
            </a:prst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LISTNODE</a:t>
            </a:r>
            <a:r>
              <a:rPr lang="zh-CN" altLang="en-US" sz="2000">
                <a:latin typeface="Times New Roman" panose="02020603050405020304" pitchFamily="18" charset="0"/>
              </a:rPr>
              <a:t>类型</a:t>
            </a:r>
          </a:p>
        </p:txBody>
      </p:sp>
      <p:sp>
        <p:nvSpPr>
          <p:cNvPr id="16391" name="AutoShape 32">
            <a:extLst>
              <a:ext uri="{FF2B5EF4-FFF2-40B4-BE49-F238E27FC236}">
                <a16:creationId xmlns:a16="http://schemas.microsoft.com/office/drawing/2014/main" id="{EB36511F-06C8-4F70-B479-D82EC4FCB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814638"/>
            <a:ext cx="2232025" cy="720725"/>
          </a:xfrm>
          <a:prstGeom prst="wedgeRoundRectCallout">
            <a:avLst>
              <a:gd name="adj1" fmla="val -82148"/>
              <a:gd name="adj2" fmla="val 58810"/>
              <a:gd name="adj3" fmla="val 16667"/>
            </a:avLst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prstShdw prst="shdw17" dist="17961" dir="13500000">
              <a:srgbClr val="1F1F7A"/>
            </a:prst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LISTNODEPTR</a:t>
            </a:r>
            <a:r>
              <a:rPr lang="zh-CN" altLang="en-US" sz="2000">
                <a:latin typeface="Times New Roman" panose="02020603050405020304" pitchFamily="18" charset="0"/>
              </a:rPr>
              <a:t>类型</a:t>
            </a:r>
          </a:p>
        </p:txBody>
      </p:sp>
      <p:sp>
        <p:nvSpPr>
          <p:cNvPr id="16392" name="Rectangle 33">
            <a:extLst>
              <a:ext uri="{FF2B5EF4-FFF2-40B4-BE49-F238E27FC236}">
                <a16:creationId xmlns:a16="http://schemas.microsoft.com/office/drawing/2014/main" id="{5B6053D3-445E-4175-A265-3DF53478D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59474"/>
            <a:ext cx="3887787" cy="1983740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#define </a:t>
            </a:r>
            <a:r>
              <a:rPr lang="en-US" altLang="zh-CN" sz="2400" dirty="0" err="1">
                <a:latin typeface="Times New Roman" panose="02020603050405020304" pitchFamily="18" charset="0"/>
              </a:rPr>
              <a:t>ElementType</a:t>
            </a:r>
            <a:r>
              <a:rPr lang="en-US" altLang="zh-CN" sz="2400" dirty="0">
                <a:latin typeface="Times New Roman" panose="02020603050405020304" pitchFamily="18" charset="0"/>
              </a:rPr>
              <a:t> int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struct </a:t>
            </a:r>
            <a:r>
              <a:rPr lang="en-US" altLang="zh-CN" sz="2400" dirty="0" err="1">
                <a:latin typeface="Times New Roman" panose="02020603050405020304" pitchFamily="18" charset="0"/>
              </a:rPr>
              <a:t>listNode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 </a:t>
            </a:r>
            <a:r>
              <a:rPr lang="en-US" altLang="zh-CN" sz="2400" dirty="0" err="1">
                <a:latin typeface="Times New Roman" panose="02020603050405020304" pitchFamily="18" charset="0"/>
              </a:rPr>
              <a:t>ElementType</a:t>
            </a:r>
            <a:r>
              <a:rPr lang="en-US" altLang="zh-CN" sz="2400" dirty="0">
                <a:latin typeface="Times New Roman" panose="02020603050405020304" pitchFamily="18" charset="0"/>
              </a:rPr>
              <a:t> data;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struct </a:t>
            </a:r>
            <a:r>
              <a:rPr lang="en-US" altLang="zh-CN" sz="2400" dirty="0" err="1">
                <a:latin typeface="Times New Roman" panose="02020603050405020304" pitchFamily="18" charset="0"/>
              </a:rPr>
              <a:t>listNode</a:t>
            </a:r>
            <a:r>
              <a:rPr lang="en-US" altLang="zh-CN" sz="2400" dirty="0">
                <a:latin typeface="Times New Roman" panose="02020603050405020304" pitchFamily="18" charset="0"/>
              </a:rPr>
              <a:t> * 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};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ABEC8BAC-2E51-4C7E-8354-80F7201925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A1AC6FFC-C31E-4BAE-B229-F0AB5A510D35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FD247AA-6B55-4932-AA68-1352EFEC06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63651"/>
            <a:ext cx="7772400" cy="46116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对链表的基本操作有：创建链表、检索（查找</a:t>
            </a:r>
            <a:r>
              <a:rPr lang="zh-CN" altLang="en-US" sz="2400" b="1" dirty="0" smtClean="0"/>
              <a:t>）结点、</a:t>
            </a:r>
            <a:r>
              <a:rPr lang="zh-CN" altLang="en-US" sz="2400" b="1" dirty="0"/>
              <a:t>插入、</a:t>
            </a:r>
            <a:r>
              <a:rPr lang="zh-CN" altLang="en-US" sz="2400" b="1" dirty="0" smtClean="0"/>
              <a:t>删除结点和修改结点等</a:t>
            </a:r>
            <a:r>
              <a:rPr lang="zh-CN" altLang="en-US" sz="2400" b="1" dirty="0"/>
              <a:t>。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）链表的创建其实是一系列</a:t>
            </a:r>
            <a:r>
              <a:rPr lang="zh-CN" altLang="en-US" sz="2400" b="1" dirty="0" smtClean="0"/>
              <a:t>插入结点操作</a:t>
            </a:r>
            <a:r>
              <a:rPr lang="zh-CN" altLang="en-US" sz="2400" b="1" dirty="0"/>
              <a:t>组成，时间跨度有长有短。所以我们可以设计适应各种情况的</a:t>
            </a:r>
            <a:r>
              <a:rPr lang="zh-CN" altLang="en-US" sz="2400" b="1" dirty="0" smtClean="0"/>
              <a:t>插入结点操作</a:t>
            </a:r>
            <a:r>
              <a:rPr lang="zh-CN" altLang="en-US" sz="2400" b="1" dirty="0"/>
              <a:t>函数来实现创建功能。</a:t>
            </a:r>
            <a:endParaRPr lang="en-US" altLang="zh-CN" sz="2400" b="1" dirty="0"/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）如果用链表实现一个先进先出的队列，我们需要将每个</a:t>
            </a:r>
            <a:r>
              <a:rPr lang="zh-CN" altLang="en-US" sz="2400" b="1" dirty="0" smtClean="0"/>
              <a:t>新结点插入</a:t>
            </a:r>
            <a:r>
              <a:rPr lang="zh-CN" altLang="en-US" sz="2400" b="1" dirty="0"/>
              <a:t>到链表尾部，简称尾插。</a:t>
            </a:r>
            <a:endParaRPr lang="en-US" altLang="zh-CN" sz="2400" b="1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）如果用链表实现一个后进先出的栈，我们需要将每个</a:t>
            </a:r>
            <a:r>
              <a:rPr lang="zh-CN" altLang="en-US" sz="2400" b="1" dirty="0" smtClean="0"/>
              <a:t>新结点插入</a:t>
            </a:r>
            <a:r>
              <a:rPr lang="zh-CN" altLang="en-US" sz="2400" b="1" dirty="0"/>
              <a:t>到链表头部，简称头插。</a:t>
            </a:r>
            <a:endParaRPr lang="en-US" altLang="zh-CN" sz="2400" b="1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）如果用链表实现一个按元素值排序的线性表，我们需要遍历链表，找到第一个大于</a:t>
            </a:r>
            <a:r>
              <a:rPr lang="zh-CN" altLang="en-US" sz="2400" b="1" dirty="0" smtClean="0"/>
              <a:t>新结点数据</a:t>
            </a:r>
            <a:r>
              <a:rPr lang="zh-CN" altLang="en-US" sz="2400" b="1" dirty="0"/>
              <a:t>值</a:t>
            </a:r>
            <a:r>
              <a:rPr lang="zh-CN" altLang="en-US" sz="2400" b="1" dirty="0" smtClean="0"/>
              <a:t>的结点，</a:t>
            </a:r>
            <a:r>
              <a:rPr lang="zh-CN" altLang="en-US" sz="2400" b="1" dirty="0"/>
              <a:t>插入到其和</a:t>
            </a:r>
            <a:r>
              <a:rPr lang="zh-CN" altLang="en-US" sz="2400" b="1" dirty="0" smtClean="0"/>
              <a:t>前驱结点之间</a:t>
            </a:r>
            <a:r>
              <a:rPr lang="zh-CN" altLang="en-US" sz="2400" b="1" dirty="0"/>
              <a:t>，简称有序插。</a:t>
            </a:r>
            <a:endParaRPr lang="en-US" altLang="zh-CN" sz="2400" b="1" dirty="0"/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400" b="1" dirty="0"/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：头插、尾插、按排序插。</a:t>
            </a:r>
            <a:endParaRPr lang="en-US" altLang="zh-CN" sz="2400" b="1" dirty="0"/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zh-CN" altLang="en-US" sz="2400" b="1" dirty="0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92249973-464F-4561-8B83-ABEAAE1173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63650" y="404813"/>
            <a:ext cx="7412038" cy="720725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12.4.3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链表基本操作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0D5B9F-5F56-4F8E-8AC5-2B8BFDADFD7A}"/>
              </a:ext>
            </a:extLst>
          </p:cNvPr>
          <p:cNvSpPr txBox="1"/>
          <p:nvPr/>
        </p:nvSpPr>
        <p:spPr>
          <a:xfrm>
            <a:off x="250825" y="5900738"/>
            <a:ext cx="8785225" cy="46196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dirty="0"/>
              <a:t>链表的基本操作是共性（通用）操作，我们可以设计函数供调用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68609">
            <a:extLst>
              <a:ext uri="{FF2B5EF4-FFF2-40B4-BE49-F238E27FC236}">
                <a16:creationId xmlns:a16="http://schemas.microsoft.com/office/drawing/2014/main" id="{5D4ACDC3-B2DA-4D35-B994-61FDC1A1C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</a:t>
            </a:r>
            <a:r>
              <a:rPr lang="zh-CN" altLang="en-US" dirty="0" smtClean="0"/>
              <a:t>空结点的</a:t>
            </a:r>
            <a:r>
              <a:rPr lang="zh-CN" altLang="en-US" dirty="0"/>
              <a:t>链表</a:t>
            </a:r>
          </a:p>
        </p:txBody>
      </p:sp>
      <p:sp>
        <p:nvSpPr>
          <p:cNvPr id="60419" name="文本占位符 68610">
            <a:extLst>
              <a:ext uri="{FF2B5EF4-FFF2-40B4-BE49-F238E27FC236}">
                <a16:creationId xmlns:a16="http://schemas.microsoft.com/office/drawing/2014/main" id="{6286D972-F873-4677-A5AD-2508539ED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</a:t>
            </a:r>
            <a:r>
              <a:rPr lang="zh-CN" altLang="en-US" dirty="0" smtClean="0"/>
              <a:t>个结点不</a:t>
            </a:r>
            <a:r>
              <a:rPr lang="zh-CN" altLang="en-US" dirty="0"/>
              <a:t>实际存放数据，只存放下</a:t>
            </a:r>
            <a:r>
              <a:rPr lang="zh-CN" altLang="en-US" dirty="0" smtClean="0"/>
              <a:t>一结点地址</a:t>
            </a:r>
            <a:r>
              <a:rPr lang="zh-CN" altLang="en-US" dirty="0"/>
              <a:t>。因此该链表永远不可能为空。从而可以简化程序的判断逻辑：</a:t>
            </a:r>
            <a:r>
              <a:rPr lang="zh-CN" altLang="en-US" dirty="0" smtClean="0"/>
              <a:t>插入结点或删除结点时</a:t>
            </a:r>
            <a:r>
              <a:rPr lang="zh-CN" altLang="en-US" dirty="0"/>
              <a:t>不用判断</a:t>
            </a:r>
            <a:r>
              <a:rPr lang="zh-CN" altLang="en-US" dirty="0" smtClean="0"/>
              <a:t>前驱结点为</a:t>
            </a:r>
            <a:r>
              <a:rPr lang="zh-CN" altLang="en-US" dirty="0"/>
              <a:t>空的情况。</a:t>
            </a:r>
          </a:p>
        </p:txBody>
      </p:sp>
      <p:grpSp>
        <p:nvGrpSpPr>
          <p:cNvPr id="60420" name="Group 5">
            <a:extLst>
              <a:ext uri="{FF2B5EF4-FFF2-40B4-BE49-F238E27FC236}">
                <a16:creationId xmlns:a16="http://schemas.microsoft.com/office/drawing/2014/main" id="{6DF8CFCF-B4B7-4547-B139-1FA2CE71181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327525"/>
            <a:ext cx="990600" cy="466725"/>
            <a:chOff x="0" y="0"/>
            <a:chExt cx="624" cy="294"/>
          </a:xfrm>
        </p:grpSpPr>
        <p:sp>
          <p:nvSpPr>
            <p:cNvPr id="60450" name="Text Box 6">
              <a:extLst>
                <a:ext uri="{FF2B5EF4-FFF2-40B4-BE49-F238E27FC236}">
                  <a16:creationId xmlns:a16="http://schemas.microsoft.com/office/drawing/2014/main" id="{DE965ED0-E6A5-4B8A-B615-0178DC3A2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    </a:t>
              </a:r>
            </a:p>
          </p:txBody>
        </p:sp>
        <p:sp>
          <p:nvSpPr>
            <p:cNvPr id="60451" name="Line 7">
              <a:extLst>
                <a:ext uri="{FF2B5EF4-FFF2-40B4-BE49-F238E27FC236}">
                  <a16:creationId xmlns:a16="http://schemas.microsoft.com/office/drawing/2014/main" id="{934676A0-1CFD-47F9-A427-2E19C31D8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21" name="Group 8">
            <a:extLst>
              <a:ext uri="{FF2B5EF4-FFF2-40B4-BE49-F238E27FC236}">
                <a16:creationId xmlns:a16="http://schemas.microsoft.com/office/drawing/2014/main" id="{B9E55B09-3D0D-4170-BBD1-A822232F4BF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327525"/>
            <a:ext cx="990600" cy="466725"/>
            <a:chOff x="0" y="0"/>
            <a:chExt cx="624" cy="294"/>
          </a:xfrm>
        </p:grpSpPr>
        <p:sp>
          <p:nvSpPr>
            <p:cNvPr id="60448" name="Text Box 9">
              <a:extLst>
                <a:ext uri="{FF2B5EF4-FFF2-40B4-BE49-F238E27FC236}">
                  <a16:creationId xmlns:a16="http://schemas.microsoft.com/office/drawing/2014/main" id="{00A7A0CC-AC57-4F40-A6C9-6381A34AB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60449" name="Line 10">
              <a:extLst>
                <a:ext uri="{FF2B5EF4-FFF2-40B4-BE49-F238E27FC236}">
                  <a16:creationId xmlns:a16="http://schemas.microsoft.com/office/drawing/2014/main" id="{35BF4A02-3C8B-4C85-8AA5-EDECE0E9C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22" name="Group 11">
            <a:extLst>
              <a:ext uri="{FF2B5EF4-FFF2-40B4-BE49-F238E27FC236}">
                <a16:creationId xmlns:a16="http://schemas.microsoft.com/office/drawing/2014/main" id="{85974B6C-366A-4658-9648-2F56F4C59EAF}"/>
              </a:ext>
            </a:extLst>
          </p:cNvPr>
          <p:cNvGrpSpPr>
            <a:grpSpLocks/>
          </p:cNvGrpSpPr>
          <p:nvPr/>
        </p:nvGrpSpPr>
        <p:grpSpPr bwMode="auto">
          <a:xfrm>
            <a:off x="7469188" y="4327525"/>
            <a:ext cx="990600" cy="466725"/>
            <a:chOff x="0" y="0"/>
            <a:chExt cx="624" cy="294"/>
          </a:xfrm>
        </p:grpSpPr>
        <p:sp>
          <p:nvSpPr>
            <p:cNvPr id="60446" name="Text Box 12">
              <a:extLst>
                <a:ext uri="{FF2B5EF4-FFF2-40B4-BE49-F238E27FC236}">
                  <a16:creationId xmlns:a16="http://schemas.microsoft.com/office/drawing/2014/main" id="{C46EB7ED-3184-49F2-B437-E344EE9FB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60447" name="Line 13">
              <a:extLst>
                <a:ext uri="{FF2B5EF4-FFF2-40B4-BE49-F238E27FC236}">
                  <a16:creationId xmlns:a16="http://schemas.microsoft.com/office/drawing/2014/main" id="{EB3A7719-3E2F-4767-9279-A2FA141E5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23" name="Group 14">
            <a:extLst>
              <a:ext uri="{FF2B5EF4-FFF2-40B4-BE49-F238E27FC236}">
                <a16:creationId xmlns:a16="http://schemas.microsoft.com/office/drawing/2014/main" id="{17B585A5-1ED9-4656-BE2A-2914AC5E4FDF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524375"/>
            <a:ext cx="838200" cy="76200"/>
            <a:chOff x="0" y="0"/>
            <a:chExt cx="528" cy="48"/>
          </a:xfrm>
        </p:grpSpPr>
        <p:sp>
          <p:nvSpPr>
            <p:cNvPr id="60444" name="Line 15">
              <a:extLst>
                <a:ext uri="{FF2B5EF4-FFF2-40B4-BE49-F238E27FC236}">
                  <a16:creationId xmlns:a16="http://schemas.microsoft.com/office/drawing/2014/main" id="{5BCFA0F0-40ED-4389-9B89-10F90CB8B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5" name="Oval 16">
              <a:extLst>
                <a:ext uri="{FF2B5EF4-FFF2-40B4-BE49-F238E27FC236}">
                  <a16:creationId xmlns:a16="http://schemas.microsoft.com/office/drawing/2014/main" id="{CF3A3C66-2FA7-498A-B29B-2DDA03AEE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24" name="Group 17">
            <a:extLst>
              <a:ext uri="{FF2B5EF4-FFF2-40B4-BE49-F238E27FC236}">
                <a16:creationId xmlns:a16="http://schemas.microsoft.com/office/drawing/2014/main" id="{30AC270B-B14F-42EA-82DD-71D4AE28272F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527550"/>
            <a:ext cx="838200" cy="76200"/>
            <a:chOff x="0" y="0"/>
            <a:chExt cx="528" cy="48"/>
          </a:xfrm>
        </p:grpSpPr>
        <p:sp>
          <p:nvSpPr>
            <p:cNvPr id="60442" name="Line 18">
              <a:extLst>
                <a:ext uri="{FF2B5EF4-FFF2-40B4-BE49-F238E27FC236}">
                  <a16:creationId xmlns:a16="http://schemas.microsoft.com/office/drawing/2014/main" id="{90610C5F-9E2E-4E62-ADC7-216A61E53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Oval 19">
              <a:extLst>
                <a:ext uri="{FF2B5EF4-FFF2-40B4-BE49-F238E27FC236}">
                  <a16:creationId xmlns:a16="http://schemas.microsoft.com/office/drawing/2014/main" id="{DC95C9CD-CD6E-4F3C-ABAF-77A0F0704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0425" name="Text Box 20">
            <a:extLst>
              <a:ext uri="{FF2B5EF4-FFF2-40B4-BE49-F238E27FC236}">
                <a16:creationId xmlns:a16="http://schemas.microsoft.com/office/drawing/2014/main" id="{D3DD551D-3E02-4444-B064-E5680D03E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4251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… </a:t>
            </a:r>
          </a:p>
        </p:txBody>
      </p:sp>
      <p:sp>
        <p:nvSpPr>
          <p:cNvPr id="60426" name="Line 21">
            <a:extLst>
              <a:ext uri="{FF2B5EF4-FFF2-40B4-BE49-F238E27FC236}">
                <a16:creationId xmlns:a16="http://schemas.microsoft.com/office/drawing/2014/main" id="{47E910D9-D81B-4892-9799-7FEA385D0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9588" y="455612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bevel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0427" name="Group 22">
            <a:extLst>
              <a:ext uri="{FF2B5EF4-FFF2-40B4-BE49-F238E27FC236}">
                <a16:creationId xmlns:a16="http://schemas.microsoft.com/office/drawing/2014/main" id="{F44AC5A4-3BC3-4D71-A875-55CAFFE73AF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990850"/>
            <a:ext cx="1219200" cy="1371600"/>
            <a:chOff x="0" y="0"/>
            <a:chExt cx="768" cy="864"/>
          </a:xfrm>
        </p:grpSpPr>
        <p:sp>
          <p:nvSpPr>
            <p:cNvPr id="60437" name="Text Box 23">
              <a:extLst>
                <a:ext uri="{FF2B5EF4-FFF2-40B4-BE49-F238E27FC236}">
                  <a16:creationId xmlns:a16="http://schemas.microsoft.com/office/drawing/2014/main" id="{E08F4040-2FF1-496A-80FB-62EE39F20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0438" name="Text Box 24">
              <a:extLst>
                <a:ext uri="{FF2B5EF4-FFF2-40B4-BE49-F238E27FC236}">
                  <a16:creationId xmlns:a16="http://schemas.microsoft.com/office/drawing/2014/main" id="{AD3CC662-60A6-47AB-B936-2127CB21D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60439" name="Group 25">
              <a:extLst>
                <a:ext uri="{FF2B5EF4-FFF2-40B4-BE49-F238E27FC236}">
                  <a16:creationId xmlns:a16="http://schemas.microsoft.com/office/drawing/2014/main" id="{EC3949DF-B371-47BC-897F-61C28732DD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60440" name="Oval 26">
                <a:extLst>
                  <a:ext uri="{FF2B5EF4-FFF2-40B4-BE49-F238E27FC236}">
                    <a16:creationId xmlns:a16="http://schemas.microsoft.com/office/drawing/2014/main" id="{3456E026-1C1B-4449-BC71-A3A7DF620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41" name="Line 27">
                <a:extLst>
                  <a:ext uri="{FF2B5EF4-FFF2-40B4-BE49-F238E27FC236}">
                    <a16:creationId xmlns:a16="http://schemas.microsoft.com/office/drawing/2014/main" id="{952635BD-A858-430C-AEC6-A44B2AF64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bevel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0428" name="Line 28">
            <a:extLst>
              <a:ext uri="{FF2B5EF4-FFF2-40B4-BE49-F238E27FC236}">
                <a16:creationId xmlns:a16="http://schemas.microsoft.com/office/drawing/2014/main" id="{0399F565-5F7F-46D7-B85A-8E210064C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2588" y="432752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0429" name="Group 38">
            <a:extLst>
              <a:ext uri="{FF2B5EF4-FFF2-40B4-BE49-F238E27FC236}">
                <a16:creationId xmlns:a16="http://schemas.microsoft.com/office/drawing/2014/main" id="{3D4F0069-2126-485A-8259-8B5F1F71C1F4}"/>
              </a:ext>
            </a:extLst>
          </p:cNvPr>
          <p:cNvGrpSpPr>
            <a:grpSpLocks/>
          </p:cNvGrpSpPr>
          <p:nvPr/>
        </p:nvGrpSpPr>
        <p:grpSpPr bwMode="auto">
          <a:xfrm>
            <a:off x="4700588" y="4324350"/>
            <a:ext cx="990600" cy="466725"/>
            <a:chOff x="0" y="0"/>
            <a:chExt cx="624" cy="294"/>
          </a:xfrm>
        </p:grpSpPr>
        <p:sp>
          <p:nvSpPr>
            <p:cNvPr id="60435" name="Text Box 39">
              <a:extLst>
                <a:ext uri="{FF2B5EF4-FFF2-40B4-BE49-F238E27FC236}">
                  <a16:creationId xmlns:a16="http://schemas.microsoft.com/office/drawing/2014/main" id="{0DFED12A-0C71-4333-85D8-76546C7EA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37     </a:t>
              </a:r>
            </a:p>
          </p:txBody>
        </p:sp>
        <p:sp>
          <p:nvSpPr>
            <p:cNvPr id="60436" name="Line 40">
              <a:extLst>
                <a:ext uri="{FF2B5EF4-FFF2-40B4-BE49-F238E27FC236}">
                  <a16:creationId xmlns:a16="http://schemas.microsoft.com/office/drawing/2014/main" id="{E934C2C7-08BA-44FE-A67D-4C9C1AF28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30" name="Group 41">
            <a:extLst>
              <a:ext uri="{FF2B5EF4-FFF2-40B4-BE49-F238E27FC236}">
                <a16:creationId xmlns:a16="http://schemas.microsoft.com/office/drawing/2014/main" id="{369903C5-620A-4C20-B5C2-FCB6D2EF0086}"/>
              </a:ext>
            </a:extLst>
          </p:cNvPr>
          <p:cNvGrpSpPr>
            <a:grpSpLocks/>
          </p:cNvGrpSpPr>
          <p:nvPr/>
        </p:nvGrpSpPr>
        <p:grpSpPr bwMode="auto">
          <a:xfrm>
            <a:off x="5462588" y="4521200"/>
            <a:ext cx="838200" cy="76200"/>
            <a:chOff x="0" y="0"/>
            <a:chExt cx="528" cy="48"/>
          </a:xfrm>
        </p:grpSpPr>
        <p:sp>
          <p:nvSpPr>
            <p:cNvPr id="60433" name="Line 42">
              <a:extLst>
                <a:ext uri="{FF2B5EF4-FFF2-40B4-BE49-F238E27FC236}">
                  <a16:creationId xmlns:a16="http://schemas.microsoft.com/office/drawing/2014/main" id="{BC17A1B0-BE98-4847-9C67-AE7126EED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Oval 43">
              <a:extLst>
                <a:ext uri="{FF2B5EF4-FFF2-40B4-BE49-F238E27FC236}">
                  <a16:creationId xmlns:a16="http://schemas.microsoft.com/office/drawing/2014/main" id="{24B7F806-C0E0-4A03-BC02-412725CAD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bevel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0431" name="椭圆形标注2 2420">
            <a:extLst>
              <a:ext uri="{FF2B5EF4-FFF2-40B4-BE49-F238E27FC236}">
                <a16:creationId xmlns:a16="http://schemas.microsoft.com/office/drawing/2014/main" id="{6E6F4DFD-4DBD-43F8-BE4B-A08FC4CDBA4F}"/>
              </a:ext>
            </a:extLst>
          </p:cNvPr>
          <p:cNvSpPr>
            <a:spLocks noChangeArrowheads="1"/>
          </p:cNvSpPr>
          <p:nvPr/>
        </p:nvSpPr>
        <p:spPr bwMode="auto">
          <a:xfrm rot="10320000">
            <a:off x="539750" y="4941888"/>
            <a:ext cx="1733550" cy="906462"/>
          </a:xfrm>
          <a:custGeom>
            <a:avLst/>
            <a:gdLst>
              <a:gd name="T0" fmla="*/ 67591 w 4057666"/>
              <a:gd name="T1" fmla="*/ 0 h 2658125"/>
              <a:gd name="T2" fmla="*/ 135181 w 4057666"/>
              <a:gd name="T3" fmla="*/ 16482 h 2658125"/>
              <a:gd name="T4" fmla="*/ 67591 w 4057666"/>
              <a:gd name="T5" fmla="*/ 32964 h 2658125"/>
              <a:gd name="T6" fmla="*/ 53969 w 4057666"/>
              <a:gd name="T7" fmla="*/ 32630 h 2658125"/>
              <a:gd name="T8" fmla="*/ 50043 w 4057666"/>
              <a:gd name="T9" fmla="*/ 32384 h 2658125"/>
              <a:gd name="T10" fmla="*/ 49921 w 4057666"/>
              <a:gd name="T11" fmla="*/ 32447 h 2658125"/>
              <a:gd name="T12" fmla="*/ 21376 w 4057666"/>
              <a:gd name="T13" fmla="*/ 34661 h 2658125"/>
              <a:gd name="T14" fmla="*/ 34013 w 4057666"/>
              <a:gd name="T15" fmla="*/ 31959 h 2658125"/>
              <a:gd name="T16" fmla="*/ 35203 w 4057666"/>
              <a:gd name="T17" fmla="*/ 30950 h 2658125"/>
              <a:gd name="T18" fmla="*/ 29800 w 4057666"/>
              <a:gd name="T19" fmla="*/ 30150 h 2658125"/>
              <a:gd name="T20" fmla="*/ 0 w 4057666"/>
              <a:gd name="T21" fmla="*/ 16482 h 2658125"/>
              <a:gd name="T22" fmla="*/ 67591 w 4057666"/>
              <a:gd name="T23" fmla="*/ 0 h 26581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057666" h="2658125">
                <a:moveTo>
                  <a:pt x="2028833" y="0"/>
                </a:moveTo>
                <a:cubicBezTo>
                  <a:pt x="3149327" y="0"/>
                  <a:pt x="4057666" y="545658"/>
                  <a:pt x="4057666" y="1218761"/>
                </a:cubicBezTo>
                <a:cubicBezTo>
                  <a:pt x="4057666" y="1891864"/>
                  <a:pt x="3149327" y="2437522"/>
                  <a:pt x="2028833" y="2437522"/>
                </a:cubicBezTo>
                <a:cubicBezTo>
                  <a:pt x="1888772" y="2437522"/>
                  <a:pt x="1752025" y="2428996"/>
                  <a:pt x="1619953" y="2412761"/>
                </a:cubicBezTo>
                <a:lnTo>
                  <a:pt x="1502103" y="2394558"/>
                </a:lnTo>
                <a:lnTo>
                  <a:pt x="1498446" y="2399240"/>
                </a:lnTo>
                <a:cubicBezTo>
                  <a:pt x="1353615" y="2559983"/>
                  <a:pt x="1089355" y="2790056"/>
                  <a:pt x="641618" y="2562958"/>
                </a:cubicBezTo>
                <a:cubicBezTo>
                  <a:pt x="766718" y="2585900"/>
                  <a:pt x="924771" y="2518290"/>
                  <a:pt x="1020948" y="2363209"/>
                </a:cubicBezTo>
                <a:lnTo>
                  <a:pt x="1056660" y="2288559"/>
                </a:lnTo>
                <a:lnTo>
                  <a:pt x="894493" y="2229377"/>
                </a:lnTo>
                <a:cubicBezTo>
                  <a:pt x="354820" y="2010357"/>
                  <a:pt x="0" y="1639451"/>
                  <a:pt x="0" y="1218761"/>
                </a:cubicBezTo>
                <a:cubicBezTo>
                  <a:pt x="0" y="545658"/>
                  <a:pt x="908339" y="0"/>
                  <a:pt x="2028833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0432" name="文本框 68642">
            <a:extLst>
              <a:ext uri="{FF2B5EF4-FFF2-40B4-BE49-F238E27FC236}">
                <a16:creationId xmlns:a16="http://schemas.microsoft.com/office/drawing/2014/main" id="{3303DC5B-EDAF-466C-84A1-15B64F02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16017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空结点，</a:t>
            </a:r>
            <a:r>
              <a:rPr lang="zh-CN" altLang="en-US" sz="2000" dirty="0">
                <a:latin typeface="Times New Roman" panose="02020603050405020304" pitchFamily="18" charset="0"/>
              </a:rPr>
              <a:t>不存放数据</a:t>
            </a:r>
          </a:p>
        </p:txBody>
      </p:sp>
    </p:spTree>
    <p:extLst>
      <p:ext uri="{BB962C8B-B14F-4D97-AF65-F5344CB8AC3E}">
        <p14:creationId xmlns:p14="http://schemas.microsoft.com/office/powerpoint/2010/main" val="36974781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BC5AA-AE95-4193-8BDE-39AF85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预备：头指针和</a:t>
            </a:r>
            <a:r>
              <a:rPr lang="zh-CN" altLang="en-US" dirty="0" smtClean="0"/>
              <a:t>空结点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56289-5129-498F-9533-8374CA363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77724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/*</a:t>
            </a:r>
            <a:r>
              <a:rPr lang="zh-CN" altLang="en-US" sz="2000" dirty="0"/>
              <a:t>创建一个带</a:t>
            </a:r>
            <a:r>
              <a:rPr lang="zh-CN" altLang="en-US" sz="2000" dirty="0" smtClean="0"/>
              <a:t>空结点</a:t>
            </a:r>
            <a:r>
              <a:rPr lang="zh-CN" altLang="en-US" sz="2000" dirty="0"/>
              <a:t>的链表头*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createListHead</a:t>
            </a:r>
            <a:r>
              <a:rPr lang="en-US" altLang="zh-CN" sz="2000" dirty="0"/>
              <a:t> (LISTNODEPTR * 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){</a:t>
            </a:r>
          </a:p>
          <a:p>
            <a:pPr marL="0" indent="0">
              <a:buNone/>
            </a:pPr>
            <a:r>
              <a:rPr lang="en-US" altLang="zh-CN" sz="2000" dirty="0"/>
              <a:t>	*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malloc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(LISTNODE));</a:t>
            </a:r>
          </a:p>
          <a:p>
            <a:pPr marL="0" indent="0">
              <a:buNone/>
            </a:pPr>
            <a:r>
              <a:rPr lang="en-US" altLang="zh-CN" sz="2000" dirty="0"/>
              <a:t>	if ((*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) != NULL){</a:t>
            </a:r>
          </a:p>
          <a:p>
            <a:pPr marL="0" indent="0">
              <a:buNone/>
            </a:pPr>
            <a:r>
              <a:rPr lang="en-US" altLang="zh-CN" sz="2000" dirty="0"/>
              <a:t>		(*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)-&gt;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NULL;</a:t>
            </a:r>
          </a:p>
          <a:p>
            <a:pPr marL="0" indent="0">
              <a:buNone/>
            </a:pPr>
            <a:r>
              <a:rPr lang="en-US" altLang="zh-CN" sz="2000" dirty="0"/>
              <a:t>	} 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11967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BC5AA-AE95-4193-8BDE-39AF85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主程序片断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56289-5129-498F-9533-8374CA363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77724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int main(){</a:t>
            </a:r>
          </a:p>
          <a:p>
            <a:pPr marL="0" indent="0">
              <a:buNone/>
            </a:pPr>
            <a:r>
              <a:rPr lang="en-US" altLang="zh-CN" sz="2000" dirty="0"/>
              <a:t>	LISTNODEPTR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 = NULL;</a:t>
            </a:r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createListHead</a:t>
            </a:r>
            <a:r>
              <a:rPr lang="en-US" altLang="zh-CN" sz="2000" dirty="0"/>
              <a:t>(&amp;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);</a:t>
            </a:r>
          </a:p>
          <a:p>
            <a:pPr marL="0" indent="0">
              <a:buNone/>
            </a:pPr>
            <a:r>
              <a:rPr lang="en-US" altLang="zh-CN" sz="2000" dirty="0"/>
              <a:t>	if (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 == NULL){</a:t>
            </a:r>
          </a:p>
          <a:p>
            <a:pPr marL="0" indent="0">
              <a:buNone/>
            </a:pPr>
            <a:r>
              <a:rPr lang="en-US" altLang="zh-CN" sz="2000" dirty="0"/>
              <a:t>	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("List not </a:t>
            </a:r>
            <a:r>
              <a:rPr lang="en-US" altLang="zh-CN" sz="2000" dirty="0" err="1"/>
              <a:t>ctreated</a:t>
            </a:r>
            <a:r>
              <a:rPr lang="en-US" altLang="zh-CN" sz="2000" dirty="0"/>
              <a:t>. No memory </a:t>
            </a:r>
            <a:r>
              <a:rPr lang="en-US" altLang="zh-CN" sz="2000" dirty="0" err="1"/>
              <a:t>avaliable</a:t>
            </a:r>
            <a:r>
              <a:rPr lang="en-US" altLang="zh-CN" sz="2000" dirty="0"/>
              <a:t>.\n\n");</a:t>
            </a:r>
          </a:p>
          <a:p>
            <a:pPr marL="0" indent="0">
              <a:buNone/>
            </a:pPr>
            <a:r>
              <a:rPr lang="en-US" altLang="zh-CN" sz="2000" dirty="0"/>
              <a:t>	    exit(-1);</a:t>
            </a:r>
          </a:p>
          <a:p>
            <a:pPr marL="0" indent="0">
              <a:buNone/>
            </a:pPr>
            <a:r>
              <a:rPr lang="en-US" altLang="zh-CN" sz="2000" dirty="0"/>
              <a:t>	}…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24538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55875-E3B8-4DDE-B007-FCDF791F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752" y="404813"/>
            <a:ext cx="6696298" cy="720725"/>
          </a:xfrm>
        </p:spPr>
        <p:txBody>
          <a:bodyPr/>
          <a:lstStyle/>
          <a:p>
            <a:r>
              <a:rPr lang="zh-CN" altLang="en-US" b="1" dirty="0"/>
              <a:t>链表基本操作</a:t>
            </a:r>
            <a:r>
              <a:rPr lang="en-US" altLang="zh-CN" b="1" dirty="0"/>
              <a:t>-1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CDF203-C7DB-40B6-9821-29A6CAF57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19213"/>
            <a:ext cx="828092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/*</a:t>
            </a:r>
            <a:r>
              <a:rPr lang="zh-CN" altLang="en-US" dirty="0"/>
              <a:t>插入</a:t>
            </a:r>
            <a:r>
              <a:rPr lang="zh-CN" altLang="en-US" dirty="0" smtClean="0"/>
              <a:t>新结点到</a:t>
            </a:r>
            <a:r>
              <a:rPr lang="zh-CN" altLang="en-US" dirty="0"/>
              <a:t>链表尾部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en-US" altLang="zh-CN" dirty="0"/>
              <a:t>void insertEnd1 (LISTNODEPTR , </a:t>
            </a:r>
            <a:r>
              <a:rPr lang="en-US" altLang="zh-CN" dirty="0" err="1"/>
              <a:t>ElementType</a:t>
            </a:r>
            <a:r>
              <a:rPr lang="en-US" altLang="zh-CN" dirty="0"/>
              <a:t> );</a:t>
            </a:r>
          </a:p>
          <a:p>
            <a:pPr marL="0" indent="0">
              <a:buNone/>
            </a:pPr>
            <a:r>
              <a:rPr lang="en-US" altLang="zh-CN" dirty="0"/>
              <a:t>void insertEnd2 (LISTNODEPTR </a:t>
            </a:r>
            <a:r>
              <a:rPr lang="zh-CN" altLang="en-US" dirty="0"/>
              <a:t>* </a:t>
            </a:r>
            <a:r>
              <a:rPr lang="en-US" altLang="zh-CN" dirty="0"/>
              <a:t>, </a:t>
            </a:r>
            <a:r>
              <a:rPr lang="en-US" altLang="zh-CN" dirty="0" err="1"/>
              <a:t>ElementType</a:t>
            </a:r>
            <a:r>
              <a:rPr lang="en-US" altLang="zh-CN" dirty="0"/>
              <a:t> );</a:t>
            </a:r>
          </a:p>
          <a:p>
            <a:pPr marL="0" indent="0">
              <a:buNone/>
            </a:pPr>
            <a:r>
              <a:rPr lang="en-US" altLang="zh-CN" dirty="0"/>
              <a:t>/*</a:t>
            </a:r>
            <a:r>
              <a:rPr lang="zh-CN" altLang="en-US" dirty="0"/>
              <a:t>插入</a:t>
            </a:r>
            <a:r>
              <a:rPr lang="zh-CN" altLang="en-US" dirty="0" smtClean="0"/>
              <a:t>新结点到</a:t>
            </a:r>
            <a:r>
              <a:rPr lang="zh-CN" altLang="en-US" dirty="0"/>
              <a:t>链表头部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insertFront</a:t>
            </a:r>
            <a:r>
              <a:rPr lang="en-US" altLang="zh-CN" dirty="0"/>
              <a:t> (LISTNODEPTR , </a:t>
            </a:r>
            <a:r>
              <a:rPr lang="en-US" altLang="zh-CN" dirty="0" err="1"/>
              <a:t>ElementType</a:t>
            </a:r>
            <a:r>
              <a:rPr lang="en-US" altLang="zh-CN" dirty="0"/>
              <a:t> );</a:t>
            </a:r>
          </a:p>
          <a:p>
            <a:pPr marL="0" indent="0">
              <a:buNone/>
            </a:pPr>
            <a:r>
              <a:rPr lang="en-US" altLang="zh-CN" dirty="0"/>
              <a:t>/*</a:t>
            </a:r>
            <a:r>
              <a:rPr lang="zh-CN" altLang="en-US" dirty="0"/>
              <a:t>插入</a:t>
            </a:r>
            <a:r>
              <a:rPr lang="zh-CN" altLang="en-US" dirty="0" smtClean="0"/>
              <a:t>新结点到</a:t>
            </a:r>
            <a:r>
              <a:rPr lang="zh-CN" altLang="en-US" dirty="0"/>
              <a:t>有序链表适当位置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insertOrder</a:t>
            </a:r>
            <a:r>
              <a:rPr lang="en-US" altLang="zh-CN" dirty="0"/>
              <a:t> (LISTNODEPTR , </a:t>
            </a:r>
            <a:r>
              <a:rPr lang="en-US" altLang="zh-CN" dirty="0" err="1"/>
              <a:t>ElementType</a:t>
            </a:r>
            <a:r>
              <a:rPr lang="en-US" altLang="zh-CN" dirty="0"/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26978960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8</a:t>
            </a:fld>
            <a:endParaRPr lang="en-US" altLang="zh-CN" sz="1400"/>
          </a:p>
        </p:txBody>
      </p:sp>
      <p:grpSp>
        <p:nvGrpSpPr>
          <p:cNvPr id="159748" name="Group 4">
            <a:extLst>
              <a:ext uri="{FF2B5EF4-FFF2-40B4-BE49-F238E27FC236}">
                <a16:creationId xmlns:a16="http://schemas.microsoft.com/office/drawing/2014/main" id="{F4A49444-3292-4BC0-8109-CB7082AE2D17}"/>
              </a:ext>
            </a:extLst>
          </p:cNvPr>
          <p:cNvGrpSpPr>
            <a:grpSpLocks/>
          </p:cNvGrpSpPr>
          <p:nvPr/>
        </p:nvGrpSpPr>
        <p:grpSpPr bwMode="auto">
          <a:xfrm>
            <a:off x="1263650" y="2144713"/>
            <a:ext cx="990600" cy="466725"/>
            <a:chOff x="624" y="2544"/>
            <a:chExt cx="624" cy="294"/>
          </a:xfrm>
        </p:grpSpPr>
        <p:sp>
          <p:nvSpPr>
            <p:cNvPr id="22584" name="Text Box 5">
              <a:extLst>
                <a:ext uri="{FF2B5EF4-FFF2-40B4-BE49-F238E27FC236}">
                  <a16:creationId xmlns:a16="http://schemas.microsoft.com/office/drawing/2014/main" id="{366EADF4-597B-4170-B772-148A4DA31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/>
                <a:t>     </a:t>
              </a:r>
            </a:p>
          </p:txBody>
        </p:sp>
        <p:sp>
          <p:nvSpPr>
            <p:cNvPr id="22585" name="Line 6">
              <a:extLst>
                <a:ext uri="{FF2B5EF4-FFF2-40B4-BE49-F238E27FC236}">
                  <a16:creationId xmlns:a16="http://schemas.microsoft.com/office/drawing/2014/main" id="{19D6E01A-059F-4F52-A199-A9DA5F7E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760" name="Group 16">
            <a:extLst>
              <a:ext uri="{FF2B5EF4-FFF2-40B4-BE49-F238E27FC236}">
                <a16:creationId xmlns:a16="http://schemas.microsoft.com/office/drawing/2014/main" id="{59CDEB69-8366-49B5-96F5-43B745CEFA84}"/>
              </a:ext>
            </a:extLst>
          </p:cNvPr>
          <p:cNvGrpSpPr>
            <a:grpSpLocks/>
          </p:cNvGrpSpPr>
          <p:nvPr/>
        </p:nvGrpSpPr>
        <p:grpSpPr bwMode="auto">
          <a:xfrm>
            <a:off x="5191357" y="2281715"/>
            <a:ext cx="838200" cy="76200"/>
            <a:chOff x="1104" y="2667"/>
            <a:chExt cx="528" cy="48"/>
          </a:xfrm>
        </p:grpSpPr>
        <p:sp>
          <p:nvSpPr>
            <p:cNvPr id="22580" name="Line 17">
              <a:extLst>
                <a:ext uri="{FF2B5EF4-FFF2-40B4-BE49-F238E27FC236}">
                  <a16:creationId xmlns:a16="http://schemas.microsoft.com/office/drawing/2014/main" id="{FB68CA2C-1EC7-4593-9D06-869E3021F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2581" name="Oval 18">
              <a:extLst>
                <a:ext uri="{FF2B5EF4-FFF2-40B4-BE49-F238E27FC236}">
                  <a16:creationId xmlns:a16="http://schemas.microsoft.com/office/drawing/2014/main" id="{1EB611B3-0A40-4041-BB29-E1AA8B761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67"/>
              <a:ext cx="48" cy="4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59765" name="Group 21">
            <a:extLst>
              <a:ext uri="{FF2B5EF4-FFF2-40B4-BE49-F238E27FC236}">
                <a16:creationId xmlns:a16="http://schemas.microsoft.com/office/drawing/2014/main" id="{D2FDBA3E-4884-4B77-B302-8D4FE12BF4AD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773113"/>
            <a:ext cx="1219200" cy="1371600"/>
            <a:chOff x="432" y="1536"/>
            <a:chExt cx="768" cy="864"/>
          </a:xfrm>
        </p:grpSpPr>
        <p:sp>
          <p:nvSpPr>
            <p:cNvPr id="22575" name="Text Box 22">
              <a:extLst>
                <a:ext uri="{FF2B5EF4-FFF2-40B4-BE49-F238E27FC236}">
                  <a16:creationId xmlns:a16="http://schemas.microsoft.com/office/drawing/2014/main" id="{667E8DC9-993E-4F71-8696-4276A4CF1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24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76" name="Text Box 23">
              <a:extLst>
                <a:ext uri="{FF2B5EF4-FFF2-40B4-BE49-F238E27FC236}">
                  <a16:creationId xmlns:a16="http://schemas.microsoft.com/office/drawing/2014/main" id="{7240E8A0-7097-4986-B686-AE11B6DC0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536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/>
                <a:t>headPtr</a:t>
              </a:r>
            </a:p>
          </p:txBody>
        </p:sp>
        <p:grpSp>
          <p:nvGrpSpPr>
            <p:cNvPr id="22577" name="Group 24">
              <a:extLst>
                <a:ext uri="{FF2B5EF4-FFF2-40B4-BE49-F238E27FC236}">
                  <a16:creationId xmlns:a16="http://schemas.microsoft.com/office/drawing/2014/main" id="{8FB8B37C-275D-42D2-A6D5-C3272CAC7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968"/>
              <a:ext cx="48" cy="432"/>
              <a:chOff x="768" y="1968"/>
              <a:chExt cx="48" cy="432"/>
            </a:xfrm>
          </p:grpSpPr>
          <p:sp>
            <p:nvSpPr>
              <p:cNvPr id="22578" name="Oval 25">
                <a:extLst>
                  <a:ext uri="{FF2B5EF4-FFF2-40B4-BE49-F238E27FC236}">
                    <a16:creationId xmlns:a16="http://schemas.microsoft.com/office/drawing/2014/main" id="{CF1D484F-80F9-405D-B838-792A52725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9" name="Line 26">
                <a:extLst>
                  <a:ext uri="{FF2B5EF4-FFF2-40B4-BE49-F238E27FC236}">
                    <a16:creationId xmlns:a16="http://schemas.microsoft.com/office/drawing/2014/main" id="{2935DE0E-AA09-41A0-8150-F88DA4D23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6" y="201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CB9B2A-A931-4CAF-83E3-08416F5FE14E}"/>
              </a:ext>
            </a:extLst>
          </p:cNvPr>
          <p:cNvGrpSpPr/>
          <p:nvPr/>
        </p:nvGrpSpPr>
        <p:grpSpPr>
          <a:xfrm>
            <a:off x="5652120" y="764704"/>
            <a:ext cx="1508125" cy="1835150"/>
            <a:chOff x="5652120" y="764704"/>
            <a:chExt cx="1508125" cy="1835150"/>
          </a:xfrm>
        </p:grpSpPr>
        <p:grpSp>
          <p:nvGrpSpPr>
            <p:cNvPr id="159772" name="Group 28">
              <a:extLst>
                <a:ext uri="{FF2B5EF4-FFF2-40B4-BE49-F238E27FC236}">
                  <a16:creationId xmlns:a16="http://schemas.microsoft.com/office/drawing/2014/main" id="{B07E1991-71DD-4CF5-A813-7426E56F5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764704"/>
              <a:ext cx="1508125" cy="1371600"/>
              <a:chOff x="1794" y="1162"/>
              <a:chExt cx="950" cy="864"/>
            </a:xfrm>
          </p:grpSpPr>
          <p:sp>
            <p:nvSpPr>
              <p:cNvPr id="22570" name="Text Box 29">
                <a:extLst>
                  <a:ext uri="{FF2B5EF4-FFF2-40B4-BE49-F238E27FC236}">
                    <a16:creationId xmlns:a16="http://schemas.microsoft.com/office/drawing/2014/main" id="{1917540F-C790-47BA-ACB6-A1A3BDF12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6" y="1450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b="0"/>
              </a:p>
            </p:txBody>
          </p:sp>
          <p:sp>
            <p:nvSpPr>
              <p:cNvPr id="22571" name="Text Box 30">
                <a:extLst>
                  <a:ext uri="{FF2B5EF4-FFF2-40B4-BE49-F238E27FC236}">
                    <a16:creationId xmlns:a16="http://schemas.microsoft.com/office/drawing/2014/main" id="{88583F5F-AAEA-440E-ADCD-41E2A92609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162"/>
                <a:ext cx="95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dirty="0" err="1"/>
                  <a:t>newPtr</a:t>
                </a:r>
                <a:endParaRPr lang="en-US" altLang="zh-CN" b="0" dirty="0"/>
              </a:p>
            </p:txBody>
          </p:sp>
          <p:grpSp>
            <p:nvGrpSpPr>
              <p:cNvPr id="22572" name="Group 31">
                <a:extLst>
                  <a:ext uri="{FF2B5EF4-FFF2-40B4-BE49-F238E27FC236}">
                    <a16:creationId xmlns:a16="http://schemas.microsoft.com/office/drawing/2014/main" id="{298EEBCA-FC65-4FF8-96D0-23A18A2445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0" y="1594"/>
                <a:ext cx="48" cy="432"/>
                <a:chOff x="768" y="1968"/>
                <a:chExt cx="48" cy="432"/>
              </a:xfrm>
            </p:grpSpPr>
            <p:sp>
              <p:nvSpPr>
                <p:cNvPr id="22573" name="Oval 32">
                  <a:extLst>
                    <a:ext uri="{FF2B5EF4-FFF2-40B4-BE49-F238E27FC236}">
                      <a16:creationId xmlns:a16="http://schemas.microsoft.com/office/drawing/2014/main" id="{22E31F6D-82D8-4E62-A313-F4C482DC5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968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2574" name="Line 33">
                  <a:extLst>
                    <a:ext uri="{FF2B5EF4-FFF2-40B4-BE49-F238E27FC236}">
                      <a16:creationId xmlns:a16="http://schemas.microsoft.com/office/drawing/2014/main" id="{B1487974-0E43-4181-98A2-B58BF1E1CC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6" y="2016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9778" name="Group 34">
              <a:extLst>
                <a:ext uri="{FF2B5EF4-FFF2-40B4-BE49-F238E27FC236}">
                  <a16:creationId xmlns:a16="http://schemas.microsoft.com/office/drawing/2014/main" id="{5A1E6221-EB0C-487E-AC92-0E10DB6985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9307" y="2133129"/>
              <a:ext cx="990600" cy="466725"/>
              <a:chOff x="624" y="2544"/>
              <a:chExt cx="624" cy="294"/>
            </a:xfrm>
          </p:grpSpPr>
          <p:sp>
            <p:nvSpPr>
              <p:cNvPr id="22568" name="Text Box 35">
                <a:extLst>
                  <a:ext uri="{FF2B5EF4-FFF2-40B4-BE49-F238E27FC236}">
                    <a16:creationId xmlns:a16="http://schemas.microsoft.com/office/drawing/2014/main" id="{56929801-F004-43AE-806A-696D4912D3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544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/>
                  <a:t>37     </a:t>
                </a:r>
              </a:p>
            </p:txBody>
          </p:sp>
          <p:sp>
            <p:nvSpPr>
              <p:cNvPr id="22569" name="Line 36">
                <a:extLst>
                  <a:ext uri="{FF2B5EF4-FFF2-40B4-BE49-F238E27FC236}">
                    <a16:creationId xmlns:a16="http://schemas.microsoft.com/office/drawing/2014/main" id="{C67EF2F2-4CB0-449D-82E0-20FF0AB4A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4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9824" name="Group 80">
            <a:extLst>
              <a:ext uri="{FF2B5EF4-FFF2-40B4-BE49-F238E27FC236}">
                <a16:creationId xmlns:a16="http://schemas.microsoft.com/office/drawing/2014/main" id="{5A1DA3D5-4038-44D3-BBDA-62839161134F}"/>
              </a:ext>
            </a:extLst>
          </p:cNvPr>
          <p:cNvGrpSpPr>
            <a:grpSpLocks/>
          </p:cNvGrpSpPr>
          <p:nvPr/>
        </p:nvGrpSpPr>
        <p:grpSpPr bwMode="auto">
          <a:xfrm>
            <a:off x="2942741" y="782799"/>
            <a:ext cx="1897063" cy="1387475"/>
            <a:chOff x="2181" y="518"/>
            <a:chExt cx="1195" cy="874"/>
          </a:xfrm>
        </p:grpSpPr>
        <p:sp>
          <p:nvSpPr>
            <p:cNvPr id="22564" name="Text Box 46">
              <a:extLst>
                <a:ext uri="{FF2B5EF4-FFF2-40B4-BE49-F238E27FC236}">
                  <a16:creationId xmlns:a16="http://schemas.microsoft.com/office/drawing/2014/main" id="{4CF4E6A3-F74B-4BED-B4CB-49D18F1AF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" y="76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65" name="Text Box 47">
              <a:extLst>
                <a:ext uri="{FF2B5EF4-FFF2-40B4-BE49-F238E27FC236}">
                  <a16:creationId xmlns:a16="http://schemas.microsoft.com/office/drawing/2014/main" id="{9FCC89BE-BD16-4AE0-A374-2754805CF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1" y="518"/>
              <a:ext cx="11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/>
                <a:t>   </a:t>
              </a:r>
              <a:r>
                <a:rPr lang="en-US" altLang="zh-CN" b="0" dirty="0" err="1"/>
                <a:t>previousPtr</a:t>
              </a:r>
              <a:endParaRPr lang="en-US" altLang="zh-CN" b="0" dirty="0"/>
            </a:p>
          </p:txBody>
        </p:sp>
        <p:sp>
          <p:nvSpPr>
            <p:cNvPr id="22566" name="Oval 49">
              <a:extLst>
                <a:ext uri="{FF2B5EF4-FFF2-40B4-BE49-F238E27FC236}">
                  <a16:creationId xmlns:a16="http://schemas.microsoft.com/office/drawing/2014/main" id="{8FD8DFDE-0A74-463D-969A-AFB235872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9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9795" name="Line 51">
              <a:extLst>
                <a:ext uri="{FF2B5EF4-FFF2-40B4-BE49-F238E27FC236}">
                  <a16:creationId xmlns:a16="http://schemas.microsoft.com/office/drawing/2014/main" id="{6CBF55F9-EFC6-4F59-B70C-C972D714A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79" y="935"/>
              <a:ext cx="309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35" y="3084675"/>
            <a:ext cx="8351837" cy="2123658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/>
              <a:t>新增</a:t>
            </a:r>
            <a:r>
              <a:rPr lang="zh-CN" altLang="en-US" dirty="0" smtClean="0"/>
              <a:t>的结点需要</a:t>
            </a:r>
            <a:r>
              <a:rPr lang="zh-CN" altLang="en-US" dirty="0"/>
              <a:t>追加到链表</a:t>
            </a:r>
            <a:r>
              <a:rPr lang="zh-CN" altLang="en-US" dirty="0" smtClean="0"/>
              <a:t>尾结点</a:t>
            </a:r>
            <a:r>
              <a:rPr lang="zh-CN" altLang="en-US" dirty="0"/>
              <a:t>后面；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dirty="0"/>
              <a:t>(1)</a:t>
            </a:r>
            <a:r>
              <a:rPr lang="zh-CN" altLang="en-US" dirty="0"/>
              <a:t>遍历链表，直到</a:t>
            </a:r>
            <a:r>
              <a:rPr lang="zh-CN" altLang="en-US" dirty="0" smtClean="0"/>
              <a:t>尾结点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spcBef>
                <a:spcPct val="50000"/>
              </a:spcBef>
              <a:defRPr/>
            </a:pPr>
            <a:r>
              <a:rPr lang="zh-CN" altLang="en-US" dirty="0"/>
              <a:t>链表</a:t>
            </a:r>
            <a:r>
              <a:rPr lang="zh-CN" altLang="en-US" dirty="0" smtClean="0"/>
              <a:t>尾结点的</a:t>
            </a:r>
            <a:r>
              <a:rPr lang="zh-CN" altLang="en-US" dirty="0"/>
              <a:t>特征：</a:t>
            </a:r>
            <a:r>
              <a:rPr lang="en-US" altLang="zh-CN" dirty="0" err="1"/>
              <a:t>currentPtr</a:t>
            </a:r>
            <a:r>
              <a:rPr lang="en-US" altLang="zh-CN" dirty="0"/>
              <a:t> == NULL</a:t>
            </a:r>
            <a:endParaRPr lang="zh-CN" altLang="en-US" dirty="0"/>
          </a:p>
          <a:p>
            <a:pPr>
              <a:spcBef>
                <a:spcPct val="50000"/>
              </a:spcBef>
              <a:defRPr/>
            </a:pPr>
            <a:r>
              <a:rPr lang="en-US" altLang="zh-CN" dirty="0"/>
              <a:t>(2)</a:t>
            </a:r>
            <a:r>
              <a:rPr lang="zh-CN" altLang="en-US" dirty="0"/>
              <a:t>链接</a:t>
            </a:r>
            <a:r>
              <a:rPr lang="zh-CN" altLang="en-US" dirty="0" smtClean="0"/>
              <a:t>尾结点和新结点</a:t>
            </a:r>
            <a:r>
              <a:rPr lang="zh-CN" altLang="en-US" dirty="0"/>
              <a:t>：</a:t>
            </a:r>
            <a:r>
              <a:rPr lang="en-US" altLang="zh-CN" dirty="0" err="1"/>
              <a:t>previousPtr</a:t>
            </a:r>
            <a:r>
              <a:rPr lang="en-US" altLang="zh-CN" dirty="0"/>
              <a:t>-&gt;</a:t>
            </a:r>
            <a:r>
              <a:rPr lang="en-US" altLang="zh-CN" dirty="0" err="1"/>
              <a:t>nextPtr</a:t>
            </a:r>
            <a:r>
              <a:rPr lang="en-US" altLang="zh-CN" dirty="0"/>
              <a:t>=</a:t>
            </a:r>
            <a:r>
              <a:rPr lang="en-US" altLang="zh-CN" dirty="0" err="1"/>
              <a:t>newPtr</a:t>
            </a:r>
            <a:r>
              <a:rPr lang="en-US" altLang="zh-CN" dirty="0"/>
              <a:t>;</a:t>
            </a:r>
          </a:p>
        </p:txBody>
      </p:sp>
      <p:grpSp>
        <p:nvGrpSpPr>
          <p:cNvPr id="159818" name="Group 74">
            <a:extLst>
              <a:ext uri="{FF2B5EF4-FFF2-40B4-BE49-F238E27FC236}">
                <a16:creationId xmlns:a16="http://schemas.microsoft.com/office/drawing/2014/main" id="{979648D6-90A2-4EAD-B126-839C018F2D16}"/>
              </a:ext>
            </a:extLst>
          </p:cNvPr>
          <p:cNvGrpSpPr>
            <a:grpSpLocks/>
          </p:cNvGrpSpPr>
          <p:nvPr/>
        </p:nvGrpSpPr>
        <p:grpSpPr bwMode="auto">
          <a:xfrm>
            <a:off x="4411101" y="1132304"/>
            <a:ext cx="1508125" cy="1224368"/>
            <a:chOff x="1655" y="1162"/>
            <a:chExt cx="950" cy="956"/>
          </a:xfrm>
        </p:grpSpPr>
        <p:sp>
          <p:nvSpPr>
            <p:cNvPr id="22543" name="Text Box 75">
              <a:extLst>
                <a:ext uri="{FF2B5EF4-FFF2-40B4-BE49-F238E27FC236}">
                  <a16:creationId xmlns:a16="http://schemas.microsoft.com/office/drawing/2014/main" id="{FC22A2F9-54E4-427F-99D7-C870E4E24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6" y="145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44" name="Text Box 76">
              <a:extLst>
                <a:ext uri="{FF2B5EF4-FFF2-40B4-BE49-F238E27FC236}">
                  <a16:creationId xmlns:a16="http://schemas.microsoft.com/office/drawing/2014/main" id="{523FC504-851D-4E5E-8CA7-448A253A0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162"/>
              <a:ext cx="9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 err="1"/>
                <a:t>currentPtr</a:t>
              </a:r>
              <a:endParaRPr lang="en-US" altLang="zh-CN" b="0" dirty="0"/>
            </a:p>
          </p:txBody>
        </p:sp>
        <p:grpSp>
          <p:nvGrpSpPr>
            <p:cNvPr id="22545" name="Group 77">
              <a:extLst>
                <a:ext uri="{FF2B5EF4-FFF2-40B4-BE49-F238E27FC236}">
                  <a16:creationId xmlns:a16="http://schemas.microsoft.com/office/drawing/2014/main" id="{9E0BD45A-18CB-44FB-8C46-61E0EE545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8" y="1594"/>
              <a:ext cx="180" cy="524"/>
              <a:chOff x="636" y="1968"/>
              <a:chExt cx="180" cy="524"/>
            </a:xfrm>
          </p:grpSpPr>
          <p:sp>
            <p:nvSpPr>
              <p:cNvPr id="22546" name="Oval 78">
                <a:extLst>
                  <a:ext uri="{FF2B5EF4-FFF2-40B4-BE49-F238E27FC236}">
                    <a16:creationId xmlns:a16="http://schemas.microsoft.com/office/drawing/2014/main" id="{9A659170-9588-43EB-9DF8-1D47D9DDC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47" name="Line 79">
                <a:extLst>
                  <a:ext uri="{FF2B5EF4-FFF2-40B4-BE49-F238E27FC236}">
                    <a16:creationId xmlns:a16="http://schemas.microsoft.com/office/drawing/2014/main" id="{124A9B90-B84D-4C07-8003-1B641EF64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6" y="2016"/>
                <a:ext cx="150" cy="4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－尾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3AE86DD-6288-4DE1-B318-D5CA4902E777}"/>
              </a:ext>
            </a:extLst>
          </p:cNvPr>
          <p:cNvGrpSpPr/>
          <p:nvPr/>
        </p:nvGrpSpPr>
        <p:grpSpPr>
          <a:xfrm>
            <a:off x="1955800" y="2141538"/>
            <a:ext cx="3340100" cy="469900"/>
            <a:chOff x="1955800" y="2141538"/>
            <a:chExt cx="3340100" cy="469900"/>
          </a:xfrm>
        </p:grpSpPr>
        <p:grpSp>
          <p:nvGrpSpPr>
            <p:cNvPr id="159813" name="Group 69">
              <a:extLst>
                <a:ext uri="{FF2B5EF4-FFF2-40B4-BE49-F238E27FC236}">
                  <a16:creationId xmlns:a16="http://schemas.microsoft.com/office/drawing/2014/main" id="{62A6C776-B96F-4495-8C31-19241B34C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5800" y="2141538"/>
              <a:ext cx="3340100" cy="469900"/>
              <a:chOff x="930" y="1298"/>
              <a:chExt cx="2104" cy="296"/>
            </a:xfrm>
          </p:grpSpPr>
          <p:grpSp>
            <p:nvGrpSpPr>
              <p:cNvPr id="22550" name="Group 54">
                <a:extLst>
                  <a:ext uri="{FF2B5EF4-FFF2-40B4-BE49-F238E27FC236}">
                    <a16:creationId xmlns:a16="http://schemas.microsoft.com/office/drawing/2014/main" id="{D66DE6B6-ADEC-41D4-BAC1-E4C94AC171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1300"/>
                <a:ext cx="1152" cy="294"/>
                <a:chOff x="1536" y="1706"/>
                <a:chExt cx="1152" cy="294"/>
              </a:xfrm>
            </p:grpSpPr>
            <p:grpSp>
              <p:nvGrpSpPr>
                <p:cNvPr id="22558" name="Group 7">
                  <a:extLst>
                    <a:ext uri="{FF2B5EF4-FFF2-40B4-BE49-F238E27FC236}">
                      <a16:creationId xmlns:a16="http://schemas.microsoft.com/office/drawing/2014/main" id="{531B2F2F-D6FB-447D-96A0-6C71E747C9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706"/>
                  <a:ext cx="624" cy="294"/>
                  <a:chOff x="624" y="2544"/>
                  <a:chExt cx="624" cy="294"/>
                </a:xfrm>
              </p:grpSpPr>
              <p:sp>
                <p:nvSpPr>
                  <p:cNvPr id="22562" name="Text Box 8">
                    <a:extLst>
                      <a:ext uri="{FF2B5EF4-FFF2-40B4-BE49-F238E27FC236}">
                        <a16:creationId xmlns:a16="http://schemas.microsoft.com/office/drawing/2014/main" id="{8C2436C6-E40F-4337-812B-DF04F6F13CB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4" y="2544"/>
                    <a:ext cx="62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0" dirty="0"/>
                      <a:t>17  </a:t>
                    </a:r>
                  </a:p>
                </p:txBody>
              </p:sp>
              <p:sp>
                <p:nvSpPr>
                  <p:cNvPr id="22563" name="Line 9">
                    <a:extLst>
                      <a:ext uri="{FF2B5EF4-FFF2-40B4-BE49-F238E27FC236}">
                        <a16:creationId xmlns:a16="http://schemas.microsoft.com/office/drawing/2014/main" id="{40801355-DB8A-486A-97FA-A6A50B31C2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2544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559" name="Group 13">
                  <a:extLst>
                    <a:ext uri="{FF2B5EF4-FFF2-40B4-BE49-F238E27FC236}">
                      <a16:creationId xmlns:a16="http://schemas.microsoft.com/office/drawing/2014/main" id="{7842AB5B-3E3B-4E9E-ABFF-EF964C870D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1829"/>
                  <a:ext cx="528" cy="48"/>
                  <a:chOff x="1104" y="2667"/>
                  <a:chExt cx="528" cy="48"/>
                </a:xfrm>
              </p:grpSpPr>
              <p:sp>
                <p:nvSpPr>
                  <p:cNvPr id="22560" name="Line 14">
                    <a:extLst>
                      <a:ext uri="{FF2B5EF4-FFF2-40B4-BE49-F238E27FC236}">
                        <a16:creationId xmlns:a16="http://schemas.microsoft.com/office/drawing/2014/main" id="{66FEC860-505A-435A-93F2-78FB01D36A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688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61" name="Oval 15">
                    <a:extLst>
                      <a:ext uri="{FF2B5EF4-FFF2-40B4-BE49-F238E27FC236}">
                        <a16:creationId xmlns:a16="http://schemas.microsoft.com/office/drawing/2014/main" id="{E5BEA220-6A04-4396-B801-EAF0694BC4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667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22551" name="Group 62">
                <a:extLst>
                  <a:ext uri="{FF2B5EF4-FFF2-40B4-BE49-F238E27FC236}">
                    <a16:creationId xmlns:a16="http://schemas.microsoft.com/office/drawing/2014/main" id="{91457D32-2C5E-44B6-B30B-95600A13E9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2" y="1298"/>
                <a:ext cx="1152" cy="294"/>
                <a:chOff x="1536" y="1706"/>
                <a:chExt cx="1152" cy="294"/>
              </a:xfrm>
            </p:grpSpPr>
            <p:grpSp>
              <p:nvGrpSpPr>
                <p:cNvPr id="22552" name="Group 63">
                  <a:extLst>
                    <a:ext uri="{FF2B5EF4-FFF2-40B4-BE49-F238E27FC236}">
                      <a16:creationId xmlns:a16="http://schemas.microsoft.com/office/drawing/2014/main" id="{0F4BF254-504A-4CA7-A8BA-3DDE02F01E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706"/>
                  <a:ext cx="624" cy="294"/>
                  <a:chOff x="624" y="2544"/>
                  <a:chExt cx="624" cy="294"/>
                </a:xfrm>
              </p:grpSpPr>
              <p:sp>
                <p:nvSpPr>
                  <p:cNvPr id="22556" name="Text Box 64">
                    <a:extLst>
                      <a:ext uri="{FF2B5EF4-FFF2-40B4-BE49-F238E27FC236}">
                        <a16:creationId xmlns:a16="http://schemas.microsoft.com/office/drawing/2014/main" id="{F0E8D1E2-C7D0-4418-AEB6-862B562DA0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4" y="2544"/>
                    <a:ext cx="62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0" dirty="0"/>
                      <a:t>19  </a:t>
                    </a:r>
                  </a:p>
                </p:txBody>
              </p:sp>
              <p:sp>
                <p:nvSpPr>
                  <p:cNvPr id="22557" name="Line 65">
                    <a:extLst>
                      <a:ext uri="{FF2B5EF4-FFF2-40B4-BE49-F238E27FC236}">
                        <a16:creationId xmlns:a16="http://schemas.microsoft.com/office/drawing/2014/main" id="{1B5CBFD3-A95C-4870-9F58-EFB1F4048A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2544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553" name="Group 66">
                  <a:extLst>
                    <a:ext uri="{FF2B5EF4-FFF2-40B4-BE49-F238E27FC236}">
                      <a16:creationId xmlns:a16="http://schemas.microsoft.com/office/drawing/2014/main" id="{8AB80D2E-21B4-4FA8-801D-7A613DDBFB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1829"/>
                  <a:ext cx="528" cy="48"/>
                  <a:chOff x="1104" y="2667"/>
                  <a:chExt cx="528" cy="48"/>
                </a:xfrm>
              </p:grpSpPr>
              <p:sp>
                <p:nvSpPr>
                  <p:cNvPr id="22554" name="Line 67">
                    <a:extLst>
                      <a:ext uri="{FF2B5EF4-FFF2-40B4-BE49-F238E27FC236}">
                        <a16:creationId xmlns:a16="http://schemas.microsoft.com/office/drawing/2014/main" id="{9773F3D1-D023-40B3-A8D0-146090C6B1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688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55" name="Oval 68">
                    <a:extLst>
                      <a:ext uri="{FF2B5EF4-FFF2-40B4-BE49-F238E27FC236}">
                        <a16:creationId xmlns:a16="http://schemas.microsoft.com/office/drawing/2014/main" id="{E903949A-343B-424E-BD19-5888FB0972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667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</p:grp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8847978-0CE6-4FCD-81B5-A002E866E07C}"/>
                </a:ext>
              </a:extLst>
            </p:cNvPr>
            <p:cNvCxnSpPr>
              <a:stCxn id="22556" idx="0"/>
            </p:cNvCxnSpPr>
            <p:nvPr/>
          </p:nvCxnSpPr>
          <p:spPr>
            <a:xfrm>
              <a:off x="4800600" y="2141538"/>
              <a:ext cx="495300" cy="4487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3">
            <a:extLst>
              <a:ext uri="{FF2B5EF4-FFF2-40B4-BE49-F238E27FC236}">
                <a16:creationId xmlns:a16="http://schemas.microsoft.com/office/drawing/2014/main" id="{9C940483-F973-4DFB-A139-F781117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－尾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DB0CD740-9251-4001-90A0-E336B8E2D6F3}"/>
              </a:ext>
            </a:extLst>
          </p:cNvPr>
          <p:cNvSpPr txBox="1">
            <a:spLocks/>
          </p:cNvSpPr>
          <p:nvPr/>
        </p:nvSpPr>
        <p:spPr>
          <a:xfrm>
            <a:off x="539552" y="1196752"/>
            <a:ext cx="7772400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/*</a:t>
            </a:r>
            <a:r>
              <a:rPr lang="zh-CN" altLang="en-US" sz="2000" b="0" dirty="0"/>
              <a:t>把一个新值插入到链表尾部*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void insertEnd1 (LISTNODEPTR </a:t>
            </a:r>
            <a:r>
              <a:rPr lang="en-US" altLang="zh-CN" sz="2000" b="0" dirty="0" err="1"/>
              <a:t>sPtr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ElementType</a:t>
            </a:r>
            <a:r>
              <a:rPr lang="en-US" altLang="zh-CN" sz="2000" b="0" dirty="0"/>
              <a:t> value){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LISTNODEPTR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None/>
            </a:pPr>
            <a:r>
              <a:rPr lang="en-US" altLang="zh-CN" sz="2000" b="0" dirty="0"/>
              <a:t>	/*</a:t>
            </a:r>
            <a:r>
              <a:rPr lang="zh-CN" altLang="en-US" sz="2000" b="0" dirty="0"/>
              <a:t>动态分配</a:t>
            </a:r>
            <a:r>
              <a:rPr lang="zh-CN" altLang="en-US" sz="2000" b="0" dirty="0" smtClean="0"/>
              <a:t>新结点，</a:t>
            </a:r>
            <a:r>
              <a:rPr lang="zh-CN" altLang="en-US" sz="2000" b="0" dirty="0"/>
              <a:t>将新值存入</a:t>
            </a:r>
            <a:r>
              <a:rPr lang="en-US" altLang="zh-CN" sz="2000" b="0" dirty="0"/>
              <a:t>*/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= malloc(</a:t>
            </a:r>
            <a:r>
              <a:rPr lang="en-US" altLang="zh-CN" sz="2000" b="0" dirty="0" err="1"/>
              <a:t>sizeof</a:t>
            </a:r>
            <a:r>
              <a:rPr lang="en-US" altLang="zh-CN" sz="2000" b="0" dirty="0"/>
              <a:t>(LISTNODE));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if (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!= NULL){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-&gt;data = value;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NULL;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/</a:t>
            </a:r>
            <a:r>
              <a:rPr lang="zh-CN" altLang="en-US" sz="2000" b="0" dirty="0"/>
              <a:t>*找到</a:t>
            </a:r>
            <a:r>
              <a:rPr lang="zh-CN" altLang="en-US" sz="2000" b="0" dirty="0" smtClean="0"/>
              <a:t>尾结点，</a:t>
            </a:r>
            <a:r>
              <a:rPr lang="zh-CN" altLang="en-US" sz="2000" b="0" dirty="0"/>
              <a:t>记为前驱指针</a:t>
            </a:r>
            <a:r>
              <a:rPr lang="en-US" altLang="zh-CN" sz="2000" b="0" dirty="0" err="1"/>
              <a:t>previousPtr</a:t>
            </a:r>
            <a:r>
              <a:rPr lang="zh-CN" altLang="en-US" sz="2000" b="0" dirty="0"/>
              <a:t>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sPtr</a:t>
            </a:r>
            <a:r>
              <a:rPr lang="en-US" altLang="zh-CN" sz="2000" b="0" dirty="0"/>
              <a:t> 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sPtr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while (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!= NULL){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	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	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3">
            <a:extLst>
              <a:ext uri="{FF2B5EF4-FFF2-40B4-BE49-F238E27FC236}">
                <a16:creationId xmlns:a16="http://schemas.microsoft.com/office/drawing/2014/main" id="{9C940483-F973-4DFB-A139-F781117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－尾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DB0CD740-9251-4001-90A0-E336B8E2D6F3}"/>
              </a:ext>
            </a:extLst>
          </p:cNvPr>
          <p:cNvSpPr txBox="1">
            <a:spLocks/>
          </p:cNvSpPr>
          <p:nvPr/>
        </p:nvSpPr>
        <p:spPr>
          <a:xfrm>
            <a:off x="539552" y="1196752"/>
            <a:ext cx="7772400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		/*</a:t>
            </a:r>
            <a:r>
              <a:rPr lang="zh-CN" altLang="en-US" sz="2000" b="0" dirty="0"/>
              <a:t>在</a:t>
            </a:r>
            <a:r>
              <a:rPr lang="zh-CN" altLang="en-US" sz="2000" b="0" dirty="0" smtClean="0"/>
              <a:t>尾结点后</a:t>
            </a:r>
            <a:r>
              <a:rPr lang="zh-CN" altLang="en-US" sz="2000" b="0" dirty="0"/>
              <a:t>链接</a:t>
            </a:r>
            <a:r>
              <a:rPr lang="zh-CN" altLang="en-US" sz="2000" b="0" dirty="0" smtClean="0"/>
              <a:t>新结点</a:t>
            </a:r>
            <a:r>
              <a:rPr lang="en-US" altLang="zh-CN" sz="2000" b="0" dirty="0"/>
              <a:t>*/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}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else 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    </a:t>
            </a:r>
            <a:r>
              <a:rPr lang="en-US" altLang="zh-CN" sz="2000" b="0" dirty="0" err="1"/>
              <a:t>printf</a:t>
            </a:r>
            <a:r>
              <a:rPr lang="en-US" altLang="zh-CN" sz="2000" b="0" dirty="0"/>
              <a:t>("Not inserted. No memory </a:t>
            </a:r>
            <a:r>
              <a:rPr lang="en-US" altLang="zh-CN" sz="2000" b="0" dirty="0" err="1"/>
              <a:t>avaliable</a:t>
            </a:r>
            <a:r>
              <a:rPr lang="en-US" altLang="zh-CN" sz="2000" b="0" dirty="0"/>
              <a:t>.\n");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}</a:t>
            </a:r>
          </a:p>
          <a:p>
            <a:pPr marL="0" indent="0">
              <a:buFontTx/>
              <a:buNone/>
            </a:pP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44069876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11</a:t>
            </a:fld>
            <a:endParaRPr lang="en-US" altLang="zh-CN" sz="1400"/>
          </a:p>
        </p:txBody>
      </p:sp>
      <p:grpSp>
        <p:nvGrpSpPr>
          <p:cNvPr id="159748" name="Group 4">
            <a:extLst>
              <a:ext uri="{FF2B5EF4-FFF2-40B4-BE49-F238E27FC236}">
                <a16:creationId xmlns:a16="http://schemas.microsoft.com/office/drawing/2014/main" id="{F4A49444-3292-4BC0-8109-CB7082AE2D17}"/>
              </a:ext>
            </a:extLst>
          </p:cNvPr>
          <p:cNvGrpSpPr>
            <a:grpSpLocks/>
          </p:cNvGrpSpPr>
          <p:nvPr/>
        </p:nvGrpSpPr>
        <p:grpSpPr bwMode="auto">
          <a:xfrm>
            <a:off x="1263650" y="2144713"/>
            <a:ext cx="990600" cy="466725"/>
            <a:chOff x="624" y="2544"/>
            <a:chExt cx="624" cy="294"/>
          </a:xfrm>
        </p:grpSpPr>
        <p:sp>
          <p:nvSpPr>
            <p:cNvPr id="22584" name="Text Box 5">
              <a:extLst>
                <a:ext uri="{FF2B5EF4-FFF2-40B4-BE49-F238E27FC236}">
                  <a16:creationId xmlns:a16="http://schemas.microsoft.com/office/drawing/2014/main" id="{366EADF4-597B-4170-B772-148A4DA31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/>
                <a:t>     </a:t>
              </a:r>
            </a:p>
          </p:txBody>
        </p:sp>
        <p:sp>
          <p:nvSpPr>
            <p:cNvPr id="22585" name="Line 6">
              <a:extLst>
                <a:ext uri="{FF2B5EF4-FFF2-40B4-BE49-F238E27FC236}">
                  <a16:creationId xmlns:a16="http://schemas.microsoft.com/office/drawing/2014/main" id="{19D6E01A-059F-4F52-A199-A9DA5F7E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760" name="Group 16">
            <a:extLst>
              <a:ext uri="{FF2B5EF4-FFF2-40B4-BE49-F238E27FC236}">
                <a16:creationId xmlns:a16="http://schemas.microsoft.com/office/drawing/2014/main" id="{59CDEB69-8366-49B5-96F5-43B745CEFA84}"/>
              </a:ext>
            </a:extLst>
          </p:cNvPr>
          <p:cNvGrpSpPr>
            <a:grpSpLocks/>
          </p:cNvGrpSpPr>
          <p:nvPr/>
        </p:nvGrpSpPr>
        <p:grpSpPr bwMode="auto">
          <a:xfrm>
            <a:off x="5122863" y="2344738"/>
            <a:ext cx="838200" cy="76200"/>
            <a:chOff x="1104" y="2667"/>
            <a:chExt cx="528" cy="48"/>
          </a:xfrm>
        </p:grpSpPr>
        <p:sp>
          <p:nvSpPr>
            <p:cNvPr id="22580" name="Line 17">
              <a:extLst>
                <a:ext uri="{FF2B5EF4-FFF2-40B4-BE49-F238E27FC236}">
                  <a16:creationId xmlns:a16="http://schemas.microsoft.com/office/drawing/2014/main" id="{FB68CA2C-1EC7-4593-9D06-869E3021F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1" name="Oval 18">
              <a:extLst>
                <a:ext uri="{FF2B5EF4-FFF2-40B4-BE49-F238E27FC236}">
                  <a16:creationId xmlns:a16="http://schemas.microsoft.com/office/drawing/2014/main" id="{1EB611B3-0A40-4041-BB29-E1AA8B761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6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59765" name="Group 21">
            <a:extLst>
              <a:ext uri="{FF2B5EF4-FFF2-40B4-BE49-F238E27FC236}">
                <a16:creationId xmlns:a16="http://schemas.microsoft.com/office/drawing/2014/main" id="{D2FDBA3E-4884-4B77-B302-8D4FE12BF4AD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773113"/>
            <a:ext cx="1219200" cy="1371600"/>
            <a:chOff x="432" y="1536"/>
            <a:chExt cx="768" cy="864"/>
          </a:xfrm>
        </p:grpSpPr>
        <p:sp>
          <p:nvSpPr>
            <p:cNvPr id="22575" name="Text Box 22">
              <a:extLst>
                <a:ext uri="{FF2B5EF4-FFF2-40B4-BE49-F238E27FC236}">
                  <a16:creationId xmlns:a16="http://schemas.microsoft.com/office/drawing/2014/main" id="{667E8DC9-993E-4F71-8696-4276A4CF1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24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76" name="Text Box 23">
              <a:extLst>
                <a:ext uri="{FF2B5EF4-FFF2-40B4-BE49-F238E27FC236}">
                  <a16:creationId xmlns:a16="http://schemas.microsoft.com/office/drawing/2014/main" id="{7240E8A0-7097-4986-B686-AE11B6DC0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536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/>
                <a:t>headPtr</a:t>
              </a:r>
            </a:p>
          </p:txBody>
        </p:sp>
        <p:grpSp>
          <p:nvGrpSpPr>
            <p:cNvPr id="22577" name="Group 24">
              <a:extLst>
                <a:ext uri="{FF2B5EF4-FFF2-40B4-BE49-F238E27FC236}">
                  <a16:creationId xmlns:a16="http://schemas.microsoft.com/office/drawing/2014/main" id="{8FB8B37C-275D-42D2-A6D5-C3272CAC7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968"/>
              <a:ext cx="48" cy="432"/>
              <a:chOff x="768" y="1968"/>
              <a:chExt cx="48" cy="432"/>
            </a:xfrm>
          </p:grpSpPr>
          <p:sp>
            <p:nvSpPr>
              <p:cNvPr id="22578" name="Oval 25">
                <a:extLst>
                  <a:ext uri="{FF2B5EF4-FFF2-40B4-BE49-F238E27FC236}">
                    <a16:creationId xmlns:a16="http://schemas.microsoft.com/office/drawing/2014/main" id="{CF1D484F-80F9-405D-B838-792A52725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9" name="Line 26">
                <a:extLst>
                  <a:ext uri="{FF2B5EF4-FFF2-40B4-BE49-F238E27FC236}">
                    <a16:creationId xmlns:a16="http://schemas.microsoft.com/office/drawing/2014/main" id="{2935DE0E-AA09-41A0-8150-F88DA4D23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6" y="201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9772" name="Group 28">
            <a:extLst>
              <a:ext uri="{FF2B5EF4-FFF2-40B4-BE49-F238E27FC236}">
                <a16:creationId xmlns:a16="http://schemas.microsoft.com/office/drawing/2014/main" id="{B07E1991-71DD-4CF5-A813-7426E56F5E47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773113"/>
            <a:ext cx="1508125" cy="1371600"/>
            <a:chOff x="1794" y="1162"/>
            <a:chExt cx="950" cy="864"/>
          </a:xfrm>
        </p:grpSpPr>
        <p:sp>
          <p:nvSpPr>
            <p:cNvPr id="22570" name="Text Box 29">
              <a:extLst>
                <a:ext uri="{FF2B5EF4-FFF2-40B4-BE49-F238E27FC236}">
                  <a16:creationId xmlns:a16="http://schemas.microsoft.com/office/drawing/2014/main" id="{1917540F-C790-47BA-ACB6-A1A3BDF12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6" y="145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71" name="Text Box 30">
              <a:extLst>
                <a:ext uri="{FF2B5EF4-FFF2-40B4-BE49-F238E27FC236}">
                  <a16:creationId xmlns:a16="http://schemas.microsoft.com/office/drawing/2014/main" id="{88583F5F-AAEA-440E-ADCD-41E2A9260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" y="1162"/>
              <a:ext cx="9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 err="1"/>
                <a:t>newPtr</a:t>
              </a:r>
              <a:endParaRPr lang="en-US" altLang="zh-CN" b="0" dirty="0"/>
            </a:p>
          </p:txBody>
        </p:sp>
        <p:grpSp>
          <p:nvGrpSpPr>
            <p:cNvPr id="22572" name="Group 31">
              <a:extLst>
                <a:ext uri="{FF2B5EF4-FFF2-40B4-BE49-F238E27FC236}">
                  <a16:creationId xmlns:a16="http://schemas.microsoft.com/office/drawing/2014/main" id="{298EEBCA-FC65-4FF8-96D0-23A18A244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0" y="1594"/>
              <a:ext cx="48" cy="432"/>
              <a:chOff x="768" y="1968"/>
              <a:chExt cx="48" cy="432"/>
            </a:xfrm>
          </p:grpSpPr>
          <p:sp>
            <p:nvSpPr>
              <p:cNvPr id="22573" name="Oval 32">
                <a:extLst>
                  <a:ext uri="{FF2B5EF4-FFF2-40B4-BE49-F238E27FC236}">
                    <a16:creationId xmlns:a16="http://schemas.microsoft.com/office/drawing/2014/main" id="{22E31F6D-82D8-4E62-A313-F4C482DC5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4" name="Line 33">
                <a:extLst>
                  <a:ext uri="{FF2B5EF4-FFF2-40B4-BE49-F238E27FC236}">
                    <a16:creationId xmlns:a16="http://schemas.microsoft.com/office/drawing/2014/main" id="{B1487974-0E43-4181-98A2-B58BF1E1C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6" y="201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9778" name="Group 34">
            <a:extLst>
              <a:ext uri="{FF2B5EF4-FFF2-40B4-BE49-F238E27FC236}">
                <a16:creationId xmlns:a16="http://schemas.microsoft.com/office/drawing/2014/main" id="{5A1E6221-EB0C-487E-AC92-0E10DB698519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2141538"/>
            <a:ext cx="990600" cy="466725"/>
            <a:chOff x="624" y="2544"/>
            <a:chExt cx="624" cy="294"/>
          </a:xfrm>
        </p:grpSpPr>
        <p:sp>
          <p:nvSpPr>
            <p:cNvPr id="22568" name="Text Box 35">
              <a:extLst>
                <a:ext uri="{FF2B5EF4-FFF2-40B4-BE49-F238E27FC236}">
                  <a16:creationId xmlns:a16="http://schemas.microsoft.com/office/drawing/2014/main" id="{56929801-F004-43AE-806A-696D4912D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/>
                <a:t>37     </a:t>
              </a:r>
            </a:p>
          </p:txBody>
        </p:sp>
        <p:sp>
          <p:nvSpPr>
            <p:cNvPr id="22569" name="Line 36">
              <a:extLst>
                <a:ext uri="{FF2B5EF4-FFF2-40B4-BE49-F238E27FC236}">
                  <a16:creationId xmlns:a16="http://schemas.microsoft.com/office/drawing/2014/main" id="{C67EF2F2-4CB0-449D-82E0-20FF0AB4A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824" name="Group 80">
            <a:extLst>
              <a:ext uri="{FF2B5EF4-FFF2-40B4-BE49-F238E27FC236}">
                <a16:creationId xmlns:a16="http://schemas.microsoft.com/office/drawing/2014/main" id="{5A1DA3D5-4038-44D3-BBDA-62839161134F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895350"/>
            <a:ext cx="1508125" cy="1238250"/>
            <a:chOff x="2426" y="518"/>
            <a:chExt cx="950" cy="780"/>
          </a:xfrm>
        </p:grpSpPr>
        <p:sp>
          <p:nvSpPr>
            <p:cNvPr id="22564" name="Text Box 46">
              <a:extLst>
                <a:ext uri="{FF2B5EF4-FFF2-40B4-BE49-F238E27FC236}">
                  <a16:creationId xmlns:a16="http://schemas.microsoft.com/office/drawing/2014/main" id="{4CF4E6A3-F74B-4BED-B4CB-49D18F1AF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" y="76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65" name="Text Box 47">
              <a:extLst>
                <a:ext uri="{FF2B5EF4-FFF2-40B4-BE49-F238E27FC236}">
                  <a16:creationId xmlns:a16="http://schemas.microsoft.com/office/drawing/2014/main" id="{9FCC89BE-BD16-4AE0-A374-2754805CF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518"/>
              <a:ext cx="9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/>
                <a:t>   </a:t>
              </a:r>
              <a:r>
                <a:rPr lang="en-US" altLang="zh-CN" b="0" dirty="0" err="1"/>
                <a:t>lastPtr</a:t>
              </a:r>
              <a:endParaRPr lang="en-US" altLang="zh-CN" b="0" dirty="0"/>
            </a:p>
          </p:txBody>
        </p:sp>
        <p:sp>
          <p:nvSpPr>
            <p:cNvPr id="22566" name="Oval 49">
              <a:extLst>
                <a:ext uri="{FF2B5EF4-FFF2-40B4-BE49-F238E27FC236}">
                  <a16:creationId xmlns:a16="http://schemas.microsoft.com/office/drawing/2014/main" id="{8FD8DFDE-0A74-463D-969A-AFB235872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9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9795" name="Line 51">
              <a:extLst>
                <a:ext uri="{FF2B5EF4-FFF2-40B4-BE49-F238E27FC236}">
                  <a16:creationId xmlns:a16="http://schemas.microsoft.com/office/drawing/2014/main" id="{6CBF55F9-EFC6-4F59-B70C-C972D714A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9" y="93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9" y="3098701"/>
            <a:ext cx="8351837" cy="193899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/>
              <a:t>为了让</a:t>
            </a:r>
            <a:r>
              <a:rPr lang="zh-CN" altLang="en-US" dirty="0" smtClean="0"/>
              <a:t>新增结点能</a:t>
            </a:r>
            <a:r>
              <a:rPr lang="zh-CN" altLang="en-US" dirty="0"/>
              <a:t>方便地追加到链表</a:t>
            </a:r>
            <a:r>
              <a:rPr lang="zh-CN" altLang="en-US" dirty="0" smtClean="0"/>
              <a:t>尾结点后面</a:t>
            </a:r>
            <a:r>
              <a:rPr lang="zh-CN" altLang="en-US" dirty="0"/>
              <a:t>，可以设计一个尾指针</a:t>
            </a:r>
            <a:r>
              <a:rPr lang="en-US" altLang="zh-CN" dirty="0" err="1"/>
              <a:t>lastPtr</a:t>
            </a:r>
            <a:r>
              <a:rPr lang="zh-CN" altLang="en-US" dirty="0"/>
              <a:t>来指向链表</a:t>
            </a:r>
            <a:r>
              <a:rPr lang="zh-CN" altLang="en-US" dirty="0" smtClean="0"/>
              <a:t>尾结点；</a:t>
            </a:r>
            <a:endParaRPr lang="zh-CN" altLang="en-US" dirty="0"/>
          </a:p>
          <a:p>
            <a:pPr>
              <a:spcBef>
                <a:spcPct val="50000"/>
              </a:spcBef>
              <a:defRPr/>
            </a:pPr>
            <a:r>
              <a:rPr lang="zh-CN" altLang="en-US" dirty="0"/>
              <a:t>    追加过程为：</a:t>
            </a:r>
            <a:r>
              <a:rPr lang="en-US" altLang="zh-CN" dirty="0" err="1"/>
              <a:t>lastPtr</a:t>
            </a:r>
            <a:r>
              <a:rPr lang="en-US" altLang="zh-CN" dirty="0"/>
              <a:t>-&gt;</a:t>
            </a:r>
            <a:r>
              <a:rPr lang="en-US" altLang="zh-CN" dirty="0" err="1"/>
              <a:t>nextPtr</a:t>
            </a:r>
            <a:r>
              <a:rPr lang="en-US" altLang="zh-CN" dirty="0"/>
              <a:t>=</a:t>
            </a:r>
            <a:r>
              <a:rPr lang="en-US" altLang="zh-CN" dirty="0" err="1"/>
              <a:t>newPtr</a:t>
            </a:r>
            <a:r>
              <a:rPr lang="en-US" altLang="zh-CN" dirty="0"/>
              <a:t>;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dirty="0"/>
              <a:t>    </a:t>
            </a:r>
            <a:r>
              <a:rPr lang="zh-CN" altLang="en-US" dirty="0"/>
              <a:t>修正</a:t>
            </a:r>
            <a:r>
              <a:rPr lang="en-US" altLang="zh-CN" dirty="0" err="1"/>
              <a:t>lastPtr</a:t>
            </a:r>
            <a:r>
              <a:rPr lang="zh-CN" altLang="en-US" dirty="0"/>
              <a:t>，使之指向链表</a:t>
            </a:r>
            <a:r>
              <a:rPr lang="zh-CN" altLang="en-US" dirty="0" smtClean="0"/>
              <a:t>尾结点：</a:t>
            </a:r>
            <a:r>
              <a:rPr lang="en-US" altLang="zh-CN" dirty="0" err="1"/>
              <a:t>lastPtr</a:t>
            </a:r>
            <a:r>
              <a:rPr lang="en-US" altLang="zh-CN" dirty="0"/>
              <a:t>=</a:t>
            </a:r>
            <a:r>
              <a:rPr lang="en-US" altLang="zh-CN" dirty="0" err="1"/>
              <a:t>newPtr</a:t>
            </a:r>
            <a:r>
              <a:rPr lang="zh-CN" altLang="en-US" dirty="0"/>
              <a:t>；</a:t>
            </a:r>
          </a:p>
        </p:txBody>
      </p:sp>
      <p:grpSp>
        <p:nvGrpSpPr>
          <p:cNvPr id="159813" name="Group 69">
            <a:extLst>
              <a:ext uri="{FF2B5EF4-FFF2-40B4-BE49-F238E27FC236}">
                <a16:creationId xmlns:a16="http://schemas.microsoft.com/office/drawing/2014/main" id="{62A6C776-B96F-4495-8C31-19241B34C43D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2141538"/>
            <a:ext cx="3340100" cy="469900"/>
            <a:chOff x="930" y="1298"/>
            <a:chExt cx="2104" cy="296"/>
          </a:xfrm>
        </p:grpSpPr>
        <p:grpSp>
          <p:nvGrpSpPr>
            <p:cNvPr id="22550" name="Group 54">
              <a:extLst>
                <a:ext uri="{FF2B5EF4-FFF2-40B4-BE49-F238E27FC236}">
                  <a16:creationId xmlns:a16="http://schemas.microsoft.com/office/drawing/2014/main" id="{D66DE6B6-ADEC-41D4-BAC1-E4C94AC17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" y="1300"/>
              <a:ext cx="1152" cy="294"/>
              <a:chOff x="1536" y="1706"/>
              <a:chExt cx="1152" cy="294"/>
            </a:xfrm>
          </p:grpSpPr>
          <p:grpSp>
            <p:nvGrpSpPr>
              <p:cNvPr id="22558" name="Group 7">
                <a:extLst>
                  <a:ext uri="{FF2B5EF4-FFF2-40B4-BE49-F238E27FC236}">
                    <a16:creationId xmlns:a16="http://schemas.microsoft.com/office/drawing/2014/main" id="{531B2F2F-D6FB-447D-96A0-6C71E747C9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1706"/>
                <a:ext cx="624" cy="294"/>
                <a:chOff x="624" y="2544"/>
                <a:chExt cx="624" cy="294"/>
              </a:xfrm>
            </p:grpSpPr>
            <p:sp>
              <p:nvSpPr>
                <p:cNvPr id="22562" name="Text Box 8">
                  <a:extLst>
                    <a:ext uri="{FF2B5EF4-FFF2-40B4-BE49-F238E27FC236}">
                      <a16:creationId xmlns:a16="http://schemas.microsoft.com/office/drawing/2014/main" id="{8C2436C6-E40F-4337-812B-DF04F6F13C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2544"/>
                  <a:ext cx="624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0" dirty="0"/>
                    <a:t>17  </a:t>
                  </a:r>
                </a:p>
              </p:txBody>
            </p:sp>
            <p:sp>
              <p:nvSpPr>
                <p:cNvPr id="22563" name="Line 9">
                  <a:extLst>
                    <a:ext uri="{FF2B5EF4-FFF2-40B4-BE49-F238E27FC236}">
                      <a16:creationId xmlns:a16="http://schemas.microsoft.com/office/drawing/2014/main" id="{40801355-DB8A-486A-97FA-A6A50B31C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5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59" name="Group 13">
                <a:extLst>
                  <a:ext uri="{FF2B5EF4-FFF2-40B4-BE49-F238E27FC236}">
                    <a16:creationId xmlns:a16="http://schemas.microsoft.com/office/drawing/2014/main" id="{7842AB5B-3E3B-4E9E-ABFF-EF964C870D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829"/>
                <a:ext cx="528" cy="48"/>
                <a:chOff x="1104" y="2667"/>
                <a:chExt cx="528" cy="48"/>
              </a:xfrm>
            </p:grpSpPr>
            <p:sp>
              <p:nvSpPr>
                <p:cNvPr id="22560" name="Line 14">
                  <a:extLst>
                    <a:ext uri="{FF2B5EF4-FFF2-40B4-BE49-F238E27FC236}">
                      <a16:creationId xmlns:a16="http://schemas.microsoft.com/office/drawing/2014/main" id="{66FEC860-505A-435A-93F2-78FB01D36A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2688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1" name="Oval 15">
                  <a:extLst>
                    <a:ext uri="{FF2B5EF4-FFF2-40B4-BE49-F238E27FC236}">
                      <a16:creationId xmlns:a16="http://schemas.microsoft.com/office/drawing/2014/main" id="{E5BEA220-6A04-4396-B801-EAF0694BC4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667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22551" name="Group 62">
              <a:extLst>
                <a:ext uri="{FF2B5EF4-FFF2-40B4-BE49-F238E27FC236}">
                  <a16:creationId xmlns:a16="http://schemas.microsoft.com/office/drawing/2014/main" id="{91457D32-2C5E-44B6-B30B-95600A13E9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2" y="1298"/>
              <a:ext cx="1152" cy="294"/>
              <a:chOff x="1536" y="1706"/>
              <a:chExt cx="1152" cy="294"/>
            </a:xfrm>
          </p:grpSpPr>
          <p:grpSp>
            <p:nvGrpSpPr>
              <p:cNvPr id="22552" name="Group 63">
                <a:extLst>
                  <a:ext uri="{FF2B5EF4-FFF2-40B4-BE49-F238E27FC236}">
                    <a16:creationId xmlns:a16="http://schemas.microsoft.com/office/drawing/2014/main" id="{0F4BF254-504A-4CA7-A8BA-3DDE02F01E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1706"/>
                <a:ext cx="624" cy="294"/>
                <a:chOff x="624" y="2544"/>
                <a:chExt cx="624" cy="294"/>
              </a:xfrm>
            </p:grpSpPr>
            <p:sp>
              <p:nvSpPr>
                <p:cNvPr id="22556" name="Text Box 64">
                  <a:extLst>
                    <a:ext uri="{FF2B5EF4-FFF2-40B4-BE49-F238E27FC236}">
                      <a16:creationId xmlns:a16="http://schemas.microsoft.com/office/drawing/2014/main" id="{F0E8D1E2-C7D0-4418-AEB6-862B562DA0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2544"/>
                  <a:ext cx="624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0" dirty="0"/>
                    <a:t>19  </a:t>
                  </a:r>
                </a:p>
              </p:txBody>
            </p:sp>
            <p:sp>
              <p:nvSpPr>
                <p:cNvPr id="22557" name="Line 65">
                  <a:extLst>
                    <a:ext uri="{FF2B5EF4-FFF2-40B4-BE49-F238E27FC236}">
                      <a16:creationId xmlns:a16="http://schemas.microsoft.com/office/drawing/2014/main" id="{1B5CBFD3-A95C-4870-9F58-EFB1F4048A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5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53" name="Group 66">
                <a:extLst>
                  <a:ext uri="{FF2B5EF4-FFF2-40B4-BE49-F238E27FC236}">
                    <a16:creationId xmlns:a16="http://schemas.microsoft.com/office/drawing/2014/main" id="{8AB80D2E-21B4-4FA8-801D-7A613DDBFB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829"/>
                <a:ext cx="528" cy="48"/>
                <a:chOff x="1104" y="2667"/>
                <a:chExt cx="528" cy="48"/>
              </a:xfrm>
            </p:grpSpPr>
            <p:sp>
              <p:nvSpPr>
                <p:cNvPr id="22554" name="Line 67">
                  <a:extLst>
                    <a:ext uri="{FF2B5EF4-FFF2-40B4-BE49-F238E27FC236}">
                      <a16:creationId xmlns:a16="http://schemas.microsoft.com/office/drawing/2014/main" id="{9773F3D1-D023-40B3-A8D0-146090C6B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2688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55" name="Oval 68">
                  <a:extLst>
                    <a:ext uri="{FF2B5EF4-FFF2-40B4-BE49-F238E27FC236}">
                      <a16:creationId xmlns:a16="http://schemas.microsoft.com/office/drawing/2014/main" id="{E903949A-343B-424E-BD19-5888FB0972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667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grpSp>
        <p:nvGrpSpPr>
          <p:cNvPr id="159814" name="Group 70">
            <a:extLst>
              <a:ext uri="{FF2B5EF4-FFF2-40B4-BE49-F238E27FC236}">
                <a16:creationId xmlns:a16="http://schemas.microsoft.com/office/drawing/2014/main" id="{7AD6B4FF-61A6-430C-88C6-F6C2C924607F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773238"/>
            <a:ext cx="215900" cy="215900"/>
            <a:chOff x="4150" y="1706"/>
            <a:chExt cx="136" cy="136"/>
          </a:xfrm>
        </p:grpSpPr>
        <p:sp>
          <p:nvSpPr>
            <p:cNvPr id="22548" name="Line 71">
              <a:extLst>
                <a:ext uri="{FF2B5EF4-FFF2-40B4-BE49-F238E27FC236}">
                  <a16:creationId xmlns:a16="http://schemas.microsoft.com/office/drawing/2014/main" id="{6ED99BDB-13A8-4F60-BF3A-DBBE315D95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0" y="1706"/>
              <a:ext cx="136" cy="1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" name="Line 72">
              <a:extLst>
                <a:ext uri="{FF2B5EF4-FFF2-40B4-BE49-F238E27FC236}">
                  <a16:creationId xmlns:a16="http://schemas.microsoft.com/office/drawing/2014/main" id="{7DC129CD-645A-431E-93A9-9DAB0B193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706"/>
              <a:ext cx="136" cy="1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9817" name="Line 73">
            <a:extLst>
              <a:ext uri="{FF2B5EF4-FFF2-40B4-BE49-F238E27FC236}">
                <a16:creationId xmlns:a16="http://schemas.microsoft.com/office/drawing/2014/main" id="{2D23602E-337C-4138-9472-BA8674852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1557338"/>
            <a:ext cx="129857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－获取尾指针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17447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BC5AA-AE95-4193-8BDE-39AF85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优化后预备：头</a:t>
            </a:r>
            <a:r>
              <a:rPr lang="en-US" altLang="zh-CN" dirty="0"/>
              <a:t>/</a:t>
            </a:r>
            <a:r>
              <a:rPr lang="zh-CN" altLang="en-US" dirty="0"/>
              <a:t>尾指针和</a:t>
            </a:r>
            <a:r>
              <a:rPr lang="zh-CN" altLang="en-US" dirty="0" smtClean="0"/>
              <a:t>空结点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56289-5129-498F-9533-8374CA36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/*</a:t>
            </a:r>
            <a:r>
              <a:rPr lang="zh-CN" altLang="en-US" sz="2000" dirty="0"/>
              <a:t>创建一个带</a:t>
            </a:r>
            <a:r>
              <a:rPr lang="zh-CN" altLang="en-US" sz="2000" dirty="0" smtClean="0"/>
              <a:t>空结点</a:t>
            </a:r>
            <a:r>
              <a:rPr lang="zh-CN" altLang="en-US" sz="2000" dirty="0"/>
              <a:t>的链表头*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createListHead</a:t>
            </a:r>
            <a:r>
              <a:rPr lang="en-US" altLang="zh-CN" sz="2000" dirty="0"/>
              <a:t> (LISTNODEPTR * 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LISTNODEPTR * </a:t>
            </a:r>
            <a:r>
              <a:rPr lang="en-US" altLang="zh-CN" sz="2000" dirty="0" err="1">
                <a:solidFill>
                  <a:srgbClr val="FF0000"/>
                </a:solidFill>
              </a:rPr>
              <a:t>lastPtrPtr</a:t>
            </a:r>
            <a:r>
              <a:rPr lang="en-US" altLang="zh-CN" sz="2000" dirty="0"/>
              <a:t>){</a:t>
            </a:r>
          </a:p>
          <a:p>
            <a:pPr marL="0" indent="0">
              <a:buNone/>
            </a:pPr>
            <a:r>
              <a:rPr lang="en-US" altLang="zh-CN" sz="2000" dirty="0"/>
              <a:t>	*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 = malloc(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(LISTNODE));</a:t>
            </a:r>
          </a:p>
          <a:p>
            <a:pPr marL="0" indent="0">
              <a:buNone/>
            </a:pPr>
            <a:r>
              <a:rPr lang="en-US" altLang="zh-CN" sz="2000" dirty="0"/>
              <a:t>	if ((*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) != NULL){</a:t>
            </a:r>
          </a:p>
          <a:p>
            <a:pPr marL="0" indent="0">
              <a:buNone/>
            </a:pPr>
            <a:r>
              <a:rPr lang="en-US" altLang="zh-CN" sz="2000" dirty="0"/>
              <a:t>		(*</a:t>
            </a:r>
            <a:r>
              <a:rPr lang="en-US" altLang="zh-CN" sz="2000" dirty="0" err="1"/>
              <a:t>headPtrPtr</a:t>
            </a:r>
            <a:r>
              <a:rPr lang="en-US" altLang="zh-CN" sz="2000" dirty="0"/>
              <a:t>)-&gt;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NULL;</a:t>
            </a:r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en-US" altLang="zh-CN" sz="2000" dirty="0">
                <a:solidFill>
                  <a:srgbClr val="FF0000"/>
                </a:solidFill>
              </a:rPr>
              <a:t>/*</a:t>
            </a:r>
            <a:r>
              <a:rPr lang="zh-CN" altLang="en-US" sz="2000" dirty="0">
                <a:solidFill>
                  <a:srgbClr val="FF0000"/>
                </a:solidFill>
              </a:rPr>
              <a:t>尾指针初始指向</a:t>
            </a:r>
            <a:r>
              <a:rPr lang="zh-CN" altLang="en-US" sz="2000" dirty="0" smtClean="0">
                <a:solidFill>
                  <a:srgbClr val="FF0000"/>
                </a:solidFill>
              </a:rPr>
              <a:t>空结点</a:t>
            </a:r>
            <a:r>
              <a:rPr lang="zh-CN" altLang="en-US" sz="2000" dirty="0">
                <a:solidFill>
                  <a:srgbClr val="FF0000"/>
                </a:solidFill>
              </a:rPr>
              <a:t>*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	*</a:t>
            </a:r>
            <a:r>
              <a:rPr lang="en-US" altLang="zh-CN" sz="2000" dirty="0" err="1">
                <a:solidFill>
                  <a:srgbClr val="FF0000"/>
                </a:solidFill>
              </a:rPr>
              <a:t>lastPtrPtr</a:t>
            </a:r>
            <a:r>
              <a:rPr lang="en-US" altLang="zh-CN" sz="2000" dirty="0">
                <a:solidFill>
                  <a:srgbClr val="FF0000"/>
                </a:solidFill>
              </a:rPr>
              <a:t> = (*</a:t>
            </a:r>
            <a:r>
              <a:rPr lang="en-US" altLang="zh-CN" sz="2000" dirty="0" err="1">
                <a:solidFill>
                  <a:srgbClr val="FF0000"/>
                </a:solidFill>
              </a:rPr>
              <a:t>headPtrPtr</a:t>
            </a:r>
            <a:r>
              <a:rPr lang="en-US" altLang="zh-CN" sz="2000" dirty="0">
                <a:solidFill>
                  <a:srgbClr val="FF0000"/>
                </a:solidFill>
              </a:rPr>
              <a:t>); </a:t>
            </a:r>
          </a:p>
          <a:p>
            <a:pPr marL="0" indent="0">
              <a:buNone/>
            </a:pPr>
            <a:r>
              <a:rPr lang="en-US" altLang="zh-CN" sz="2000" dirty="0"/>
              <a:t>	} </a:t>
            </a:r>
          </a:p>
          <a:p>
            <a:pPr marL="0" indent="0">
              <a:buNone/>
            </a:pPr>
            <a:r>
              <a:rPr lang="en-US" altLang="zh-CN" sz="20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0960918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3">
            <a:extLst>
              <a:ext uri="{FF2B5EF4-FFF2-40B4-BE49-F238E27FC236}">
                <a16:creationId xmlns:a16="http://schemas.microsoft.com/office/drawing/2014/main" id="{9C940483-F973-4DFB-A139-F781117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404813"/>
            <a:ext cx="5833343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优化后基本操作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－尾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DB0CD740-9251-4001-90A0-E336B8E2D6F3}"/>
              </a:ext>
            </a:extLst>
          </p:cNvPr>
          <p:cNvSpPr txBox="1">
            <a:spLocks/>
          </p:cNvSpPr>
          <p:nvPr/>
        </p:nvSpPr>
        <p:spPr>
          <a:xfrm>
            <a:off x="539552" y="1196752"/>
            <a:ext cx="7772400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/*</a:t>
            </a:r>
            <a:r>
              <a:rPr lang="zh-CN" altLang="en-US" sz="2000" b="0" dirty="0"/>
              <a:t>把一个新值插入到链表尾部，利用尾指针*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void insertEnd2 (</a:t>
            </a:r>
            <a:r>
              <a:rPr lang="en-US" altLang="zh-CN" sz="2000" dirty="0">
                <a:solidFill>
                  <a:srgbClr val="FF0000"/>
                </a:solidFill>
              </a:rPr>
              <a:t>LISTNODEPTR * </a:t>
            </a:r>
            <a:r>
              <a:rPr lang="en-US" altLang="zh-CN" sz="2000" b="0" dirty="0" err="1"/>
              <a:t>lastPtrPtr</a:t>
            </a:r>
            <a:r>
              <a:rPr lang="en-US" altLang="zh-CN" sz="2000" b="0" dirty="0"/>
              <a:t> ,</a:t>
            </a:r>
            <a:r>
              <a:rPr lang="zh-CN" altLang="en-US" sz="2000" b="0" dirty="0"/>
              <a:t> </a:t>
            </a:r>
            <a:r>
              <a:rPr lang="en-US" altLang="zh-CN" sz="2000" b="0" dirty="0" err="1"/>
              <a:t>ElementType</a:t>
            </a:r>
            <a:r>
              <a:rPr lang="en-US" altLang="zh-CN" sz="2000" b="0" dirty="0"/>
              <a:t> value){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LISTNODEPTR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None/>
            </a:pPr>
            <a:r>
              <a:rPr lang="en-US" altLang="zh-CN" sz="2000" b="0" dirty="0"/>
              <a:t>	/*</a:t>
            </a:r>
            <a:r>
              <a:rPr lang="zh-CN" altLang="en-US" sz="2000" b="0" dirty="0"/>
              <a:t>动态分配</a:t>
            </a:r>
            <a:r>
              <a:rPr lang="zh-CN" altLang="en-US" sz="2000" b="0" dirty="0" smtClean="0"/>
              <a:t>新</a:t>
            </a:r>
            <a:r>
              <a:rPr lang="zh-CN" altLang="en-US" sz="2000" b="0" dirty="0"/>
              <a:t>结点</a:t>
            </a:r>
            <a:r>
              <a:rPr lang="zh-CN" altLang="en-US" sz="2000" b="0" dirty="0" smtClean="0"/>
              <a:t>，</a:t>
            </a:r>
            <a:r>
              <a:rPr lang="zh-CN" altLang="en-US" sz="2000" b="0" dirty="0"/>
              <a:t>将新值存入</a:t>
            </a:r>
            <a:r>
              <a:rPr lang="en-US" altLang="zh-CN" sz="2000" b="0" dirty="0"/>
              <a:t>*/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= malloc(</a:t>
            </a:r>
            <a:r>
              <a:rPr lang="en-US" altLang="zh-CN" sz="2000" b="0" dirty="0" err="1"/>
              <a:t>sizeof</a:t>
            </a:r>
            <a:r>
              <a:rPr lang="en-US" altLang="zh-CN" sz="2000" b="0" dirty="0"/>
              <a:t>(LISTNODE));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if (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!= NULL){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-&gt;data = value;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NULL;</a:t>
            </a:r>
          </a:p>
          <a:p>
            <a:pPr marL="0" indent="0">
              <a:buNone/>
            </a:pPr>
            <a:r>
              <a:rPr lang="en-US" altLang="zh-CN" sz="2000" b="0" dirty="0"/>
              <a:t>		/*</a:t>
            </a:r>
            <a:r>
              <a:rPr lang="zh-CN" altLang="en-US" sz="2000" b="0" dirty="0"/>
              <a:t>直接在尾</a:t>
            </a:r>
            <a:r>
              <a:rPr lang="zh-CN" altLang="en-US" sz="2000" b="0" dirty="0" smtClean="0"/>
              <a:t>结点后</a:t>
            </a:r>
            <a:r>
              <a:rPr lang="zh-CN" altLang="en-US" sz="2000" b="0" dirty="0"/>
              <a:t>链接新结点</a:t>
            </a:r>
            <a:r>
              <a:rPr lang="en-US" altLang="zh-CN" sz="2000" b="0" dirty="0" smtClean="0"/>
              <a:t>*/</a:t>
            </a:r>
            <a:endParaRPr lang="en-US" altLang="zh-CN" sz="2000" b="0" dirty="0"/>
          </a:p>
          <a:p>
            <a:pPr marL="0" indent="0">
              <a:buFontTx/>
              <a:buNone/>
            </a:pPr>
            <a:r>
              <a:rPr lang="en-US" altLang="zh-CN" sz="2000" b="0" dirty="0"/>
              <a:t>		(*</a:t>
            </a:r>
            <a:r>
              <a:rPr lang="en-US" altLang="zh-CN" sz="2000" b="0" dirty="0" err="1"/>
              <a:t>lastPtrPtr</a:t>
            </a:r>
            <a:r>
              <a:rPr lang="en-US" altLang="zh-CN" sz="2000" b="0" dirty="0"/>
              <a:t>)-&gt;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*</a:t>
            </a:r>
            <a:r>
              <a:rPr lang="en-US" altLang="zh-CN" sz="2000" b="0" dirty="0" err="1"/>
              <a:t>lastPtrPtr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}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else 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    </a:t>
            </a:r>
            <a:r>
              <a:rPr lang="en-US" altLang="zh-CN" sz="2000" b="0" dirty="0" err="1"/>
              <a:t>printf</a:t>
            </a:r>
            <a:r>
              <a:rPr lang="en-US" altLang="zh-CN" sz="2000" b="0" dirty="0"/>
              <a:t>("Not inserted. No memory </a:t>
            </a:r>
            <a:r>
              <a:rPr lang="en-US" altLang="zh-CN" sz="2000" b="0" dirty="0" err="1"/>
              <a:t>avaliable</a:t>
            </a:r>
            <a:r>
              <a:rPr lang="en-US" altLang="zh-CN" sz="2000" b="0" dirty="0"/>
              <a:t>.\n");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}</a:t>
            </a:r>
          </a:p>
          <a:p>
            <a:pPr marL="0" indent="0">
              <a:buFontTx/>
              <a:buNone/>
            </a:pP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23058237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14</a:t>
            </a:fld>
            <a:endParaRPr lang="en-US" altLang="zh-CN" sz="1400"/>
          </a:p>
        </p:txBody>
      </p: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9" y="3098701"/>
            <a:ext cx="8351837" cy="193899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/>
              <a:t>如何只需一个指针，就能操作整个链表？</a:t>
            </a:r>
            <a:endParaRPr lang="en-US" altLang="zh-CN" dirty="0"/>
          </a:p>
          <a:p>
            <a:pPr>
              <a:spcBef>
                <a:spcPct val="50000"/>
              </a:spcBef>
              <a:defRPr/>
            </a:pPr>
            <a:r>
              <a:rPr lang="zh-CN" altLang="en-US" dirty="0"/>
              <a:t>方案</a:t>
            </a:r>
            <a:r>
              <a:rPr lang="en-US" altLang="zh-CN" dirty="0"/>
              <a:t>1</a:t>
            </a:r>
            <a:r>
              <a:rPr lang="zh-CN" altLang="en-US" dirty="0"/>
              <a:t>：将链表</a:t>
            </a:r>
            <a:r>
              <a:rPr lang="zh-CN" altLang="en-US" dirty="0" smtClean="0"/>
              <a:t>尾结点指向</a:t>
            </a:r>
            <a:r>
              <a:rPr lang="zh-CN" altLang="en-US" dirty="0"/>
              <a:t>链表头的</a:t>
            </a:r>
            <a:r>
              <a:rPr lang="zh-CN" altLang="en-US" dirty="0" smtClean="0"/>
              <a:t>空结点，</a:t>
            </a:r>
            <a:r>
              <a:rPr lang="zh-CN" altLang="en-US" dirty="0"/>
              <a:t>即设计一个环；</a:t>
            </a:r>
            <a:endParaRPr lang="en-US" altLang="zh-CN" dirty="0"/>
          </a:p>
          <a:p>
            <a:pPr>
              <a:spcBef>
                <a:spcPct val="50000"/>
              </a:spcBef>
              <a:defRPr/>
            </a:pPr>
            <a:r>
              <a:rPr lang="zh-CN" altLang="en-US" dirty="0"/>
              <a:t>这样，尾指针可以取代头指针，因为</a:t>
            </a:r>
            <a:r>
              <a:rPr lang="en-US" altLang="zh-CN" dirty="0" err="1"/>
              <a:t>lastPtr</a:t>
            </a:r>
            <a:r>
              <a:rPr lang="en-US" altLang="zh-CN" dirty="0"/>
              <a:t>-&gt;</a:t>
            </a:r>
            <a:r>
              <a:rPr lang="en-US" altLang="zh-CN" dirty="0" err="1"/>
              <a:t>nextPtr</a:t>
            </a:r>
            <a:r>
              <a:rPr lang="en-US" altLang="zh-CN" dirty="0"/>
              <a:t> ==  </a:t>
            </a:r>
            <a:r>
              <a:rPr lang="en-US" altLang="zh-CN" dirty="0" err="1"/>
              <a:t>headPtr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扩展知识：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3960A2-DB1E-436B-9E71-81E4F4C58438}"/>
              </a:ext>
            </a:extLst>
          </p:cNvPr>
          <p:cNvGrpSpPr/>
          <p:nvPr/>
        </p:nvGrpSpPr>
        <p:grpSpPr>
          <a:xfrm>
            <a:off x="899592" y="1119411"/>
            <a:ext cx="6606108" cy="1877541"/>
            <a:chOff x="899592" y="1119411"/>
            <a:chExt cx="6606108" cy="1877541"/>
          </a:xfrm>
        </p:grpSpPr>
        <p:grpSp>
          <p:nvGrpSpPr>
            <p:cNvPr id="50" name="Group 4">
              <a:extLst>
                <a:ext uri="{FF2B5EF4-FFF2-40B4-BE49-F238E27FC236}">
                  <a16:creationId xmlns:a16="http://schemas.microsoft.com/office/drawing/2014/main" id="{584A230C-5D29-4A96-8F5D-53F1DEB5B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650" y="2530227"/>
              <a:ext cx="990600" cy="466725"/>
              <a:chOff x="624" y="2544"/>
              <a:chExt cx="624" cy="294"/>
            </a:xfrm>
          </p:grpSpPr>
          <p:sp>
            <p:nvSpPr>
              <p:cNvPr id="51" name="Text Box 5">
                <a:extLst>
                  <a:ext uri="{FF2B5EF4-FFF2-40B4-BE49-F238E27FC236}">
                    <a16:creationId xmlns:a16="http://schemas.microsoft.com/office/drawing/2014/main" id="{CF73DCBA-1207-47FF-A1D7-4B1BBDB9EC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544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dirty="0"/>
                  <a:t>     </a:t>
                </a:r>
              </a:p>
            </p:txBody>
          </p:sp>
          <p:sp>
            <p:nvSpPr>
              <p:cNvPr id="52" name="Line 6">
                <a:extLst>
                  <a:ext uri="{FF2B5EF4-FFF2-40B4-BE49-F238E27FC236}">
                    <a16:creationId xmlns:a16="http://schemas.microsoft.com/office/drawing/2014/main" id="{BC83ACB2-E389-478D-8264-37BBCF51A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4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" name="Group 16">
              <a:extLst>
                <a:ext uri="{FF2B5EF4-FFF2-40B4-BE49-F238E27FC236}">
                  <a16:creationId xmlns:a16="http://schemas.microsoft.com/office/drawing/2014/main" id="{B0C3E5FF-271A-4844-B6EC-90D9C2CFEB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2863" y="2730252"/>
              <a:ext cx="838200" cy="76200"/>
              <a:chOff x="1104" y="2667"/>
              <a:chExt cx="528" cy="48"/>
            </a:xfrm>
          </p:grpSpPr>
          <p:sp>
            <p:nvSpPr>
              <p:cNvPr id="54" name="Line 17">
                <a:extLst>
                  <a:ext uri="{FF2B5EF4-FFF2-40B4-BE49-F238E27FC236}">
                    <a16:creationId xmlns:a16="http://schemas.microsoft.com/office/drawing/2014/main" id="{C7A18C35-88E2-416F-B7FD-5B49D7E33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Oval 18">
                <a:extLst>
                  <a:ext uri="{FF2B5EF4-FFF2-40B4-BE49-F238E27FC236}">
                    <a16:creationId xmlns:a16="http://schemas.microsoft.com/office/drawing/2014/main" id="{33ABCD36-7766-497A-B31A-6215FBF18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667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6" name="Group 21">
              <a:extLst>
                <a:ext uri="{FF2B5EF4-FFF2-40B4-BE49-F238E27FC236}">
                  <a16:creationId xmlns:a16="http://schemas.microsoft.com/office/drawing/2014/main" id="{BD6F9D10-5A5E-47EA-AFAA-F0E4A8C736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9592" y="1119411"/>
              <a:ext cx="1219200" cy="1371600"/>
              <a:chOff x="432" y="1536"/>
              <a:chExt cx="768" cy="864"/>
            </a:xfrm>
          </p:grpSpPr>
          <p:sp>
            <p:nvSpPr>
              <p:cNvPr id="57" name="Text Box 22">
                <a:extLst>
                  <a:ext uri="{FF2B5EF4-FFF2-40B4-BE49-F238E27FC236}">
                    <a16:creationId xmlns:a16="http://schemas.microsoft.com/office/drawing/2014/main" id="{DA66DBCF-3258-4AAF-8A11-24E11338E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824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b="0"/>
              </a:p>
            </p:txBody>
          </p:sp>
          <p:sp>
            <p:nvSpPr>
              <p:cNvPr id="59" name="Text Box 23">
                <a:extLst>
                  <a:ext uri="{FF2B5EF4-FFF2-40B4-BE49-F238E27FC236}">
                    <a16:creationId xmlns:a16="http://schemas.microsoft.com/office/drawing/2014/main" id="{BA53B39E-A041-45F2-A6F6-3209EE91F3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536"/>
                <a:ext cx="7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dirty="0" err="1"/>
                  <a:t>headPtr</a:t>
                </a:r>
                <a:endParaRPr lang="en-US" altLang="zh-CN" b="0" dirty="0"/>
              </a:p>
            </p:txBody>
          </p:sp>
          <p:grpSp>
            <p:nvGrpSpPr>
              <p:cNvPr id="60" name="Group 24">
                <a:extLst>
                  <a:ext uri="{FF2B5EF4-FFF2-40B4-BE49-F238E27FC236}">
                    <a16:creationId xmlns:a16="http://schemas.microsoft.com/office/drawing/2014/main" id="{337253EB-56B6-4154-B3FC-E5BF2FF4D6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968"/>
                <a:ext cx="48" cy="432"/>
                <a:chOff x="768" y="1968"/>
                <a:chExt cx="48" cy="432"/>
              </a:xfrm>
            </p:grpSpPr>
            <p:sp>
              <p:nvSpPr>
                <p:cNvPr id="61" name="Oval 25">
                  <a:extLst>
                    <a:ext uri="{FF2B5EF4-FFF2-40B4-BE49-F238E27FC236}">
                      <a16:creationId xmlns:a16="http://schemas.microsoft.com/office/drawing/2014/main" id="{AE07A0C2-1DF4-416E-8443-40BF5CBA45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968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Line 26">
                  <a:extLst>
                    <a:ext uri="{FF2B5EF4-FFF2-40B4-BE49-F238E27FC236}">
                      <a16:creationId xmlns:a16="http://schemas.microsoft.com/office/drawing/2014/main" id="{A6F2B578-0AE6-4B4C-A709-0F2B11D97F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6" y="2016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9" name="Group 34">
              <a:extLst>
                <a:ext uri="{FF2B5EF4-FFF2-40B4-BE49-F238E27FC236}">
                  <a16:creationId xmlns:a16="http://schemas.microsoft.com/office/drawing/2014/main" id="{EEE4AFCE-91F9-40BD-A211-002BFAE50E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250" y="2527052"/>
              <a:ext cx="990600" cy="466725"/>
              <a:chOff x="624" y="2544"/>
              <a:chExt cx="624" cy="294"/>
            </a:xfrm>
          </p:grpSpPr>
          <p:sp>
            <p:nvSpPr>
              <p:cNvPr id="70" name="Text Box 35">
                <a:extLst>
                  <a:ext uri="{FF2B5EF4-FFF2-40B4-BE49-F238E27FC236}">
                    <a16:creationId xmlns:a16="http://schemas.microsoft.com/office/drawing/2014/main" id="{70E0A17A-3CCA-49C3-AA19-394247FE62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544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/>
                  <a:t>37     </a:t>
                </a:r>
              </a:p>
            </p:txBody>
          </p:sp>
          <p:sp>
            <p:nvSpPr>
              <p:cNvPr id="71" name="Line 36">
                <a:extLst>
                  <a:ext uri="{FF2B5EF4-FFF2-40B4-BE49-F238E27FC236}">
                    <a16:creationId xmlns:a16="http://schemas.microsoft.com/office/drawing/2014/main" id="{F0D0B7A0-BF93-40A2-82AB-385ACC137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4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" name="Group 69">
              <a:extLst>
                <a:ext uri="{FF2B5EF4-FFF2-40B4-BE49-F238E27FC236}">
                  <a16:creationId xmlns:a16="http://schemas.microsoft.com/office/drawing/2014/main" id="{85B4152D-2BCB-43E1-AEEE-2A8957DAD6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5800" y="2527052"/>
              <a:ext cx="3340100" cy="469900"/>
              <a:chOff x="930" y="1298"/>
              <a:chExt cx="2104" cy="296"/>
            </a:xfrm>
          </p:grpSpPr>
          <p:grpSp>
            <p:nvGrpSpPr>
              <p:cNvPr id="78" name="Group 54">
                <a:extLst>
                  <a:ext uri="{FF2B5EF4-FFF2-40B4-BE49-F238E27FC236}">
                    <a16:creationId xmlns:a16="http://schemas.microsoft.com/office/drawing/2014/main" id="{68B2616C-334B-44CE-BA01-DC44429C6E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1300"/>
                <a:ext cx="1152" cy="294"/>
                <a:chOff x="1536" y="1706"/>
                <a:chExt cx="1152" cy="294"/>
              </a:xfrm>
            </p:grpSpPr>
            <p:grpSp>
              <p:nvGrpSpPr>
                <p:cNvPr id="86" name="Group 7">
                  <a:extLst>
                    <a:ext uri="{FF2B5EF4-FFF2-40B4-BE49-F238E27FC236}">
                      <a16:creationId xmlns:a16="http://schemas.microsoft.com/office/drawing/2014/main" id="{F0393891-3B85-4E01-B9CB-43363C9E63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706"/>
                  <a:ext cx="624" cy="294"/>
                  <a:chOff x="624" y="2544"/>
                  <a:chExt cx="624" cy="294"/>
                </a:xfrm>
              </p:grpSpPr>
              <p:sp>
                <p:nvSpPr>
                  <p:cNvPr id="90" name="Text Box 8">
                    <a:extLst>
                      <a:ext uri="{FF2B5EF4-FFF2-40B4-BE49-F238E27FC236}">
                        <a16:creationId xmlns:a16="http://schemas.microsoft.com/office/drawing/2014/main" id="{6D4309E5-AA9F-43C9-893E-C06D7DD64B6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4" y="2544"/>
                    <a:ext cx="62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0" dirty="0"/>
                      <a:t>17  </a:t>
                    </a:r>
                  </a:p>
                </p:txBody>
              </p:sp>
              <p:sp>
                <p:nvSpPr>
                  <p:cNvPr id="91" name="Line 9">
                    <a:extLst>
                      <a:ext uri="{FF2B5EF4-FFF2-40B4-BE49-F238E27FC236}">
                        <a16:creationId xmlns:a16="http://schemas.microsoft.com/office/drawing/2014/main" id="{1244352B-631F-4DE7-B946-7624B3BEE2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2544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7" name="Group 13">
                  <a:extLst>
                    <a:ext uri="{FF2B5EF4-FFF2-40B4-BE49-F238E27FC236}">
                      <a16:creationId xmlns:a16="http://schemas.microsoft.com/office/drawing/2014/main" id="{0AE0FB68-9270-4CBD-BEA8-66A2D0EC32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1829"/>
                  <a:ext cx="528" cy="48"/>
                  <a:chOff x="1104" y="2667"/>
                  <a:chExt cx="528" cy="48"/>
                </a:xfrm>
              </p:grpSpPr>
              <p:sp>
                <p:nvSpPr>
                  <p:cNvPr id="88" name="Line 14">
                    <a:extLst>
                      <a:ext uri="{FF2B5EF4-FFF2-40B4-BE49-F238E27FC236}">
                        <a16:creationId xmlns:a16="http://schemas.microsoft.com/office/drawing/2014/main" id="{FEA62493-1F3E-4320-B7CA-1BFADBE8A5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688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Oval 15">
                    <a:extLst>
                      <a:ext uri="{FF2B5EF4-FFF2-40B4-BE49-F238E27FC236}">
                        <a16:creationId xmlns:a16="http://schemas.microsoft.com/office/drawing/2014/main" id="{0956D565-BCDD-4AFF-9853-ADD4B8BA97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667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79" name="Group 62">
                <a:extLst>
                  <a:ext uri="{FF2B5EF4-FFF2-40B4-BE49-F238E27FC236}">
                    <a16:creationId xmlns:a16="http://schemas.microsoft.com/office/drawing/2014/main" id="{87B6A979-9F26-4262-AAFF-0E41DA7B54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2" y="1298"/>
                <a:ext cx="1152" cy="294"/>
                <a:chOff x="1536" y="1706"/>
                <a:chExt cx="1152" cy="294"/>
              </a:xfrm>
            </p:grpSpPr>
            <p:grpSp>
              <p:nvGrpSpPr>
                <p:cNvPr id="80" name="Group 63">
                  <a:extLst>
                    <a:ext uri="{FF2B5EF4-FFF2-40B4-BE49-F238E27FC236}">
                      <a16:creationId xmlns:a16="http://schemas.microsoft.com/office/drawing/2014/main" id="{9A202B25-58F1-4D0B-8C97-E9F482611C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706"/>
                  <a:ext cx="624" cy="294"/>
                  <a:chOff x="624" y="2544"/>
                  <a:chExt cx="624" cy="294"/>
                </a:xfrm>
              </p:grpSpPr>
              <p:sp>
                <p:nvSpPr>
                  <p:cNvPr id="84" name="Text Box 64">
                    <a:extLst>
                      <a:ext uri="{FF2B5EF4-FFF2-40B4-BE49-F238E27FC236}">
                        <a16:creationId xmlns:a16="http://schemas.microsoft.com/office/drawing/2014/main" id="{91D5AF6A-5F2D-4578-8C1D-1CDF2D921F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4" y="2544"/>
                    <a:ext cx="62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0" dirty="0"/>
                      <a:t>19  </a:t>
                    </a:r>
                  </a:p>
                </p:txBody>
              </p:sp>
              <p:sp>
                <p:nvSpPr>
                  <p:cNvPr id="85" name="Line 65">
                    <a:extLst>
                      <a:ext uri="{FF2B5EF4-FFF2-40B4-BE49-F238E27FC236}">
                        <a16:creationId xmlns:a16="http://schemas.microsoft.com/office/drawing/2014/main" id="{74F8942B-ADB1-45CD-8187-82CDC09EDA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2544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1" name="Group 66">
                  <a:extLst>
                    <a:ext uri="{FF2B5EF4-FFF2-40B4-BE49-F238E27FC236}">
                      <a16:creationId xmlns:a16="http://schemas.microsoft.com/office/drawing/2014/main" id="{AD9244F9-DC41-483E-843B-106D4681DA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1829"/>
                  <a:ext cx="528" cy="48"/>
                  <a:chOff x="1104" y="2667"/>
                  <a:chExt cx="528" cy="48"/>
                </a:xfrm>
              </p:grpSpPr>
              <p:sp>
                <p:nvSpPr>
                  <p:cNvPr id="82" name="Line 67">
                    <a:extLst>
                      <a:ext uri="{FF2B5EF4-FFF2-40B4-BE49-F238E27FC236}">
                        <a16:creationId xmlns:a16="http://schemas.microsoft.com/office/drawing/2014/main" id="{D27C8F07-6C85-493A-9CEC-A4749AE2DF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688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Oval 68">
                    <a:extLst>
                      <a:ext uri="{FF2B5EF4-FFF2-40B4-BE49-F238E27FC236}">
                        <a16:creationId xmlns:a16="http://schemas.microsoft.com/office/drawing/2014/main" id="{AEFB9443-E622-40C9-9D83-D04AE53BF1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667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</p:grpSp>
        <p:grpSp>
          <p:nvGrpSpPr>
            <p:cNvPr id="96" name="Group 16">
              <a:extLst>
                <a:ext uri="{FF2B5EF4-FFF2-40B4-BE49-F238E27FC236}">
                  <a16:creationId xmlns:a16="http://schemas.microsoft.com/office/drawing/2014/main" id="{6C64B6C7-7A25-4461-8C82-B87F74336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7500" y="2737972"/>
              <a:ext cx="838200" cy="76200"/>
              <a:chOff x="1104" y="2667"/>
              <a:chExt cx="528" cy="48"/>
            </a:xfrm>
          </p:grpSpPr>
          <p:sp>
            <p:nvSpPr>
              <p:cNvPr id="97" name="Line 17">
                <a:extLst>
                  <a:ext uri="{FF2B5EF4-FFF2-40B4-BE49-F238E27FC236}">
                    <a16:creationId xmlns:a16="http://schemas.microsoft.com/office/drawing/2014/main" id="{39FBBF21-2DFA-45A8-B6D3-2AD56B2A9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Oval 18">
                <a:extLst>
                  <a:ext uri="{FF2B5EF4-FFF2-40B4-BE49-F238E27FC236}">
                    <a16:creationId xmlns:a16="http://schemas.microsoft.com/office/drawing/2014/main" id="{638A1CFE-28D8-44D2-93CF-732F6DFF9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667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cxnSp>
          <p:nvCxnSpPr>
            <p:cNvPr id="7" name="连接符: 肘形 6">
              <a:extLst>
                <a:ext uri="{FF2B5EF4-FFF2-40B4-BE49-F238E27FC236}">
                  <a16:creationId xmlns:a16="http://schemas.microsoft.com/office/drawing/2014/main" id="{2C30E883-B060-44F5-930E-41BBDB352000}"/>
                </a:ext>
              </a:extLst>
            </p:cNvPr>
            <p:cNvCxnSpPr>
              <a:cxnSpLocks/>
              <a:stCxn id="97" idx="1"/>
            </p:cNvCxnSpPr>
            <p:nvPr/>
          </p:nvCxnSpPr>
          <p:spPr>
            <a:xfrm rot="16200000" flipV="1">
              <a:off x="4212795" y="-521594"/>
              <a:ext cx="589302" cy="5996508"/>
            </a:xfrm>
            <a:prstGeom prst="bentConnector2">
              <a:avLst/>
            </a:prstGeom>
            <a:ln w="19050">
              <a:solidFill>
                <a:srgbClr val="FF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21">
              <a:extLst>
                <a:ext uri="{FF2B5EF4-FFF2-40B4-BE49-F238E27FC236}">
                  <a16:creationId xmlns:a16="http://schemas.microsoft.com/office/drawing/2014/main" id="{6B7C54DA-1276-4054-8B52-2C47896DB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0380" y="1128260"/>
              <a:ext cx="1219200" cy="1371600"/>
              <a:chOff x="432" y="1536"/>
              <a:chExt cx="768" cy="864"/>
            </a:xfrm>
          </p:grpSpPr>
          <p:sp>
            <p:nvSpPr>
              <p:cNvPr id="107" name="Text Box 22">
                <a:extLst>
                  <a:ext uri="{FF2B5EF4-FFF2-40B4-BE49-F238E27FC236}">
                    <a16:creationId xmlns:a16="http://schemas.microsoft.com/office/drawing/2014/main" id="{49F47122-9EC3-462D-83F2-203586538D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824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b="0"/>
              </a:p>
            </p:txBody>
          </p:sp>
          <p:sp>
            <p:nvSpPr>
              <p:cNvPr id="108" name="Text Box 23">
                <a:extLst>
                  <a:ext uri="{FF2B5EF4-FFF2-40B4-BE49-F238E27FC236}">
                    <a16:creationId xmlns:a16="http://schemas.microsoft.com/office/drawing/2014/main" id="{14F0A078-B93B-40B2-AD7D-B5CEE01DC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536"/>
                <a:ext cx="76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dirty="0" err="1"/>
                  <a:t>lastPtr</a:t>
                </a:r>
                <a:endParaRPr lang="en-US" altLang="zh-CN" b="0" dirty="0"/>
              </a:p>
            </p:txBody>
          </p:sp>
          <p:grpSp>
            <p:nvGrpSpPr>
              <p:cNvPr id="109" name="Group 24">
                <a:extLst>
                  <a:ext uri="{FF2B5EF4-FFF2-40B4-BE49-F238E27FC236}">
                    <a16:creationId xmlns:a16="http://schemas.microsoft.com/office/drawing/2014/main" id="{FC71779F-D162-47C5-9A72-A4FF75335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968"/>
                <a:ext cx="48" cy="432"/>
                <a:chOff x="768" y="1968"/>
                <a:chExt cx="48" cy="432"/>
              </a:xfrm>
            </p:grpSpPr>
            <p:sp>
              <p:nvSpPr>
                <p:cNvPr id="110" name="Oval 25">
                  <a:extLst>
                    <a:ext uri="{FF2B5EF4-FFF2-40B4-BE49-F238E27FC236}">
                      <a16:creationId xmlns:a16="http://schemas.microsoft.com/office/drawing/2014/main" id="{1DB9E5E5-B773-4F3E-99E7-6E4E9553C9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968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1" name="Line 26">
                  <a:extLst>
                    <a:ext uri="{FF2B5EF4-FFF2-40B4-BE49-F238E27FC236}">
                      <a16:creationId xmlns:a16="http://schemas.microsoft.com/office/drawing/2014/main" id="{11324241-9BDE-47DA-A1A2-C86B9A9860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6" y="2016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8333384-EBFA-4B71-A153-D65101D7307C}"/>
                </a:ext>
              </a:extLst>
            </p:cNvPr>
            <p:cNvCxnSpPr/>
            <p:nvPr/>
          </p:nvCxnSpPr>
          <p:spPr>
            <a:xfrm flipH="1">
              <a:off x="1115616" y="1359241"/>
              <a:ext cx="840184" cy="83581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152807DA-9160-416D-8A67-546C611DB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16" y="1443895"/>
              <a:ext cx="840184" cy="63932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53443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15</a:t>
            </a:fld>
            <a:endParaRPr lang="en-US" altLang="zh-CN" sz="1400"/>
          </a:p>
        </p:txBody>
      </p: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44" y="4794507"/>
            <a:ext cx="8784431" cy="1631216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dirty="0"/>
              <a:t>如何只需一个指针，就能操作整个链表？</a:t>
            </a:r>
            <a:endParaRPr lang="en-US" altLang="zh-CN" sz="2000" dirty="0"/>
          </a:p>
          <a:p>
            <a:pPr>
              <a:spcBef>
                <a:spcPct val="50000"/>
              </a:spcBef>
              <a:defRPr/>
            </a:pPr>
            <a:r>
              <a:rPr lang="zh-CN" altLang="en-US" sz="2000" dirty="0"/>
              <a:t>方案</a:t>
            </a:r>
            <a:r>
              <a:rPr lang="en-US" altLang="zh-CN" sz="2000" dirty="0"/>
              <a:t>2</a:t>
            </a:r>
            <a:r>
              <a:rPr lang="zh-CN" altLang="en-US" sz="2000" dirty="0"/>
              <a:t>：将</a:t>
            </a:r>
            <a:r>
              <a:rPr lang="zh-CN" altLang="en-US" sz="2000" dirty="0" smtClean="0"/>
              <a:t>链表结点的</a:t>
            </a:r>
            <a:r>
              <a:rPr lang="zh-CN" altLang="en-US" sz="2000" dirty="0"/>
              <a:t>指针域扩展为包含</a:t>
            </a:r>
            <a:r>
              <a:rPr lang="zh-CN" altLang="en-US" sz="2000" dirty="0" smtClean="0"/>
              <a:t>前驱</a:t>
            </a:r>
            <a:r>
              <a:rPr lang="zh-CN" altLang="en-US" sz="2000" dirty="0"/>
              <a:t>结点</a:t>
            </a:r>
            <a:r>
              <a:rPr lang="zh-CN" altLang="en-US" sz="2000" dirty="0" smtClean="0"/>
              <a:t>指针</a:t>
            </a:r>
            <a:r>
              <a:rPr lang="zh-CN" altLang="en-US" sz="2000" dirty="0"/>
              <a:t>，并且使链表</a:t>
            </a:r>
            <a:r>
              <a:rPr lang="zh-CN" altLang="en-US" sz="2000" dirty="0" smtClean="0"/>
              <a:t>尾结点指向</a:t>
            </a:r>
            <a:r>
              <a:rPr lang="zh-CN" altLang="en-US" sz="2000" dirty="0"/>
              <a:t>链表头的</a:t>
            </a:r>
            <a:r>
              <a:rPr lang="zh-CN" altLang="en-US" sz="2000" dirty="0" smtClean="0"/>
              <a:t>空</a:t>
            </a:r>
            <a:r>
              <a:rPr lang="zh-CN" altLang="en-US" sz="2000" dirty="0"/>
              <a:t>结点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即双向环形链表；</a:t>
            </a:r>
            <a:endParaRPr lang="en-US" altLang="zh-CN" sz="2000" dirty="0"/>
          </a:p>
          <a:p>
            <a:pPr>
              <a:spcBef>
                <a:spcPct val="50000"/>
              </a:spcBef>
              <a:defRPr/>
            </a:pPr>
            <a:r>
              <a:rPr lang="zh-CN" altLang="en-US" sz="2000" dirty="0"/>
              <a:t>这样，头指针</a:t>
            </a:r>
            <a:r>
              <a:rPr lang="zh-CN" altLang="en-US" sz="2000" dirty="0" smtClean="0"/>
              <a:t>指向</a:t>
            </a:r>
            <a:r>
              <a:rPr lang="zh-CN" altLang="en-US" sz="2000" dirty="0"/>
              <a:t>结点</a:t>
            </a:r>
            <a:r>
              <a:rPr lang="zh-CN" altLang="en-US" sz="2000" dirty="0" smtClean="0"/>
              <a:t>的前驱结点即</a:t>
            </a:r>
            <a:r>
              <a:rPr lang="zh-CN" altLang="en-US" sz="2000" dirty="0"/>
              <a:t>是</a:t>
            </a:r>
            <a:r>
              <a:rPr lang="zh-CN" altLang="en-US" sz="2000" dirty="0" smtClean="0"/>
              <a:t>尾结点，</a:t>
            </a:r>
            <a:r>
              <a:rPr lang="zh-CN" altLang="en-US" sz="2000" dirty="0"/>
              <a:t>不再需要尾指针。</a:t>
            </a:r>
            <a:endParaRPr lang="en-US" altLang="zh-CN" sz="2000" dirty="0"/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扩展知识：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9D0A351-FC00-4F2B-9C61-11CCAADE077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97" y="359093"/>
            <a:ext cx="6429335" cy="44764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8663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16</a:t>
            </a:fld>
            <a:endParaRPr lang="en-US" altLang="zh-CN" sz="1400"/>
          </a:p>
        </p:txBody>
      </p:sp>
      <p:grpSp>
        <p:nvGrpSpPr>
          <p:cNvPr id="159748" name="Group 4">
            <a:extLst>
              <a:ext uri="{FF2B5EF4-FFF2-40B4-BE49-F238E27FC236}">
                <a16:creationId xmlns:a16="http://schemas.microsoft.com/office/drawing/2014/main" id="{F4A49444-3292-4BC0-8109-CB7082AE2D17}"/>
              </a:ext>
            </a:extLst>
          </p:cNvPr>
          <p:cNvGrpSpPr>
            <a:grpSpLocks/>
          </p:cNvGrpSpPr>
          <p:nvPr/>
        </p:nvGrpSpPr>
        <p:grpSpPr bwMode="auto">
          <a:xfrm>
            <a:off x="1263650" y="2144713"/>
            <a:ext cx="990600" cy="466725"/>
            <a:chOff x="624" y="2544"/>
            <a:chExt cx="624" cy="294"/>
          </a:xfrm>
        </p:grpSpPr>
        <p:sp>
          <p:nvSpPr>
            <p:cNvPr id="22584" name="Text Box 5">
              <a:extLst>
                <a:ext uri="{FF2B5EF4-FFF2-40B4-BE49-F238E27FC236}">
                  <a16:creationId xmlns:a16="http://schemas.microsoft.com/office/drawing/2014/main" id="{366EADF4-597B-4170-B772-148A4DA31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/>
                <a:t>     </a:t>
              </a:r>
            </a:p>
          </p:txBody>
        </p:sp>
        <p:sp>
          <p:nvSpPr>
            <p:cNvPr id="22585" name="Line 6">
              <a:extLst>
                <a:ext uri="{FF2B5EF4-FFF2-40B4-BE49-F238E27FC236}">
                  <a16:creationId xmlns:a16="http://schemas.microsoft.com/office/drawing/2014/main" id="{19D6E01A-059F-4F52-A199-A9DA5F7E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760" name="Group 16">
            <a:extLst>
              <a:ext uri="{FF2B5EF4-FFF2-40B4-BE49-F238E27FC236}">
                <a16:creationId xmlns:a16="http://schemas.microsoft.com/office/drawing/2014/main" id="{59CDEB69-8366-49B5-96F5-43B745CEFA84}"/>
              </a:ext>
            </a:extLst>
          </p:cNvPr>
          <p:cNvGrpSpPr>
            <a:grpSpLocks/>
          </p:cNvGrpSpPr>
          <p:nvPr/>
        </p:nvGrpSpPr>
        <p:grpSpPr bwMode="auto">
          <a:xfrm rot="2419506" flipV="1">
            <a:off x="1914963" y="2798309"/>
            <a:ext cx="1195853" cy="64706"/>
            <a:chOff x="1104" y="2667"/>
            <a:chExt cx="528" cy="48"/>
          </a:xfrm>
        </p:grpSpPr>
        <p:sp>
          <p:nvSpPr>
            <p:cNvPr id="22580" name="Line 17">
              <a:extLst>
                <a:ext uri="{FF2B5EF4-FFF2-40B4-BE49-F238E27FC236}">
                  <a16:creationId xmlns:a16="http://schemas.microsoft.com/office/drawing/2014/main" id="{FB68CA2C-1EC7-4593-9D06-869E3021F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2581" name="Oval 18">
              <a:extLst>
                <a:ext uri="{FF2B5EF4-FFF2-40B4-BE49-F238E27FC236}">
                  <a16:creationId xmlns:a16="http://schemas.microsoft.com/office/drawing/2014/main" id="{1EB611B3-0A40-4041-BB29-E1AA8B761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67"/>
              <a:ext cx="48" cy="4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59765" name="Group 21">
            <a:extLst>
              <a:ext uri="{FF2B5EF4-FFF2-40B4-BE49-F238E27FC236}">
                <a16:creationId xmlns:a16="http://schemas.microsoft.com/office/drawing/2014/main" id="{D2FDBA3E-4884-4B77-B302-8D4FE12BF4AD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773113"/>
            <a:ext cx="1219200" cy="1371600"/>
            <a:chOff x="432" y="1536"/>
            <a:chExt cx="768" cy="864"/>
          </a:xfrm>
        </p:grpSpPr>
        <p:sp>
          <p:nvSpPr>
            <p:cNvPr id="22575" name="Text Box 22">
              <a:extLst>
                <a:ext uri="{FF2B5EF4-FFF2-40B4-BE49-F238E27FC236}">
                  <a16:creationId xmlns:a16="http://schemas.microsoft.com/office/drawing/2014/main" id="{667E8DC9-993E-4F71-8696-4276A4CF1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24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76" name="Text Box 23">
              <a:extLst>
                <a:ext uri="{FF2B5EF4-FFF2-40B4-BE49-F238E27FC236}">
                  <a16:creationId xmlns:a16="http://schemas.microsoft.com/office/drawing/2014/main" id="{7240E8A0-7097-4986-B686-AE11B6DC0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536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/>
                <a:t>headPtr</a:t>
              </a:r>
            </a:p>
          </p:txBody>
        </p:sp>
        <p:grpSp>
          <p:nvGrpSpPr>
            <p:cNvPr id="22577" name="Group 24">
              <a:extLst>
                <a:ext uri="{FF2B5EF4-FFF2-40B4-BE49-F238E27FC236}">
                  <a16:creationId xmlns:a16="http://schemas.microsoft.com/office/drawing/2014/main" id="{8FB8B37C-275D-42D2-A6D5-C3272CAC7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968"/>
              <a:ext cx="48" cy="432"/>
              <a:chOff x="768" y="1968"/>
              <a:chExt cx="48" cy="432"/>
            </a:xfrm>
          </p:grpSpPr>
          <p:sp>
            <p:nvSpPr>
              <p:cNvPr id="22578" name="Oval 25">
                <a:extLst>
                  <a:ext uri="{FF2B5EF4-FFF2-40B4-BE49-F238E27FC236}">
                    <a16:creationId xmlns:a16="http://schemas.microsoft.com/office/drawing/2014/main" id="{CF1D484F-80F9-405D-B838-792A52725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9" name="Line 26">
                <a:extLst>
                  <a:ext uri="{FF2B5EF4-FFF2-40B4-BE49-F238E27FC236}">
                    <a16:creationId xmlns:a16="http://schemas.microsoft.com/office/drawing/2014/main" id="{2935DE0E-AA09-41A0-8150-F88DA4D23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6" y="201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9824" name="Group 80">
            <a:extLst>
              <a:ext uri="{FF2B5EF4-FFF2-40B4-BE49-F238E27FC236}">
                <a16:creationId xmlns:a16="http://schemas.microsoft.com/office/drawing/2014/main" id="{5A1DA3D5-4038-44D3-BBDA-62839161134F}"/>
              </a:ext>
            </a:extLst>
          </p:cNvPr>
          <p:cNvGrpSpPr>
            <a:grpSpLocks/>
          </p:cNvGrpSpPr>
          <p:nvPr/>
        </p:nvGrpSpPr>
        <p:grpSpPr bwMode="auto">
          <a:xfrm>
            <a:off x="1545085" y="310973"/>
            <a:ext cx="1816885" cy="1791101"/>
            <a:chOff x="2165" y="38"/>
            <a:chExt cx="1354" cy="1597"/>
          </a:xfrm>
        </p:grpSpPr>
        <p:sp>
          <p:nvSpPr>
            <p:cNvPr id="22564" name="Text Box 46">
              <a:extLst>
                <a:ext uri="{FF2B5EF4-FFF2-40B4-BE49-F238E27FC236}">
                  <a16:creationId xmlns:a16="http://schemas.microsoft.com/office/drawing/2014/main" id="{4CF4E6A3-F74B-4BED-B4CB-49D18F1AF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" y="76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65" name="Text Box 47">
              <a:extLst>
                <a:ext uri="{FF2B5EF4-FFF2-40B4-BE49-F238E27FC236}">
                  <a16:creationId xmlns:a16="http://schemas.microsoft.com/office/drawing/2014/main" id="{9FCC89BE-BD16-4AE0-A374-2754805CF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38"/>
              <a:ext cx="11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/>
                <a:t>   </a:t>
              </a:r>
              <a:r>
                <a:rPr lang="en-US" altLang="zh-CN" b="0" dirty="0" err="1"/>
                <a:t>previousPtr</a:t>
              </a:r>
              <a:endParaRPr lang="en-US" altLang="zh-CN" b="0" dirty="0"/>
            </a:p>
          </p:txBody>
        </p:sp>
        <p:sp>
          <p:nvSpPr>
            <p:cNvPr id="22566" name="Oval 49">
              <a:extLst>
                <a:ext uri="{FF2B5EF4-FFF2-40B4-BE49-F238E27FC236}">
                  <a16:creationId xmlns:a16="http://schemas.microsoft.com/office/drawing/2014/main" id="{8FD8DFDE-0A74-463D-969A-AFB235872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9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9795" name="Line 51">
              <a:extLst>
                <a:ext uri="{FF2B5EF4-FFF2-40B4-BE49-F238E27FC236}">
                  <a16:creationId xmlns:a16="http://schemas.microsoft.com/office/drawing/2014/main" id="{6CBF55F9-EFC6-4F59-B70C-C972D714A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5" y="935"/>
              <a:ext cx="714" cy="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064" y="3616166"/>
            <a:ext cx="8351837" cy="2708434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dirty="0"/>
              <a:t>新增的结点需要插入到链表头 </a:t>
            </a:r>
            <a:r>
              <a:rPr lang="en-US" altLang="zh-CN" sz="2000" dirty="0"/>
              <a:t>/ </a:t>
            </a:r>
            <a:r>
              <a:rPr lang="zh-CN" altLang="en-US" sz="2000" dirty="0" smtClean="0"/>
              <a:t>空</a:t>
            </a:r>
            <a:r>
              <a:rPr lang="zh-CN" altLang="en-US" sz="2000" dirty="0"/>
              <a:t>结点</a:t>
            </a:r>
            <a:r>
              <a:rPr lang="zh-CN" altLang="en-US" sz="2000" dirty="0" smtClean="0"/>
              <a:t>后面</a:t>
            </a:r>
            <a:r>
              <a:rPr lang="zh-CN" altLang="en-US" sz="2000" dirty="0"/>
              <a:t>；</a:t>
            </a:r>
          </a:p>
          <a:p>
            <a:pPr marL="457200" indent="-457200">
              <a:spcBef>
                <a:spcPct val="50000"/>
              </a:spcBef>
              <a:buAutoNum type="arabicParenBoth"/>
              <a:defRPr/>
            </a:pPr>
            <a:r>
              <a:rPr lang="zh-CN" altLang="en-US" sz="2000" dirty="0" smtClean="0"/>
              <a:t>前驱结点是</a:t>
            </a:r>
            <a:r>
              <a:rPr lang="zh-CN" altLang="en-US" sz="2000" dirty="0"/>
              <a:t>空结点，</a:t>
            </a:r>
            <a:r>
              <a:rPr lang="zh-CN" altLang="en-US" sz="2000" dirty="0" smtClean="0"/>
              <a:t>后继结点是</a:t>
            </a:r>
            <a:r>
              <a:rPr lang="zh-CN" altLang="en-US" sz="2000" dirty="0"/>
              <a:t>第一个元素结点；</a:t>
            </a:r>
            <a:endParaRPr lang="en-US" altLang="zh-CN" sz="2000" dirty="0"/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/>
              <a:t>(2)</a:t>
            </a:r>
            <a:r>
              <a:rPr lang="zh-CN" altLang="en-US" sz="2000" dirty="0"/>
              <a:t>使前驱指向新结点，</a:t>
            </a:r>
            <a:r>
              <a:rPr lang="zh-CN" altLang="en-US" sz="2000" dirty="0" smtClean="0"/>
              <a:t>新结点指向</a:t>
            </a:r>
            <a:r>
              <a:rPr lang="zh-CN" altLang="en-US" sz="2000" dirty="0"/>
              <a:t>后继结点；</a:t>
            </a:r>
            <a:endParaRPr lang="en-US" altLang="zh-CN" sz="2000" dirty="0"/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 err="1"/>
              <a:t>headPtr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newPtr</a:t>
            </a:r>
            <a:r>
              <a:rPr lang="en-US" altLang="zh-CN" sz="2000" dirty="0"/>
              <a:t>;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 err="1"/>
              <a:t>newPtr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;</a:t>
            </a:r>
          </a:p>
        </p:txBody>
      </p:sp>
      <p:grpSp>
        <p:nvGrpSpPr>
          <p:cNvPr id="159818" name="Group 74">
            <a:extLst>
              <a:ext uri="{FF2B5EF4-FFF2-40B4-BE49-F238E27FC236}">
                <a16:creationId xmlns:a16="http://schemas.microsoft.com/office/drawing/2014/main" id="{979648D6-90A2-4EAD-B126-839C018F2D16}"/>
              </a:ext>
            </a:extLst>
          </p:cNvPr>
          <p:cNvGrpSpPr>
            <a:grpSpLocks/>
          </p:cNvGrpSpPr>
          <p:nvPr/>
        </p:nvGrpSpPr>
        <p:grpSpPr bwMode="auto">
          <a:xfrm>
            <a:off x="2654716" y="919177"/>
            <a:ext cx="1508125" cy="1224368"/>
            <a:chOff x="1655" y="1162"/>
            <a:chExt cx="950" cy="956"/>
          </a:xfrm>
        </p:grpSpPr>
        <p:sp>
          <p:nvSpPr>
            <p:cNvPr id="22543" name="Text Box 75">
              <a:extLst>
                <a:ext uri="{FF2B5EF4-FFF2-40B4-BE49-F238E27FC236}">
                  <a16:creationId xmlns:a16="http://schemas.microsoft.com/office/drawing/2014/main" id="{FC22A2F9-54E4-427F-99D7-C870E4E24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6" y="145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0"/>
            </a:p>
          </p:txBody>
        </p:sp>
        <p:sp>
          <p:nvSpPr>
            <p:cNvPr id="22544" name="Text Box 76">
              <a:extLst>
                <a:ext uri="{FF2B5EF4-FFF2-40B4-BE49-F238E27FC236}">
                  <a16:creationId xmlns:a16="http://schemas.microsoft.com/office/drawing/2014/main" id="{523FC504-851D-4E5E-8CA7-448A253A0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162"/>
              <a:ext cx="9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dirty="0" err="1"/>
                <a:t>currentPtr</a:t>
              </a:r>
              <a:endParaRPr lang="en-US" altLang="zh-CN" b="0" dirty="0"/>
            </a:p>
          </p:txBody>
        </p:sp>
        <p:grpSp>
          <p:nvGrpSpPr>
            <p:cNvPr id="22545" name="Group 77">
              <a:extLst>
                <a:ext uri="{FF2B5EF4-FFF2-40B4-BE49-F238E27FC236}">
                  <a16:creationId xmlns:a16="http://schemas.microsoft.com/office/drawing/2014/main" id="{9E0BD45A-18CB-44FB-8C46-61E0EE545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8" y="1594"/>
              <a:ext cx="180" cy="524"/>
              <a:chOff x="636" y="1968"/>
              <a:chExt cx="180" cy="524"/>
            </a:xfrm>
          </p:grpSpPr>
          <p:sp>
            <p:nvSpPr>
              <p:cNvPr id="22546" name="Oval 78">
                <a:extLst>
                  <a:ext uri="{FF2B5EF4-FFF2-40B4-BE49-F238E27FC236}">
                    <a16:creationId xmlns:a16="http://schemas.microsoft.com/office/drawing/2014/main" id="{9A659170-9588-43EB-9DF8-1D47D9DDC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47" name="Line 79">
                <a:extLst>
                  <a:ext uri="{FF2B5EF4-FFF2-40B4-BE49-F238E27FC236}">
                    <a16:creationId xmlns:a16="http://schemas.microsoft.com/office/drawing/2014/main" id="{124A9B90-B84D-4C07-8003-1B641EF64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6" y="2016"/>
                <a:ext cx="150" cy="4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－头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3AE86DD-6288-4DE1-B318-D5CA4902E777}"/>
              </a:ext>
            </a:extLst>
          </p:cNvPr>
          <p:cNvGrpSpPr/>
          <p:nvPr/>
        </p:nvGrpSpPr>
        <p:grpSpPr>
          <a:xfrm>
            <a:off x="1955800" y="2141538"/>
            <a:ext cx="3340100" cy="469900"/>
            <a:chOff x="1955800" y="2141538"/>
            <a:chExt cx="3340100" cy="469900"/>
          </a:xfrm>
        </p:grpSpPr>
        <p:grpSp>
          <p:nvGrpSpPr>
            <p:cNvPr id="159813" name="Group 69">
              <a:extLst>
                <a:ext uri="{FF2B5EF4-FFF2-40B4-BE49-F238E27FC236}">
                  <a16:creationId xmlns:a16="http://schemas.microsoft.com/office/drawing/2014/main" id="{62A6C776-B96F-4495-8C31-19241B34C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5800" y="2141538"/>
              <a:ext cx="3340100" cy="469900"/>
              <a:chOff x="930" y="1298"/>
              <a:chExt cx="2104" cy="296"/>
            </a:xfrm>
          </p:grpSpPr>
          <p:grpSp>
            <p:nvGrpSpPr>
              <p:cNvPr id="22550" name="Group 54">
                <a:extLst>
                  <a:ext uri="{FF2B5EF4-FFF2-40B4-BE49-F238E27FC236}">
                    <a16:creationId xmlns:a16="http://schemas.microsoft.com/office/drawing/2014/main" id="{D66DE6B6-ADEC-41D4-BAC1-E4C94AC171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1300"/>
                <a:ext cx="1152" cy="294"/>
                <a:chOff x="1536" y="1706"/>
                <a:chExt cx="1152" cy="294"/>
              </a:xfrm>
            </p:grpSpPr>
            <p:grpSp>
              <p:nvGrpSpPr>
                <p:cNvPr id="22558" name="Group 7">
                  <a:extLst>
                    <a:ext uri="{FF2B5EF4-FFF2-40B4-BE49-F238E27FC236}">
                      <a16:creationId xmlns:a16="http://schemas.microsoft.com/office/drawing/2014/main" id="{531B2F2F-D6FB-447D-96A0-6C71E747C9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706"/>
                  <a:ext cx="624" cy="294"/>
                  <a:chOff x="624" y="2544"/>
                  <a:chExt cx="624" cy="294"/>
                </a:xfrm>
              </p:grpSpPr>
              <p:sp>
                <p:nvSpPr>
                  <p:cNvPr id="22562" name="Text Box 8">
                    <a:extLst>
                      <a:ext uri="{FF2B5EF4-FFF2-40B4-BE49-F238E27FC236}">
                        <a16:creationId xmlns:a16="http://schemas.microsoft.com/office/drawing/2014/main" id="{8C2436C6-E40F-4337-812B-DF04F6F13CB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4" y="2544"/>
                    <a:ext cx="62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0" dirty="0"/>
                      <a:t>17  </a:t>
                    </a:r>
                  </a:p>
                </p:txBody>
              </p:sp>
              <p:sp>
                <p:nvSpPr>
                  <p:cNvPr id="22563" name="Line 9">
                    <a:extLst>
                      <a:ext uri="{FF2B5EF4-FFF2-40B4-BE49-F238E27FC236}">
                        <a16:creationId xmlns:a16="http://schemas.microsoft.com/office/drawing/2014/main" id="{40801355-DB8A-486A-97FA-A6A50B31C2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2544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559" name="Group 13">
                  <a:extLst>
                    <a:ext uri="{FF2B5EF4-FFF2-40B4-BE49-F238E27FC236}">
                      <a16:creationId xmlns:a16="http://schemas.microsoft.com/office/drawing/2014/main" id="{7842AB5B-3E3B-4E9E-ABFF-EF964C870D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1829"/>
                  <a:ext cx="528" cy="48"/>
                  <a:chOff x="1104" y="2667"/>
                  <a:chExt cx="528" cy="48"/>
                </a:xfrm>
              </p:grpSpPr>
              <p:sp>
                <p:nvSpPr>
                  <p:cNvPr id="22560" name="Line 14">
                    <a:extLst>
                      <a:ext uri="{FF2B5EF4-FFF2-40B4-BE49-F238E27FC236}">
                        <a16:creationId xmlns:a16="http://schemas.microsoft.com/office/drawing/2014/main" id="{66FEC860-505A-435A-93F2-78FB01D36A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688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61" name="Oval 15">
                    <a:extLst>
                      <a:ext uri="{FF2B5EF4-FFF2-40B4-BE49-F238E27FC236}">
                        <a16:creationId xmlns:a16="http://schemas.microsoft.com/office/drawing/2014/main" id="{E5BEA220-6A04-4396-B801-EAF0694BC4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667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22551" name="Group 62">
                <a:extLst>
                  <a:ext uri="{FF2B5EF4-FFF2-40B4-BE49-F238E27FC236}">
                    <a16:creationId xmlns:a16="http://schemas.microsoft.com/office/drawing/2014/main" id="{91457D32-2C5E-44B6-B30B-95600A13E9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2" y="1298"/>
                <a:ext cx="1152" cy="294"/>
                <a:chOff x="1536" y="1706"/>
                <a:chExt cx="1152" cy="294"/>
              </a:xfrm>
            </p:grpSpPr>
            <p:grpSp>
              <p:nvGrpSpPr>
                <p:cNvPr id="22552" name="Group 63">
                  <a:extLst>
                    <a:ext uri="{FF2B5EF4-FFF2-40B4-BE49-F238E27FC236}">
                      <a16:creationId xmlns:a16="http://schemas.microsoft.com/office/drawing/2014/main" id="{0F4BF254-504A-4CA7-A8BA-3DDE02F01E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706"/>
                  <a:ext cx="624" cy="294"/>
                  <a:chOff x="624" y="2544"/>
                  <a:chExt cx="624" cy="294"/>
                </a:xfrm>
              </p:grpSpPr>
              <p:sp>
                <p:nvSpPr>
                  <p:cNvPr id="22556" name="Text Box 64">
                    <a:extLst>
                      <a:ext uri="{FF2B5EF4-FFF2-40B4-BE49-F238E27FC236}">
                        <a16:creationId xmlns:a16="http://schemas.microsoft.com/office/drawing/2014/main" id="{F0E8D1E2-C7D0-4418-AEB6-862B562DA0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4" y="2544"/>
                    <a:ext cx="62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0" dirty="0"/>
                      <a:t>19  </a:t>
                    </a:r>
                  </a:p>
                </p:txBody>
              </p:sp>
              <p:sp>
                <p:nvSpPr>
                  <p:cNvPr id="22557" name="Line 65">
                    <a:extLst>
                      <a:ext uri="{FF2B5EF4-FFF2-40B4-BE49-F238E27FC236}">
                        <a16:creationId xmlns:a16="http://schemas.microsoft.com/office/drawing/2014/main" id="{1B5CBFD3-A95C-4870-9F58-EFB1F4048A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2544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553" name="Group 66">
                  <a:extLst>
                    <a:ext uri="{FF2B5EF4-FFF2-40B4-BE49-F238E27FC236}">
                      <a16:creationId xmlns:a16="http://schemas.microsoft.com/office/drawing/2014/main" id="{8AB80D2E-21B4-4FA8-801D-7A613DDBFB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1829"/>
                  <a:ext cx="528" cy="48"/>
                  <a:chOff x="1104" y="2667"/>
                  <a:chExt cx="528" cy="48"/>
                </a:xfrm>
              </p:grpSpPr>
              <p:sp>
                <p:nvSpPr>
                  <p:cNvPr id="22554" name="Line 67">
                    <a:extLst>
                      <a:ext uri="{FF2B5EF4-FFF2-40B4-BE49-F238E27FC236}">
                        <a16:creationId xmlns:a16="http://schemas.microsoft.com/office/drawing/2014/main" id="{9773F3D1-D023-40B3-A8D0-146090C6B1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688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55" name="Oval 68">
                    <a:extLst>
                      <a:ext uri="{FF2B5EF4-FFF2-40B4-BE49-F238E27FC236}">
                        <a16:creationId xmlns:a16="http://schemas.microsoft.com/office/drawing/2014/main" id="{E903949A-343B-424E-BD19-5888FB0972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667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</p:grp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8847978-0CE6-4FCD-81B5-A002E866E07C}"/>
                </a:ext>
              </a:extLst>
            </p:cNvPr>
            <p:cNvCxnSpPr>
              <a:stCxn id="22556" idx="0"/>
            </p:cNvCxnSpPr>
            <p:nvPr/>
          </p:nvCxnSpPr>
          <p:spPr>
            <a:xfrm>
              <a:off x="4800600" y="2141538"/>
              <a:ext cx="495300" cy="4487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60">
            <a:extLst>
              <a:ext uri="{FF2B5EF4-FFF2-40B4-BE49-F238E27FC236}">
                <a16:creationId xmlns:a16="http://schemas.microsoft.com/office/drawing/2014/main" id="{D6C6D9A0-0FA2-4B3E-BD00-8C7C2520DD5D}"/>
              </a:ext>
            </a:extLst>
          </p:cNvPr>
          <p:cNvGrpSpPr>
            <a:grpSpLocks/>
          </p:cNvGrpSpPr>
          <p:nvPr/>
        </p:nvGrpSpPr>
        <p:grpSpPr bwMode="auto">
          <a:xfrm>
            <a:off x="1247746" y="2704941"/>
            <a:ext cx="2438400" cy="845938"/>
            <a:chOff x="0" y="0"/>
            <a:chExt cx="1536" cy="582"/>
          </a:xfrm>
        </p:grpSpPr>
        <p:grpSp>
          <p:nvGrpSpPr>
            <p:cNvPr id="56" name="Group 61">
              <a:extLst>
                <a:ext uri="{FF2B5EF4-FFF2-40B4-BE49-F238E27FC236}">
                  <a16:creationId xmlns:a16="http://schemas.microsoft.com/office/drawing/2014/main" id="{7BFBB453-F293-440D-B14D-CD24C438A3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288"/>
              <a:ext cx="624" cy="294"/>
              <a:chOff x="0" y="0"/>
              <a:chExt cx="624" cy="294"/>
            </a:xfrm>
          </p:grpSpPr>
          <p:sp>
            <p:nvSpPr>
              <p:cNvPr id="64" name="Text Box 62">
                <a:extLst>
                  <a:ext uri="{FF2B5EF4-FFF2-40B4-BE49-F238E27FC236}">
                    <a16:creationId xmlns:a16="http://schemas.microsoft.com/office/drawing/2014/main" id="{84D173F2-0BAE-430B-B190-F2F59EE4DC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27</a:t>
                </a:r>
              </a:p>
            </p:txBody>
          </p:sp>
          <p:sp>
            <p:nvSpPr>
              <p:cNvPr id="65" name="Line 63">
                <a:extLst>
                  <a:ext uri="{FF2B5EF4-FFF2-40B4-BE49-F238E27FC236}">
                    <a16:creationId xmlns:a16="http://schemas.microsoft.com/office/drawing/2014/main" id="{4FEBD6F4-70D2-4381-88DC-61DEB2C266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" name="Group 64">
              <a:extLst>
                <a:ext uri="{FF2B5EF4-FFF2-40B4-BE49-F238E27FC236}">
                  <a16:creationId xmlns:a16="http://schemas.microsoft.com/office/drawing/2014/main" id="{ACD6BDC8-6DFB-487A-A133-6B4CE6570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582"/>
              <a:chOff x="0" y="0"/>
              <a:chExt cx="912" cy="582"/>
            </a:xfrm>
          </p:grpSpPr>
          <p:sp>
            <p:nvSpPr>
              <p:cNvPr id="59" name="Oval 65">
                <a:extLst>
                  <a:ext uri="{FF2B5EF4-FFF2-40B4-BE49-F238E27FC236}">
                    <a16:creationId xmlns:a16="http://schemas.microsoft.com/office/drawing/2014/main" id="{4DFC9319-7F52-4FF3-9AFA-8FDF212DB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" y="390"/>
                <a:ext cx="57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0" name="Group 66">
                <a:extLst>
                  <a:ext uri="{FF2B5EF4-FFF2-40B4-BE49-F238E27FC236}">
                    <a16:creationId xmlns:a16="http://schemas.microsoft.com/office/drawing/2014/main" id="{52D2669D-97A2-49DF-A46B-9B151C82DD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12" cy="582"/>
                <a:chOff x="0" y="0"/>
                <a:chExt cx="912" cy="582"/>
              </a:xfrm>
            </p:grpSpPr>
            <p:sp>
              <p:nvSpPr>
                <p:cNvPr id="61" name="Text Box 67">
                  <a:extLst>
                    <a:ext uri="{FF2B5EF4-FFF2-40B4-BE49-F238E27FC236}">
                      <a16:creationId xmlns:a16="http://schemas.microsoft.com/office/drawing/2014/main" id="{30CA5F82-72B3-4EAD-946C-629D688E07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" y="288"/>
                  <a:ext cx="39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" name="Text Box 68">
                  <a:extLst>
                    <a:ext uri="{FF2B5EF4-FFF2-40B4-BE49-F238E27FC236}">
                      <a16:creationId xmlns:a16="http://schemas.microsoft.com/office/drawing/2014/main" id="{B36ACE5B-3C49-4C02-8E78-B6E73067AB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9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0" dirty="0">
                      <a:latin typeface="Times New Roman" panose="02020603050405020304" pitchFamily="18" charset="0"/>
                    </a:rPr>
                    <a:t>   </a:t>
                  </a:r>
                  <a:r>
                    <a:rPr lang="en-US" altLang="zh-CN" sz="2400" b="0" dirty="0" err="1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newPtr</a:t>
                  </a:r>
                  <a:endParaRPr lang="en-US" altLang="zh-CN" sz="2400" b="0" dirty="0">
                    <a:solidFill>
                      <a:srgbClr val="FF33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3" name="Line 69">
                  <a:extLst>
                    <a:ext uri="{FF2B5EF4-FFF2-40B4-BE49-F238E27FC236}">
                      <a16:creationId xmlns:a16="http://schemas.microsoft.com/office/drawing/2014/main" id="{05135E0F-742D-440D-9932-861003974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43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66" name="Group 16">
            <a:extLst>
              <a:ext uri="{FF2B5EF4-FFF2-40B4-BE49-F238E27FC236}">
                <a16:creationId xmlns:a16="http://schemas.microsoft.com/office/drawing/2014/main" id="{7060FF75-4E22-4B17-A799-6F652A74842E}"/>
              </a:ext>
            </a:extLst>
          </p:cNvPr>
          <p:cNvGrpSpPr>
            <a:grpSpLocks/>
          </p:cNvGrpSpPr>
          <p:nvPr/>
        </p:nvGrpSpPr>
        <p:grpSpPr bwMode="auto">
          <a:xfrm rot="13731382">
            <a:off x="2953434" y="2844853"/>
            <a:ext cx="722774" cy="45719"/>
            <a:chOff x="1104" y="2667"/>
            <a:chExt cx="528" cy="48"/>
          </a:xfrm>
        </p:grpSpPr>
        <p:sp>
          <p:nvSpPr>
            <p:cNvPr id="67" name="Line 17">
              <a:extLst>
                <a:ext uri="{FF2B5EF4-FFF2-40B4-BE49-F238E27FC236}">
                  <a16:creationId xmlns:a16="http://schemas.microsoft.com/office/drawing/2014/main" id="{13E6532F-A665-428B-85C2-33971BDA2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8" name="Oval 18">
              <a:extLst>
                <a:ext uri="{FF2B5EF4-FFF2-40B4-BE49-F238E27FC236}">
                  <a16:creationId xmlns:a16="http://schemas.microsoft.com/office/drawing/2014/main" id="{99673D49-CA51-47B2-9A38-E0B57D4F5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67"/>
              <a:ext cx="48" cy="4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69" name="Group 49">
            <a:extLst>
              <a:ext uri="{FF2B5EF4-FFF2-40B4-BE49-F238E27FC236}">
                <a16:creationId xmlns:a16="http://schemas.microsoft.com/office/drawing/2014/main" id="{E2D4B80A-608C-47AC-AC99-B40C47AD6CFA}"/>
              </a:ext>
            </a:extLst>
          </p:cNvPr>
          <p:cNvGrpSpPr>
            <a:grpSpLocks/>
          </p:cNvGrpSpPr>
          <p:nvPr/>
        </p:nvGrpSpPr>
        <p:grpSpPr bwMode="auto">
          <a:xfrm>
            <a:off x="2325688" y="2163121"/>
            <a:ext cx="341313" cy="457200"/>
            <a:chOff x="0" y="0"/>
            <a:chExt cx="192" cy="288"/>
          </a:xfrm>
        </p:grpSpPr>
        <p:sp>
          <p:nvSpPr>
            <p:cNvPr id="70" name="Line 50">
              <a:extLst>
                <a:ext uri="{FF2B5EF4-FFF2-40B4-BE49-F238E27FC236}">
                  <a16:creationId xmlns:a16="http://schemas.microsoft.com/office/drawing/2014/main" id="{64C16EA1-AA96-4543-8B61-5D878CA05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192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1">
              <a:extLst>
                <a:ext uri="{FF2B5EF4-FFF2-40B4-BE49-F238E27FC236}">
                  <a16:creationId xmlns:a16="http://schemas.microsoft.com/office/drawing/2014/main" id="{633A1732-5372-4FBD-A194-A18D00A4D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"/>
              <a:ext cx="192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72887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9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3">
            <a:extLst>
              <a:ext uri="{FF2B5EF4-FFF2-40B4-BE49-F238E27FC236}">
                <a16:creationId xmlns:a16="http://schemas.microsoft.com/office/drawing/2014/main" id="{9C940483-F973-4DFB-A139-F781117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404813"/>
            <a:ext cx="5833343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－头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DB0CD740-9251-4001-90A0-E336B8E2D6F3}"/>
              </a:ext>
            </a:extLst>
          </p:cNvPr>
          <p:cNvSpPr txBox="1">
            <a:spLocks/>
          </p:cNvSpPr>
          <p:nvPr/>
        </p:nvSpPr>
        <p:spPr>
          <a:xfrm>
            <a:off x="539552" y="1196752"/>
            <a:ext cx="7772400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/*</a:t>
            </a:r>
            <a:r>
              <a:rPr lang="zh-CN" altLang="en-US" sz="2000" b="0" dirty="0"/>
              <a:t>把一个新值插入到链表头部*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void </a:t>
            </a:r>
            <a:r>
              <a:rPr lang="en-US" altLang="zh-CN" sz="2000" b="0" dirty="0" err="1"/>
              <a:t>insertFront</a:t>
            </a:r>
            <a:r>
              <a:rPr lang="en-US" altLang="zh-CN" sz="2000" b="0" dirty="0"/>
              <a:t> (LISTNODEPTR </a:t>
            </a:r>
            <a:r>
              <a:rPr lang="en-US" altLang="zh-CN" sz="2000" b="0" dirty="0" err="1"/>
              <a:t>headPtr</a:t>
            </a:r>
            <a:r>
              <a:rPr lang="en-US" altLang="zh-CN" sz="2000" b="0" dirty="0"/>
              <a:t> ,</a:t>
            </a:r>
            <a:r>
              <a:rPr lang="zh-CN" altLang="en-US" sz="2000" b="0" dirty="0"/>
              <a:t> </a:t>
            </a:r>
            <a:r>
              <a:rPr lang="en-US" altLang="zh-CN" sz="2000" b="0" dirty="0" err="1"/>
              <a:t>ElementType</a:t>
            </a:r>
            <a:r>
              <a:rPr lang="en-US" altLang="zh-CN" sz="2000" b="0" dirty="0"/>
              <a:t> value){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LISTNODEPTR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,</a:t>
            </a:r>
            <a:r>
              <a:rPr lang="zh-CN" altLang="en-US" sz="2000" b="0" dirty="0"/>
              <a:t>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None/>
            </a:pPr>
            <a:r>
              <a:rPr lang="en-US" altLang="zh-CN" sz="2000" b="0" dirty="0"/>
              <a:t>	/*</a:t>
            </a:r>
            <a:r>
              <a:rPr lang="zh-CN" altLang="en-US" sz="2000" b="0" dirty="0"/>
              <a:t>动态分配</a:t>
            </a:r>
            <a:r>
              <a:rPr lang="zh-CN" altLang="en-US" sz="2000" b="0" dirty="0" smtClean="0"/>
              <a:t>新结点</a:t>
            </a:r>
            <a:r>
              <a:rPr lang="zh-CN" altLang="en-US" sz="2000" b="0" dirty="0"/>
              <a:t>，将新值存入</a:t>
            </a:r>
            <a:r>
              <a:rPr lang="en-US" altLang="zh-CN" sz="2000" b="0" dirty="0"/>
              <a:t>*/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= malloc(</a:t>
            </a:r>
            <a:r>
              <a:rPr lang="en-US" altLang="zh-CN" sz="2000" b="0" dirty="0" err="1"/>
              <a:t>sizeof</a:t>
            </a:r>
            <a:r>
              <a:rPr lang="en-US" altLang="zh-CN" sz="2000" b="0" dirty="0"/>
              <a:t>(LISTNODE));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if (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!= NULL){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-&gt;data = value;</a:t>
            </a:r>
          </a:p>
          <a:p>
            <a:pPr marL="0" indent="0">
              <a:buNone/>
            </a:pPr>
            <a:r>
              <a:rPr lang="en-US" altLang="zh-CN" sz="2000" b="0" dirty="0"/>
              <a:t>		/*</a:t>
            </a:r>
            <a:r>
              <a:rPr lang="zh-CN" altLang="en-US" sz="2000" b="0" dirty="0"/>
              <a:t>直接在空结点后链接新结点</a:t>
            </a:r>
            <a:r>
              <a:rPr lang="en-US" altLang="zh-CN" sz="2000" b="0" dirty="0" smtClean="0"/>
              <a:t>*/</a:t>
            </a:r>
            <a:endParaRPr lang="en-US" altLang="zh-CN" sz="2000" b="0" dirty="0"/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headPtr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headPtr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}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else 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    </a:t>
            </a:r>
            <a:r>
              <a:rPr lang="en-US" altLang="zh-CN" sz="2000" b="0" dirty="0" err="1"/>
              <a:t>printf</a:t>
            </a:r>
            <a:r>
              <a:rPr lang="en-US" altLang="zh-CN" sz="2000" b="0" dirty="0"/>
              <a:t>("Not inserted. No memory </a:t>
            </a:r>
            <a:r>
              <a:rPr lang="en-US" altLang="zh-CN" sz="2000" b="0" dirty="0" err="1"/>
              <a:t>avaliable</a:t>
            </a:r>
            <a:r>
              <a:rPr lang="en-US" altLang="zh-CN" sz="2000" b="0" dirty="0"/>
              <a:t>.\n");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9465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18</a:t>
            </a:fld>
            <a:endParaRPr lang="en-US" altLang="zh-CN" sz="1400"/>
          </a:p>
        </p:txBody>
      </p: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064" y="3616166"/>
            <a:ext cx="8351837" cy="255454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dirty="0"/>
              <a:t>新增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结点</a:t>
            </a:r>
            <a:r>
              <a:rPr lang="zh-CN" altLang="en-US" sz="2000" dirty="0" smtClean="0"/>
              <a:t>需要</a:t>
            </a:r>
            <a:r>
              <a:rPr lang="zh-CN" altLang="en-US" sz="2000" dirty="0"/>
              <a:t>按数值顺序插入到链表中第一个大于其值的结点前面；</a:t>
            </a:r>
          </a:p>
          <a:p>
            <a:pPr marL="457200" indent="-457200">
              <a:spcBef>
                <a:spcPct val="50000"/>
              </a:spcBef>
              <a:buAutoNum type="arabicParenBoth"/>
              <a:defRPr/>
            </a:pPr>
            <a:r>
              <a:rPr lang="zh-CN" altLang="en-US" sz="2000" dirty="0"/>
              <a:t>从头遍历链表，直到找到第一个元素值大于插入值的结点，并记录前驱结点；</a:t>
            </a:r>
            <a:endParaRPr lang="en-US" altLang="zh-CN" sz="2000" dirty="0"/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/>
              <a:t>(2)</a:t>
            </a:r>
            <a:r>
              <a:rPr lang="zh-CN" altLang="en-US" sz="2000" dirty="0"/>
              <a:t>使前驱指向新结点，</a:t>
            </a:r>
            <a:r>
              <a:rPr lang="zh-CN" altLang="en-US" sz="2000" dirty="0" smtClean="0"/>
              <a:t>新结点指向</a:t>
            </a:r>
            <a:r>
              <a:rPr lang="zh-CN" altLang="en-US" sz="2000" dirty="0"/>
              <a:t>后继结点；</a:t>
            </a:r>
            <a:endParaRPr lang="en-US" altLang="zh-CN" sz="2000" dirty="0"/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 err="1"/>
              <a:t>previousPtr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newPtr</a:t>
            </a:r>
            <a:r>
              <a:rPr lang="en-US" altLang="zh-CN" sz="2000" dirty="0"/>
              <a:t>;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000" dirty="0" err="1"/>
              <a:t>newPtr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;</a:t>
            </a:r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－有序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</p:txBody>
      </p:sp>
      <p:grpSp>
        <p:nvGrpSpPr>
          <p:cNvPr id="72" name="Group 28">
            <a:extLst>
              <a:ext uri="{FF2B5EF4-FFF2-40B4-BE49-F238E27FC236}">
                <a16:creationId xmlns:a16="http://schemas.microsoft.com/office/drawing/2014/main" id="{F758DB59-53E7-4AA4-A398-AC33C928863C}"/>
              </a:ext>
            </a:extLst>
          </p:cNvPr>
          <p:cNvGrpSpPr>
            <a:grpSpLocks/>
          </p:cNvGrpSpPr>
          <p:nvPr/>
        </p:nvGrpSpPr>
        <p:grpSpPr bwMode="auto">
          <a:xfrm>
            <a:off x="1936750" y="2136304"/>
            <a:ext cx="1111250" cy="466725"/>
            <a:chOff x="0" y="0"/>
            <a:chExt cx="624" cy="294"/>
          </a:xfrm>
        </p:grpSpPr>
        <p:sp>
          <p:nvSpPr>
            <p:cNvPr id="73" name="Text Box 29">
              <a:extLst>
                <a:ext uri="{FF2B5EF4-FFF2-40B4-BE49-F238E27FC236}">
                  <a16:creationId xmlns:a16="http://schemas.microsoft.com/office/drawing/2014/main" id="{3A118777-3F23-4779-BF50-CB93766FC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74" name="Line 30">
              <a:extLst>
                <a:ext uri="{FF2B5EF4-FFF2-40B4-BE49-F238E27FC236}">
                  <a16:creationId xmlns:a16="http://schemas.microsoft.com/office/drawing/2014/main" id="{8CCC3693-4B03-4C4E-8DD6-C5A2BBC45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5" name="Group 31">
            <a:extLst>
              <a:ext uri="{FF2B5EF4-FFF2-40B4-BE49-F238E27FC236}">
                <a16:creationId xmlns:a16="http://schemas.microsoft.com/office/drawing/2014/main" id="{64E4D109-C5A4-4F0D-9723-E8622591A6CC}"/>
              </a:ext>
            </a:extLst>
          </p:cNvPr>
          <p:cNvGrpSpPr>
            <a:grpSpLocks/>
          </p:cNvGrpSpPr>
          <p:nvPr/>
        </p:nvGrpSpPr>
        <p:grpSpPr bwMode="auto">
          <a:xfrm>
            <a:off x="3536950" y="2136304"/>
            <a:ext cx="1111250" cy="466725"/>
            <a:chOff x="0" y="0"/>
            <a:chExt cx="624" cy="294"/>
          </a:xfrm>
        </p:grpSpPr>
        <p:sp>
          <p:nvSpPr>
            <p:cNvPr id="76" name="Text Box 32">
              <a:extLst>
                <a:ext uri="{FF2B5EF4-FFF2-40B4-BE49-F238E27FC236}">
                  <a16:creationId xmlns:a16="http://schemas.microsoft.com/office/drawing/2014/main" id="{1E04F2D7-DFA8-4402-AF2A-0D060A206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77" name="Line 33">
              <a:extLst>
                <a:ext uri="{FF2B5EF4-FFF2-40B4-BE49-F238E27FC236}">
                  <a16:creationId xmlns:a16="http://schemas.microsoft.com/office/drawing/2014/main" id="{0EE106DF-022A-4A8A-A01E-5F23EF36A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8" name="Group 34">
            <a:extLst>
              <a:ext uri="{FF2B5EF4-FFF2-40B4-BE49-F238E27FC236}">
                <a16:creationId xmlns:a16="http://schemas.microsoft.com/office/drawing/2014/main" id="{6C98C5F7-0FA2-4A74-99DA-356A583F26D3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2136304"/>
            <a:ext cx="1111250" cy="466725"/>
            <a:chOff x="0" y="0"/>
            <a:chExt cx="624" cy="294"/>
          </a:xfrm>
        </p:grpSpPr>
        <p:sp>
          <p:nvSpPr>
            <p:cNvPr id="79" name="Text Box 35">
              <a:extLst>
                <a:ext uri="{FF2B5EF4-FFF2-40B4-BE49-F238E27FC236}">
                  <a16:creationId xmlns:a16="http://schemas.microsoft.com/office/drawing/2014/main" id="{FB51D099-6E3A-42AD-8701-911AA5808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80" name="Line 36">
              <a:extLst>
                <a:ext uri="{FF2B5EF4-FFF2-40B4-BE49-F238E27FC236}">
                  <a16:creationId xmlns:a16="http://schemas.microsoft.com/office/drawing/2014/main" id="{F517C94B-8884-4B31-910D-D57D9EDF6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id="{6F57E3C9-186D-4836-8169-8172B43639A7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2331566"/>
            <a:ext cx="939800" cy="76200"/>
            <a:chOff x="0" y="0"/>
            <a:chExt cx="528" cy="48"/>
          </a:xfrm>
        </p:grpSpPr>
        <p:sp>
          <p:nvSpPr>
            <p:cNvPr id="82" name="Line 38">
              <a:extLst>
                <a:ext uri="{FF2B5EF4-FFF2-40B4-BE49-F238E27FC236}">
                  <a16:creationId xmlns:a16="http://schemas.microsoft.com/office/drawing/2014/main" id="{0CFCCB7A-0348-4416-9A36-BE23FDD08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Oval 39">
              <a:extLst>
                <a:ext uri="{FF2B5EF4-FFF2-40B4-BE49-F238E27FC236}">
                  <a16:creationId xmlns:a16="http://schemas.microsoft.com/office/drawing/2014/main" id="{C16CD824-ECB5-4F67-BE8E-D51E66179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id="{54CC4D40-597D-45FD-85B4-B5AC0BD40C96}"/>
              </a:ext>
            </a:extLst>
          </p:cNvPr>
          <p:cNvGrpSpPr>
            <a:grpSpLocks/>
          </p:cNvGrpSpPr>
          <p:nvPr/>
        </p:nvGrpSpPr>
        <p:grpSpPr bwMode="auto">
          <a:xfrm>
            <a:off x="4298950" y="2336329"/>
            <a:ext cx="939800" cy="76200"/>
            <a:chOff x="0" y="0"/>
            <a:chExt cx="528" cy="48"/>
          </a:xfrm>
        </p:grpSpPr>
        <p:sp>
          <p:nvSpPr>
            <p:cNvPr id="85" name="Line 41">
              <a:extLst>
                <a:ext uri="{FF2B5EF4-FFF2-40B4-BE49-F238E27FC236}">
                  <a16:creationId xmlns:a16="http://schemas.microsoft.com/office/drawing/2014/main" id="{0127A5EF-EB72-4982-8EF0-8728C3472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Oval 42">
              <a:extLst>
                <a:ext uri="{FF2B5EF4-FFF2-40B4-BE49-F238E27FC236}">
                  <a16:creationId xmlns:a16="http://schemas.microsoft.com/office/drawing/2014/main" id="{9D06F9DF-86F0-47D3-A4C1-095D5E240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7" name="Group 43">
            <a:extLst>
              <a:ext uri="{FF2B5EF4-FFF2-40B4-BE49-F238E27FC236}">
                <a16:creationId xmlns:a16="http://schemas.microsoft.com/office/drawing/2014/main" id="{B29BE8E5-DFB0-42C6-926C-927DDA504B25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764704"/>
            <a:ext cx="1366838" cy="1371600"/>
            <a:chOff x="0" y="0"/>
            <a:chExt cx="768" cy="864"/>
          </a:xfrm>
        </p:grpSpPr>
        <p:sp>
          <p:nvSpPr>
            <p:cNvPr id="88" name="Text Box 44">
              <a:extLst>
                <a:ext uri="{FF2B5EF4-FFF2-40B4-BE49-F238E27FC236}">
                  <a16:creationId xmlns:a16="http://schemas.microsoft.com/office/drawing/2014/main" id="{1076A7FF-6E6A-4077-AB08-D55FB28C2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9" name="Text Box 45">
              <a:extLst>
                <a:ext uri="{FF2B5EF4-FFF2-40B4-BE49-F238E27FC236}">
                  <a16:creationId xmlns:a16="http://schemas.microsoft.com/office/drawing/2014/main" id="{21FEDFC7-9BB6-4D13-AC9D-C2E888767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90" name="Group 46">
              <a:extLst>
                <a:ext uri="{FF2B5EF4-FFF2-40B4-BE49-F238E27FC236}">
                  <a16:creationId xmlns:a16="http://schemas.microsoft.com/office/drawing/2014/main" id="{37F3AA5D-F642-44EA-AE0F-CBB5E7EF07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91" name="Oval 47">
                <a:extLst>
                  <a:ext uri="{FF2B5EF4-FFF2-40B4-BE49-F238E27FC236}">
                    <a16:creationId xmlns:a16="http://schemas.microsoft.com/office/drawing/2014/main" id="{5A168346-A823-4D7A-8FDB-7EC61E6DE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Line 48">
                <a:extLst>
                  <a:ext uri="{FF2B5EF4-FFF2-40B4-BE49-F238E27FC236}">
                    <a16:creationId xmlns:a16="http://schemas.microsoft.com/office/drawing/2014/main" id="{ACF5454F-5EC3-4C38-945F-E4DFC8E4C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3" name="Group 49">
            <a:extLst>
              <a:ext uri="{FF2B5EF4-FFF2-40B4-BE49-F238E27FC236}">
                <a16:creationId xmlns:a16="http://schemas.microsoft.com/office/drawing/2014/main" id="{2EF07689-3A10-4BAC-84B7-AB232A9D7906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2145829"/>
            <a:ext cx="341313" cy="457200"/>
            <a:chOff x="0" y="0"/>
            <a:chExt cx="192" cy="288"/>
          </a:xfrm>
        </p:grpSpPr>
        <p:sp>
          <p:nvSpPr>
            <p:cNvPr id="94" name="Line 50">
              <a:extLst>
                <a:ext uri="{FF2B5EF4-FFF2-40B4-BE49-F238E27FC236}">
                  <a16:creationId xmlns:a16="http://schemas.microsoft.com/office/drawing/2014/main" id="{1063C284-1F2F-46EA-84F3-3C3BD49F7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192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51">
              <a:extLst>
                <a:ext uri="{FF2B5EF4-FFF2-40B4-BE49-F238E27FC236}">
                  <a16:creationId xmlns:a16="http://schemas.microsoft.com/office/drawing/2014/main" id="{8C83C8D2-6756-4B86-A30C-9608FD287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"/>
              <a:ext cx="192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" name="Line 52">
            <a:extLst>
              <a:ext uri="{FF2B5EF4-FFF2-40B4-BE49-F238E27FC236}">
                <a16:creationId xmlns:a16="http://schemas.microsoft.com/office/drawing/2014/main" id="{90D64CB8-8827-40B6-9D71-FF9A600E7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5150" y="2374429"/>
            <a:ext cx="85725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Oval 53">
            <a:extLst>
              <a:ext uri="{FF2B5EF4-FFF2-40B4-BE49-F238E27FC236}">
                <a16:creationId xmlns:a16="http://schemas.microsoft.com/office/drawing/2014/main" id="{10D3F75B-E8C9-40E6-BFC5-F2FE50B06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0" y="3212629"/>
            <a:ext cx="203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98" name="Line 54">
            <a:extLst>
              <a:ext uri="{FF2B5EF4-FFF2-40B4-BE49-F238E27FC236}">
                <a16:creationId xmlns:a16="http://schemas.microsoft.com/office/drawing/2014/main" id="{DE4C2177-91A4-40A6-BE51-0E1DDD0CCD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0950" y="2603029"/>
            <a:ext cx="257175" cy="685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9" name="Group 55">
            <a:extLst>
              <a:ext uri="{FF2B5EF4-FFF2-40B4-BE49-F238E27FC236}">
                <a16:creationId xmlns:a16="http://schemas.microsoft.com/office/drawing/2014/main" id="{C66EBA4A-CFE3-42E2-8613-39B50F541C34}"/>
              </a:ext>
            </a:extLst>
          </p:cNvPr>
          <p:cNvGrpSpPr>
            <a:grpSpLocks/>
          </p:cNvGrpSpPr>
          <p:nvPr/>
        </p:nvGrpSpPr>
        <p:grpSpPr bwMode="auto">
          <a:xfrm>
            <a:off x="2627313" y="2593504"/>
            <a:ext cx="2735262" cy="923925"/>
            <a:chOff x="0" y="0"/>
            <a:chExt cx="1536" cy="582"/>
          </a:xfrm>
        </p:grpSpPr>
        <p:grpSp>
          <p:nvGrpSpPr>
            <p:cNvPr id="100" name="Group 56">
              <a:extLst>
                <a:ext uri="{FF2B5EF4-FFF2-40B4-BE49-F238E27FC236}">
                  <a16:creationId xmlns:a16="http://schemas.microsoft.com/office/drawing/2014/main" id="{949FEF10-CD3B-448E-9DEA-4889D42EE5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288"/>
              <a:ext cx="624" cy="294"/>
              <a:chOff x="0" y="0"/>
              <a:chExt cx="624" cy="294"/>
            </a:xfrm>
          </p:grpSpPr>
          <p:sp>
            <p:nvSpPr>
              <p:cNvPr id="107" name="Text Box 57">
                <a:extLst>
                  <a:ext uri="{FF2B5EF4-FFF2-40B4-BE49-F238E27FC236}">
                    <a16:creationId xmlns:a16="http://schemas.microsoft.com/office/drawing/2014/main" id="{82F80F39-2702-4BCA-AAE1-49B77CF6AD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27</a:t>
                </a:r>
              </a:p>
            </p:txBody>
          </p:sp>
          <p:sp>
            <p:nvSpPr>
              <p:cNvPr id="108" name="Line 58">
                <a:extLst>
                  <a:ext uri="{FF2B5EF4-FFF2-40B4-BE49-F238E27FC236}">
                    <a16:creationId xmlns:a16="http://schemas.microsoft.com/office/drawing/2014/main" id="{DC16E00E-33C7-4716-A9CC-19438F6486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1" name="Group 59">
              <a:extLst>
                <a:ext uri="{FF2B5EF4-FFF2-40B4-BE49-F238E27FC236}">
                  <a16:creationId xmlns:a16="http://schemas.microsoft.com/office/drawing/2014/main" id="{541053AE-A062-47EC-9C90-096848850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582"/>
              <a:chOff x="0" y="0"/>
              <a:chExt cx="912" cy="582"/>
            </a:xfrm>
          </p:grpSpPr>
          <p:sp>
            <p:nvSpPr>
              <p:cNvPr id="102" name="Oval 60">
                <a:extLst>
                  <a:ext uri="{FF2B5EF4-FFF2-40B4-BE49-F238E27FC236}">
                    <a16:creationId xmlns:a16="http://schemas.microsoft.com/office/drawing/2014/main" id="{F2E83F7A-DCB5-4C60-8FD7-711956C20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" y="390"/>
                <a:ext cx="57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3" name="Group 61">
                <a:extLst>
                  <a:ext uri="{FF2B5EF4-FFF2-40B4-BE49-F238E27FC236}">
                    <a16:creationId xmlns:a16="http://schemas.microsoft.com/office/drawing/2014/main" id="{C49A2149-776A-4731-A1BB-BDCDA0615B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12" cy="582"/>
                <a:chOff x="0" y="0"/>
                <a:chExt cx="912" cy="582"/>
              </a:xfrm>
            </p:grpSpPr>
            <p:sp>
              <p:nvSpPr>
                <p:cNvPr id="104" name="Text Box 62">
                  <a:extLst>
                    <a:ext uri="{FF2B5EF4-FFF2-40B4-BE49-F238E27FC236}">
                      <a16:creationId xmlns:a16="http://schemas.microsoft.com/office/drawing/2014/main" id="{BD6E3618-CCC1-4A70-BA0C-92B95F1020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" y="288"/>
                  <a:ext cx="39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5" name="Text Box 63">
                  <a:extLst>
                    <a:ext uri="{FF2B5EF4-FFF2-40B4-BE49-F238E27FC236}">
                      <a16:creationId xmlns:a16="http://schemas.microsoft.com/office/drawing/2014/main" id="{56A48514-678C-4C11-BA23-21FC4147F9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9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</a:rPr>
                    <a:t>   </a:t>
                  </a:r>
                  <a:r>
                    <a:rPr lang="en-US" altLang="zh-CN" sz="240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newPtr</a:t>
                  </a:r>
                </a:p>
              </p:txBody>
            </p:sp>
            <p:sp>
              <p:nvSpPr>
                <p:cNvPr id="106" name="Line 64">
                  <a:extLst>
                    <a:ext uri="{FF2B5EF4-FFF2-40B4-BE49-F238E27FC236}">
                      <a16:creationId xmlns:a16="http://schemas.microsoft.com/office/drawing/2014/main" id="{950925C8-A2D2-488E-9E97-E95FA2E08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43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9" name="Line 65">
            <a:extLst>
              <a:ext uri="{FF2B5EF4-FFF2-40B4-BE49-F238E27FC236}">
                <a16:creationId xmlns:a16="http://schemas.microsoft.com/office/drawing/2014/main" id="{8F204F23-8379-4F9E-95E5-FA50C647B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0550" y="2145829"/>
            <a:ext cx="51276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1" name="Group 70">
            <a:extLst>
              <a:ext uri="{FF2B5EF4-FFF2-40B4-BE49-F238E27FC236}">
                <a16:creationId xmlns:a16="http://schemas.microsoft.com/office/drawing/2014/main" id="{6F70B029-6785-4062-967B-CC7B22FD000B}"/>
              </a:ext>
            </a:extLst>
          </p:cNvPr>
          <p:cNvGrpSpPr>
            <a:grpSpLocks/>
          </p:cNvGrpSpPr>
          <p:nvPr/>
        </p:nvGrpSpPr>
        <p:grpSpPr bwMode="auto">
          <a:xfrm>
            <a:off x="3059832" y="761256"/>
            <a:ext cx="1600200" cy="1371600"/>
            <a:chOff x="0" y="0"/>
            <a:chExt cx="768" cy="864"/>
          </a:xfrm>
        </p:grpSpPr>
        <p:sp>
          <p:nvSpPr>
            <p:cNvPr id="112" name="Text Box 71">
              <a:extLst>
                <a:ext uri="{FF2B5EF4-FFF2-40B4-BE49-F238E27FC236}">
                  <a16:creationId xmlns:a16="http://schemas.microsoft.com/office/drawing/2014/main" id="{323B4589-0EEB-4F67-A553-4EF312FAE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13" name="Text Box 72">
              <a:extLst>
                <a:ext uri="{FF2B5EF4-FFF2-40B4-BE49-F238E27FC236}">
                  <a16:creationId xmlns:a16="http://schemas.microsoft.com/office/drawing/2014/main" id="{28154CFA-3FA9-419B-BBFD-5475D959F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previousPtr</a:t>
              </a:r>
            </a:p>
          </p:txBody>
        </p:sp>
        <p:grpSp>
          <p:nvGrpSpPr>
            <p:cNvPr id="114" name="Group 73">
              <a:extLst>
                <a:ext uri="{FF2B5EF4-FFF2-40B4-BE49-F238E27FC236}">
                  <a16:creationId xmlns:a16="http://schemas.microsoft.com/office/drawing/2014/main" id="{1D23FFD7-C14A-441F-91B1-F91980519E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115" name="Oval 74">
                <a:extLst>
                  <a:ext uri="{FF2B5EF4-FFF2-40B4-BE49-F238E27FC236}">
                    <a16:creationId xmlns:a16="http://schemas.microsoft.com/office/drawing/2014/main" id="{98925E63-69BA-4544-9CA1-DEAEDD9EA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Line 75">
                <a:extLst>
                  <a:ext uri="{FF2B5EF4-FFF2-40B4-BE49-F238E27FC236}">
                    <a16:creationId xmlns:a16="http://schemas.microsoft.com/office/drawing/2014/main" id="{209DCD98-B27E-4628-BF37-93B191795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7" name="Group 76">
            <a:extLst>
              <a:ext uri="{FF2B5EF4-FFF2-40B4-BE49-F238E27FC236}">
                <a16:creationId xmlns:a16="http://schemas.microsoft.com/office/drawing/2014/main" id="{C8AAF0A9-5C4F-4CA8-B233-3ECC999A7F94}"/>
              </a:ext>
            </a:extLst>
          </p:cNvPr>
          <p:cNvGrpSpPr>
            <a:grpSpLocks/>
          </p:cNvGrpSpPr>
          <p:nvPr/>
        </p:nvGrpSpPr>
        <p:grpSpPr bwMode="auto">
          <a:xfrm>
            <a:off x="4660032" y="761256"/>
            <a:ext cx="1447800" cy="1371600"/>
            <a:chOff x="0" y="0"/>
            <a:chExt cx="768" cy="864"/>
          </a:xfrm>
        </p:grpSpPr>
        <p:sp>
          <p:nvSpPr>
            <p:cNvPr id="118" name="Text Box 77">
              <a:extLst>
                <a:ext uri="{FF2B5EF4-FFF2-40B4-BE49-F238E27FC236}">
                  <a16:creationId xmlns:a16="http://schemas.microsoft.com/office/drawing/2014/main" id="{CFC18491-636D-4574-8708-2BD4CF842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19" name="Text Box 78">
              <a:extLst>
                <a:ext uri="{FF2B5EF4-FFF2-40B4-BE49-F238E27FC236}">
                  <a16:creationId xmlns:a16="http://schemas.microsoft.com/office/drawing/2014/main" id="{C67E78D0-EC79-468E-AE06-2AD43D88C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currentPtr</a:t>
              </a:r>
            </a:p>
          </p:txBody>
        </p:sp>
        <p:grpSp>
          <p:nvGrpSpPr>
            <p:cNvPr id="120" name="Group 79">
              <a:extLst>
                <a:ext uri="{FF2B5EF4-FFF2-40B4-BE49-F238E27FC236}">
                  <a16:creationId xmlns:a16="http://schemas.microsoft.com/office/drawing/2014/main" id="{F1BCC12A-D235-4229-A854-9C46A3779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121" name="Oval 80">
                <a:extLst>
                  <a:ext uri="{FF2B5EF4-FFF2-40B4-BE49-F238E27FC236}">
                    <a16:creationId xmlns:a16="http://schemas.microsoft.com/office/drawing/2014/main" id="{1DB0D0C7-ACB8-4519-AC6E-04DA8AEDB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Line 81">
                <a:extLst>
                  <a:ext uri="{FF2B5EF4-FFF2-40B4-BE49-F238E27FC236}">
                    <a16:creationId xmlns:a16="http://schemas.microsoft.com/office/drawing/2014/main" id="{59139FFD-A597-48E6-81E6-FA990AFC6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218986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3">
            <a:extLst>
              <a:ext uri="{FF2B5EF4-FFF2-40B4-BE49-F238E27FC236}">
                <a16:creationId xmlns:a16="http://schemas.microsoft.com/office/drawing/2014/main" id="{9C940483-F973-4DFB-A139-F781117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－有序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DB0CD740-9251-4001-90A0-E336B8E2D6F3}"/>
              </a:ext>
            </a:extLst>
          </p:cNvPr>
          <p:cNvSpPr txBox="1">
            <a:spLocks/>
          </p:cNvSpPr>
          <p:nvPr/>
        </p:nvSpPr>
        <p:spPr>
          <a:xfrm>
            <a:off x="323529" y="1196752"/>
            <a:ext cx="8569646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/*</a:t>
            </a:r>
            <a:r>
              <a:rPr lang="zh-CN" altLang="en-US" sz="2000" b="0" dirty="0"/>
              <a:t>把一个新值插入到有序链表中*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void </a:t>
            </a:r>
            <a:r>
              <a:rPr lang="en-US" altLang="zh-CN" sz="2000" b="0" dirty="0" err="1"/>
              <a:t>insertOrder</a:t>
            </a:r>
            <a:r>
              <a:rPr lang="en-US" altLang="zh-CN" sz="2000" b="0" dirty="0"/>
              <a:t> (LISTNODEPTR </a:t>
            </a:r>
            <a:r>
              <a:rPr lang="en-US" altLang="zh-CN" sz="2000" b="0" dirty="0" err="1"/>
              <a:t>sPtr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ElementType</a:t>
            </a:r>
            <a:r>
              <a:rPr lang="en-US" altLang="zh-CN" sz="2000" b="0" dirty="0"/>
              <a:t> value){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LISTNODEPTR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None/>
            </a:pPr>
            <a:r>
              <a:rPr lang="en-US" altLang="zh-CN" sz="2000" b="0" dirty="0"/>
              <a:t>	/*</a:t>
            </a:r>
            <a:r>
              <a:rPr lang="zh-CN" altLang="en-US" sz="2000" b="0" dirty="0"/>
              <a:t>动态分配</a:t>
            </a:r>
            <a:r>
              <a:rPr lang="zh-CN" altLang="en-US" sz="2000" b="0" dirty="0" smtClean="0"/>
              <a:t>新结点，</a:t>
            </a:r>
            <a:r>
              <a:rPr lang="zh-CN" altLang="en-US" sz="2000" b="0" dirty="0"/>
              <a:t>将新值存入</a:t>
            </a:r>
            <a:r>
              <a:rPr lang="en-US" altLang="zh-CN" sz="2000" b="0" dirty="0"/>
              <a:t>*/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= malloc(</a:t>
            </a:r>
            <a:r>
              <a:rPr lang="en-US" altLang="zh-CN" sz="2000" b="0" dirty="0" err="1"/>
              <a:t>sizeof</a:t>
            </a:r>
            <a:r>
              <a:rPr lang="en-US" altLang="zh-CN" sz="2000" b="0" dirty="0"/>
              <a:t>(LISTNODE));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if (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!= NULL){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-&gt;data = value;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NULL;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/</a:t>
            </a:r>
            <a:r>
              <a:rPr lang="zh-CN" altLang="en-US" sz="2000" b="0" dirty="0"/>
              <a:t>*找到插入位置后继结点，并记录前驱指针</a:t>
            </a:r>
            <a:r>
              <a:rPr lang="en-US" altLang="zh-CN" sz="2000" b="0" dirty="0" err="1"/>
              <a:t>previousPtr</a:t>
            </a:r>
            <a:r>
              <a:rPr lang="zh-CN" altLang="en-US" sz="2000" b="0" dirty="0"/>
              <a:t>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sPtr</a:t>
            </a:r>
            <a:r>
              <a:rPr lang="en-US" altLang="zh-CN" sz="2000" b="0" dirty="0"/>
              <a:t> 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sPtr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while (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!= NULL </a:t>
            </a:r>
            <a:r>
              <a:rPr lang="en-US" altLang="zh-CN" sz="2000" dirty="0">
                <a:solidFill>
                  <a:srgbClr val="FF0000"/>
                </a:solidFill>
              </a:rPr>
              <a:t>&amp;&amp; value &gt; </a:t>
            </a:r>
            <a:r>
              <a:rPr lang="en-US" altLang="zh-CN" sz="2000" dirty="0" err="1">
                <a:solidFill>
                  <a:srgbClr val="FF0000"/>
                </a:solidFill>
              </a:rPr>
              <a:t>currentPtr</a:t>
            </a:r>
            <a:r>
              <a:rPr lang="en-US" altLang="zh-CN" sz="2000" dirty="0">
                <a:solidFill>
                  <a:srgbClr val="FF0000"/>
                </a:solidFill>
              </a:rPr>
              <a:t>-&gt;data</a:t>
            </a:r>
            <a:r>
              <a:rPr lang="en-US" altLang="zh-CN" sz="2000" b="0" dirty="0"/>
              <a:t>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	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	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8932468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33">
            <a:extLst>
              <a:ext uri="{FF2B5EF4-FFF2-40B4-BE49-F238E27FC236}">
                <a16:creationId xmlns:a16="http://schemas.microsoft.com/office/drawing/2014/main" id="{9C940483-F973-4DFB-A139-F781117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－有序</a:t>
            </a:r>
            <a:r>
              <a:rPr lang="zh-CN" altLang="en-US" sz="32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插结点</a:t>
            </a:r>
            <a:endParaRPr lang="zh-CN" altLang="en-US" sz="3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DB0CD740-9251-4001-90A0-E336B8E2D6F3}"/>
              </a:ext>
            </a:extLst>
          </p:cNvPr>
          <p:cNvSpPr txBox="1">
            <a:spLocks/>
          </p:cNvSpPr>
          <p:nvPr/>
        </p:nvSpPr>
        <p:spPr>
          <a:xfrm>
            <a:off x="539552" y="1196752"/>
            <a:ext cx="8208912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		/*</a:t>
            </a:r>
            <a:r>
              <a:rPr lang="zh-CN" altLang="en-US" sz="2000" b="0" dirty="0"/>
              <a:t>在插入位置的</a:t>
            </a:r>
            <a:r>
              <a:rPr lang="zh-CN" altLang="en-US" sz="2000" b="0" dirty="0" smtClean="0"/>
              <a:t>前驱结点和</a:t>
            </a:r>
            <a:r>
              <a:rPr lang="zh-CN" altLang="en-US" sz="2000" b="0" dirty="0"/>
              <a:t>后继结点之间链接新结点</a:t>
            </a:r>
            <a:r>
              <a:rPr lang="en-US" altLang="zh-CN" sz="2000" b="0" dirty="0" smtClean="0"/>
              <a:t>*/</a:t>
            </a:r>
            <a:endParaRPr lang="en-US" altLang="zh-CN" sz="2000" b="0" dirty="0"/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previousPtr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currentPtr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}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else 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    </a:t>
            </a:r>
            <a:r>
              <a:rPr lang="en-US" altLang="zh-CN" sz="2000" b="0" dirty="0" err="1"/>
              <a:t>printf</a:t>
            </a:r>
            <a:r>
              <a:rPr lang="en-US" altLang="zh-CN" sz="2000" b="0" dirty="0"/>
              <a:t>("Not inserted. No memory </a:t>
            </a:r>
            <a:r>
              <a:rPr lang="en-US" altLang="zh-CN" sz="2000" b="0" dirty="0" err="1"/>
              <a:t>avaliable</a:t>
            </a:r>
            <a:r>
              <a:rPr lang="en-US" altLang="zh-CN" sz="2000" b="0" dirty="0"/>
              <a:t>.\n");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}</a:t>
            </a:r>
          </a:p>
          <a:p>
            <a:pPr marL="0" indent="0">
              <a:buFontTx/>
              <a:buNone/>
            </a:pP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376223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02CD5DF6-9410-4C9C-A640-96FC2938D3D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A65357E-C8B5-4D3B-BE48-A2D97A881BFA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0833608-32B8-43A4-B6CD-7FE8208967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基本操作</a:t>
            </a:r>
            <a:r>
              <a:rPr lang="en-US" altLang="zh-CN" b="1" dirty="0"/>
              <a:t>5</a:t>
            </a:r>
            <a:r>
              <a:rPr lang="zh-CN" altLang="en-US" b="1" dirty="0"/>
              <a:t>－按值</a:t>
            </a:r>
            <a:r>
              <a:rPr lang="zh-CN" altLang="en-US" b="1" dirty="0" smtClean="0"/>
              <a:t>删除结点</a:t>
            </a:r>
            <a:endParaRPr lang="zh-CN" altLang="en-US" b="1" dirty="0"/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09A97C5-E104-4C83-B728-FAE18969DB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19213"/>
            <a:ext cx="8134350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按值查找待</a:t>
            </a:r>
            <a:r>
              <a:rPr lang="zh-CN" altLang="en-US" b="1" dirty="0" smtClean="0"/>
              <a:t>删除结点，</a:t>
            </a:r>
            <a:r>
              <a:rPr lang="zh-CN" altLang="en-US" b="1" dirty="0"/>
              <a:t>需要记录前驱结点指针；</a:t>
            </a:r>
          </a:p>
        </p:txBody>
      </p:sp>
      <p:grpSp>
        <p:nvGrpSpPr>
          <p:cNvPr id="50181" name="Group 4">
            <a:extLst>
              <a:ext uri="{FF2B5EF4-FFF2-40B4-BE49-F238E27FC236}">
                <a16:creationId xmlns:a16="http://schemas.microsoft.com/office/drawing/2014/main" id="{ADC80737-D47F-49BF-9AD0-0823A23AFF3C}"/>
              </a:ext>
            </a:extLst>
          </p:cNvPr>
          <p:cNvGrpSpPr>
            <a:grpSpLocks/>
          </p:cNvGrpSpPr>
          <p:nvPr/>
        </p:nvGrpSpPr>
        <p:grpSpPr bwMode="auto">
          <a:xfrm>
            <a:off x="2425700" y="3489325"/>
            <a:ext cx="990600" cy="466725"/>
            <a:chOff x="0" y="0"/>
            <a:chExt cx="624" cy="294"/>
          </a:xfrm>
        </p:grpSpPr>
        <p:sp>
          <p:nvSpPr>
            <p:cNvPr id="50232" name="Text Box 5">
              <a:extLst>
                <a:ext uri="{FF2B5EF4-FFF2-40B4-BE49-F238E27FC236}">
                  <a16:creationId xmlns:a16="http://schemas.microsoft.com/office/drawing/2014/main" id="{2109FDF5-E7DC-42C6-B498-D6CE42B30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50233" name="Line 6">
              <a:extLst>
                <a:ext uri="{FF2B5EF4-FFF2-40B4-BE49-F238E27FC236}">
                  <a16:creationId xmlns:a16="http://schemas.microsoft.com/office/drawing/2014/main" id="{90B53FBE-97D0-4C03-9F96-3A0B149B5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2" name="Group 7">
            <a:extLst>
              <a:ext uri="{FF2B5EF4-FFF2-40B4-BE49-F238E27FC236}">
                <a16:creationId xmlns:a16="http://schemas.microsoft.com/office/drawing/2014/main" id="{8D7AB3BC-2AF2-4A1C-B79E-F7D56C1CF07A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3489325"/>
            <a:ext cx="990600" cy="466725"/>
            <a:chOff x="0" y="0"/>
            <a:chExt cx="624" cy="294"/>
          </a:xfrm>
        </p:grpSpPr>
        <p:sp>
          <p:nvSpPr>
            <p:cNvPr id="50230" name="Text Box 8">
              <a:extLst>
                <a:ext uri="{FF2B5EF4-FFF2-40B4-BE49-F238E27FC236}">
                  <a16:creationId xmlns:a16="http://schemas.microsoft.com/office/drawing/2014/main" id="{E3240054-099A-4340-9D27-4012F7310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50231" name="Line 9">
              <a:extLst>
                <a:ext uri="{FF2B5EF4-FFF2-40B4-BE49-F238E27FC236}">
                  <a16:creationId xmlns:a16="http://schemas.microsoft.com/office/drawing/2014/main" id="{8E4CDEE8-CA1E-4257-B8D9-94C976881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3" name="Group 10">
            <a:extLst>
              <a:ext uri="{FF2B5EF4-FFF2-40B4-BE49-F238E27FC236}">
                <a16:creationId xmlns:a16="http://schemas.microsoft.com/office/drawing/2014/main" id="{CF92BE8B-E470-49C9-AE0F-F4D4C1904875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3489325"/>
            <a:ext cx="990600" cy="466725"/>
            <a:chOff x="0" y="0"/>
            <a:chExt cx="624" cy="294"/>
          </a:xfrm>
        </p:grpSpPr>
        <p:sp>
          <p:nvSpPr>
            <p:cNvPr id="50228" name="Text Box 11">
              <a:extLst>
                <a:ext uri="{FF2B5EF4-FFF2-40B4-BE49-F238E27FC236}">
                  <a16:creationId xmlns:a16="http://schemas.microsoft.com/office/drawing/2014/main" id="{522798B6-3DAB-4A4F-A437-A3B191EB0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50229" name="Line 12">
              <a:extLst>
                <a:ext uri="{FF2B5EF4-FFF2-40B4-BE49-F238E27FC236}">
                  <a16:creationId xmlns:a16="http://schemas.microsoft.com/office/drawing/2014/main" id="{5CD3D69F-DF55-4546-802D-2652770C5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4" name="Group 13">
            <a:extLst>
              <a:ext uri="{FF2B5EF4-FFF2-40B4-BE49-F238E27FC236}">
                <a16:creationId xmlns:a16="http://schemas.microsoft.com/office/drawing/2014/main" id="{C973B470-5544-41AF-AE52-319138831486}"/>
              </a:ext>
            </a:extLst>
          </p:cNvPr>
          <p:cNvGrpSpPr>
            <a:grpSpLocks/>
          </p:cNvGrpSpPr>
          <p:nvPr/>
        </p:nvGrpSpPr>
        <p:grpSpPr bwMode="auto">
          <a:xfrm>
            <a:off x="3187700" y="3684588"/>
            <a:ext cx="838200" cy="76200"/>
            <a:chOff x="0" y="0"/>
            <a:chExt cx="528" cy="48"/>
          </a:xfrm>
        </p:grpSpPr>
        <p:sp>
          <p:nvSpPr>
            <p:cNvPr id="50226" name="Line 14">
              <a:extLst>
                <a:ext uri="{FF2B5EF4-FFF2-40B4-BE49-F238E27FC236}">
                  <a16:creationId xmlns:a16="http://schemas.microsoft.com/office/drawing/2014/main" id="{73098768-C9BF-4E23-96F2-78B75498A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7" name="Oval 15">
              <a:extLst>
                <a:ext uri="{FF2B5EF4-FFF2-40B4-BE49-F238E27FC236}">
                  <a16:creationId xmlns:a16="http://schemas.microsoft.com/office/drawing/2014/main" id="{68D02F1B-9D39-4FE9-ADE6-522959D87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85" name="Group 16">
            <a:extLst>
              <a:ext uri="{FF2B5EF4-FFF2-40B4-BE49-F238E27FC236}">
                <a16:creationId xmlns:a16="http://schemas.microsoft.com/office/drawing/2014/main" id="{825C9329-05B4-4246-B67B-E86D2AAA57DB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689350"/>
            <a:ext cx="838200" cy="76200"/>
            <a:chOff x="0" y="0"/>
            <a:chExt cx="528" cy="48"/>
          </a:xfrm>
        </p:grpSpPr>
        <p:sp>
          <p:nvSpPr>
            <p:cNvPr id="50224" name="Line 17">
              <a:extLst>
                <a:ext uri="{FF2B5EF4-FFF2-40B4-BE49-F238E27FC236}">
                  <a16:creationId xmlns:a16="http://schemas.microsoft.com/office/drawing/2014/main" id="{6127D624-51CA-44A2-BAA3-A4FFB5AD8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5" name="Oval 18">
              <a:extLst>
                <a:ext uri="{FF2B5EF4-FFF2-40B4-BE49-F238E27FC236}">
                  <a16:creationId xmlns:a16="http://schemas.microsoft.com/office/drawing/2014/main" id="{8F4BF17B-9294-44C3-B74A-ABD7D66F0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86" name="Group 19">
            <a:extLst>
              <a:ext uri="{FF2B5EF4-FFF2-40B4-BE49-F238E27FC236}">
                <a16:creationId xmlns:a16="http://schemas.microsoft.com/office/drawing/2014/main" id="{EE092ADA-9FA9-4CD8-9301-E7AE8F8E3AB8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2117725"/>
            <a:ext cx="1219200" cy="1371600"/>
            <a:chOff x="0" y="0"/>
            <a:chExt cx="768" cy="864"/>
          </a:xfrm>
        </p:grpSpPr>
        <p:sp>
          <p:nvSpPr>
            <p:cNvPr id="50219" name="Text Box 20">
              <a:extLst>
                <a:ext uri="{FF2B5EF4-FFF2-40B4-BE49-F238E27FC236}">
                  <a16:creationId xmlns:a16="http://schemas.microsoft.com/office/drawing/2014/main" id="{015803F0-5BE5-449B-97C5-4E886A4BB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0220" name="Text Box 21">
              <a:extLst>
                <a:ext uri="{FF2B5EF4-FFF2-40B4-BE49-F238E27FC236}">
                  <a16:creationId xmlns:a16="http://schemas.microsoft.com/office/drawing/2014/main" id="{114F0C42-FBFC-4E7B-A897-C7CC33797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50221" name="Group 22">
              <a:extLst>
                <a:ext uri="{FF2B5EF4-FFF2-40B4-BE49-F238E27FC236}">
                  <a16:creationId xmlns:a16="http://schemas.microsoft.com/office/drawing/2014/main" id="{E9D8F274-5A37-452C-BE88-57EE8CC95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50222" name="Oval 23">
                <a:extLst>
                  <a:ext uri="{FF2B5EF4-FFF2-40B4-BE49-F238E27FC236}">
                    <a16:creationId xmlns:a16="http://schemas.microsoft.com/office/drawing/2014/main" id="{69568AEE-7242-4A69-B009-E6926AA97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3" name="Line 24">
                <a:extLst>
                  <a:ext uri="{FF2B5EF4-FFF2-40B4-BE49-F238E27FC236}">
                    <a16:creationId xmlns:a16="http://schemas.microsoft.com/office/drawing/2014/main" id="{CF60D337-6720-4C03-B0CB-C46956A02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187" name="Group 25">
            <a:extLst>
              <a:ext uri="{FF2B5EF4-FFF2-40B4-BE49-F238E27FC236}">
                <a16:creationId xmlns:a16="http://schemas.microsoft.com/office/drawing/2014/main" id="{6CAD8EDA-3CF3-4616-8118-BB99CBA8A6DA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2127250"/>
            <a:ext cx="1600200" cy="1371600"/>
            <a:chOff x="0" y="0"/>
            <a:chExt cx="768" cy="864"/>
          </a:xfrm>
        </p:grpSpPr>
        <p:sp>
          <p:nvSpPr>
            <p:cNvPr id="50214" name="Text Box 26">
              <a:extLst>
                <a:ext uri="{FF2B5EF4-FFF2-40B4-BE49-F238E27FC236}">
                  <a16:creationId xmlns:a16="http://schemas.microsoft.com/office/drawing/2014/main" id="{38351D53-E13C-4E1E-AA55-43038B400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0215" name="Text Box 27">
              <a:extLst>
                <a:ext uri="{FF2B5EF4-FFF2-40B4-BE49-F238E27FC236}">
                  <a16:creationId xmlns:a16="http://schemas.microsoft.com/office/drawing/2014/main" id="{0546842B-31FA-469D-A2B3-4A850FDDA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previousPtr</a:t>
              </a:r>
            </a:p>
          </p:txBody>
        </p:sp>
        <p:grpSp>
          <p:nvGrpSpPr>
            <p:cNvPr id="50216" name="Group 28">
              <a:extLst>
                <a:ext uri="{FF2B5EF4-FFF2-40B4-BE49-F238E27FC236}">
                  <a16:creationId xmlns:a16="http://schemas.microsoft.com/office/drawing/2014/main" id="{A11F7F6B-F0A6-4B8F-966D-A3DE79A722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50217" name="Oval 29">
                <a:extLst>
                  <a:ext uri="{FF2B5EF4-FFF2-40B4-BE49-F238E27FC236}">
                    <a16:creationId xmlns:a16="http://schemas.microsoft.com/office/drawing/2014/main" id="{A6FF9D7B-3383-4D78-82B7-B754E3C31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8" name="Line 30">
                <a:extLst>
                  <a:ext uri="{FF2B5EF4-FFF2-40B4-BE49-F238E27FC236}">
                    <a16:creationId xmlns:a16="http://schemas.microsoft.com/office/drawing/2014/main" id="{5C32FAC9-7BA4-4788-931F-4C37B7D5E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188" name="Group 31">
            <a:extLst>
              <a:ext uri="{FF2B5EF4-FFF2-40B4-BE49-F238E27FC236}">
                <a16:creationId xmlns:a16="http://schemas.microsoft.com/office/drawing/2014/main" id="{A7F0A72C-57BB-4FBD-B40F-D238E815ACC0}"/>
              </a:ext>
            </a:extLst>
          </p:cNvPr>
          <p:cNvGrpSpPr>
            <a:grpSpLocks/>
          </p:cNvGrpSpPr>
          <p:nvPr/>
        </p:nvGrpSpPr>
        <p:grpSpPr bwMode="auto">
          <a:xfrm>
            <a:off x="5092700" y="2127250"/>
            <a:ext cx="1447800" cy="1371600"/>
            <a:chOff x="0" y="0"/>
            <a:chExt cx="768" cy="864"/>
          </a:xfrm>
        </p:grpSpPr>
        <p:sp>
          <p:nvSpPr>
            <p:cNvPr id="50209" name="Text Box 32">
              <a:extLst>
                <a:ext uri="{FF2B5EF4-FFF2-40B4-BE49-F238E27FC236}">
                  <a16:creationId xmlns:a16="http://schemas.microsoft.com/office/drawing/2014/main" id="{CF1B64A9-C6D9-4D68-B997-73595F5CD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0210" name="Text Box 33">
              <a:extLst>
                <a:ext uri="{FF2B5EF4-FFF2-40B4-BE49-F238E27FC236}">
                  <a16:creationId xmlns:a16="http://schemas.microsoft.com/office/drawing/2014/main" id="{CD8846BA-1064-4526-B67A-B11888C60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currentPtr</a:t>
              </a:r>
            </a:p>
          </p:txBody>
        </p:sp>
        <p:grpSp>
          <p:nvGrpSpPr>
            <p:cNvPr id="50211" name="Group 34">
              <a:extLst>
                <a:ext uri="{FF2B5EF4-FFF2-40B4-BE49-F238E27FC236}">
                  <a16:creationId xmlns:a16="http://schemas.microsoft.com/office/drawing/2014/main" id="{F9AC891E-B050-4B71-84FD-389CE7A085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50212" name="Oval 35">
                <a:extLst>
                  <a:ext uri="{FF2B5EF4-FFF2-40B4-BE49-F238E27FC236}">
                    <a16:creationId xmlns:a16="http://schemas.microsoft.com/office/drawing/2014/main" id="{176CB925-560E-481C-801F-FD47126C6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Line 36">
                <a:extLst>
                  <a:ext uri="{FF2B5EF4-FFF2-40B4-BE49-F238E27FC236}">
                    <a16:creationId xmlns:a16="http://schemas.microsoft.com/office/drawing/2014/main" id="{87B0B6B2-9757-4F22-A97B-45F8B9034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189" name="Line 37">
            <a:extLst>
              <a:ext uri="{FF2B5EF4-FFF2-40B4-BE49-F238E27FC236}">
                <a16:creationId xmlns:a16="http://schemas.microsoft.com/office/drawing/2014/main" id="{4B3451B3-106B-490C-9EE5-A46AD29B2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0813" y="3552825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0" name="Group 38">
            <a:extLst>
              <a:ext uri="{FF2B5EF4-FFF2-40B4-BE49-F238E27FC236}">
                <a16:creationId xmlns:a16="http://schemas.microsoft.com/office/drawing/2014/main" id="{E151C162-57DB-492B-8B37-995230E9B68E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502025"/>
            <a:ext cx="990600" cy="466725"/>
            <a:chOff x="0" y="0"/>
            <a:chExt cx="624" cy="294"/>
          </a:xfrm>
        </p:grpSpPr>
        <p:sp>
          <p:nvSpPr>
            <p:cNvPr id="50207" name="Text Box 39">
              <a:extLst>
                <a:ext uri="{FF2B5EF4-FFF2-40B4-BE49-F238E27FC236}">
                  <a16:creationId xmlns:a16="http://schemas.microsoft.com/office/drawing/2014/main" id="{2569EB0F-D712-4189-9090-B2E53EC7B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9     </a:t>
              </a:r>
            </a:p>
          </p:txBody>
        </p:sp>
        <p:sp>
          <p:nvSpPr>
            <p:cNvPr id="50208" name="Line 40">
              <a:extLst>
                <a:ext uri="{FF2B5EF4-FFF2-40B4-BE49-F238E27FC236}">
                  <a16:creationId xmlns:a16="http://schemas.microsoft.com/office/drawing/2014/main" id="{9E3099AA-EC37-4CED-BE10-3BAA13D18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91" name="Group 41">
            <a:extLst>
              <a:ext uri="{FF2B5EF4-FFF2-40B4-BE49-F238E27FC236}">
                <a16:creationId xmlns:a16="http://schemas.microsoft.com/office/drawing/2014/main" id="{6034328F-ED32-4EC6-A733-41FC190B64D9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3697288"/>
            <a:ext cx="838200" cy="76200"/>
            <a:chOff x="0" y="0"/>
            <a:chExt cx="528" cy="48"/>
          </a:xfrm>
        </p:grpSpPr>
        <p:sp>
          <p:nvSpPr>
            <p:cNvPr id="50205" name="Line 42">
              <a:extLst>
                <a:ext uri="{FF2B5EF4-FFF2-40B4-BE49-F238E27FC236}">
                  <a16:creationId xmlns:a16="http://schemas.microsoft.com/office/drawing/2014/main" id="{F76FCC09-91C3-4C99-B7D1-1423910E0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Oval 43">
              <a:extLst>
                <a:ext uri="{FF2B5EF4-FFF2-40B4-BE49-F238E27FC236}">
                  <a16:creationId xmlns:a16="http://schemas.microsoft.com/office/drawing/2014/main" id="{EA293B94-6203-4C52-9153-AE31C0199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92" name="Group 44">
            <a:extLst>
              <a:ext uri="{FF2B5EF4-FFF2-40B4-BE49-F238E27FC236}">
                <a16:creationId xmlns:a16="http://schemas.microsoft.com/office/drawing/2014/main" id="{76CD2882-25B0-4EE1-9A34-8AD997426C93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3789363"/>
            <a:ext cx="2605087" cy="287337"/>
            <a:chOff x="0" y="0"/>
            <a:chExt cx="1641" cy="272"/>
          </a:xfrm>
        </p:grpSpPr>
        <p:sp>
          <p:nvSpPr>
            <p:cNvPr id="50202" name="Line 45">
              <a:extLst>
                <a:ext uri="{FF2B5EF4-FFF2-40B4-BE49-F238E27FC236}">
                  <a16:creationId xmlns:a16="http://schemas.microsoft.com/office/drawing/2014/main" id="{989CFBB0-41FB-48EF-8D2F-351EC885D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Line 46">
              <a:extLst>
                <a:ext uri="{FF2B5EF4-FFF2-40B4-BE49-F238E27FC236}">
                  <a16:creationId xmlns:a16="http://schemas.microsoft.com/office/drawing/2014/main" id="{4DF03D37-491F-4763-AB6E-413CCB55C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72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4" name="Line 47">
              <a:extLst>
                <a:ext uri="{FF2B5EF4-FFF2-40B4-BE49-F238E27FC236}">
                  <a16:creationId xmlns:a16="http://schemas.microsoft.com/office/drawing/2014/main" id="{F25F7205-6A1D-45F7-BD0F-B6C35DAFA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3" y="90"/>
              <a:ext cx="8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93" name="Line 48">
            <a:extLst>
              <a:ext uri="{FF2B5EF4-FFF2-40B4-BE49-F238E27FC236}">
                <a16:creationId xmlns:a16="http://schemas.microsoft.com/office/drawing/2014/main" id="{786AF800-9D43-406B-ADCB-6A9CAD27F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9725" y="3503613"/>
            <a:ext cx="792163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4" name="Line 49">
            <a:extLst>
              <a:ext uri="{FF2B5EF4-FFF2-40B4-BE49-F238E27FC236}">
                <a16:creationId xmlns:a16="http://schemas.microsoft.com/office/drawing/2014/main" id="{5F41E074-85E0-47D3-B53F-DAFB5EDF9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4188" y="3430588"/>
            <a:ext cx="576262" cy="5048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5" name="Group 50">
            <a:extLst>
              <a:ext uri="{FF2B5EF4-FFF2-40B4-BE49-F238E27FC236}">
                <a16:creationId xmlns:a16="http://schemas.microsoft.com/office/drawing/2014/main" id="{F0FE2E5C-FBD3-44C6-AC7C-80DF7EDC4E97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2189163"/>
            <a:ext cx="1447800" cy="923925"/>
            <a:chOff x="0" y="0"/>
            <a:chExt cx="912" cy="582"/>
          </a:xfrm>
        </p:grpSpPr>
        <p:sp>
          <p:nvSpPr>
            <p:cNvPr id="50197" name="Oval 51">
              <a:extLst>
                <a:ext uri="{FF2B5EF4-FFF2-40B4-BE49-F238E27FC236}">
                  <a16:creationId xmlns:a16="http://schemas.microsoft.com/office/drawing/2014/main" id="{AB9B8D29-9CFE-4B72-9EBE-1969B45BD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390"/>
              <a:ext cx="57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0198" name="Group 52">
              <a:extLst>
                <a:ext uri="{FF2B5EF4-FFF2-40B4-BE49-F238E27FC236}">
                  <a16:creationId xmlns:a16="http://schemas.microsoft.com/office/drawing/2014/main" id="{A2C56FFD-265F-4B64-9C83-1FDA6E9B9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582"/>
              <a:chOff x="0" y="0"/>
              <a:chExt cx="912" cy="582"/>
            </a:xfrm>
          </p:grpSpPr>
          <p:sp>
            <p:nvSpPr>
              <p:cNvPr id="50199" name="Text Box 53">
                <a:extLst>
                  <a:ext uri="{FF2B5EF4-FFF2-40B4-BE49-F238E27FC236}">
                    <a16:creationId xmlns:a16="http://schemas.microsoft.com/office/drawing/2014/main" id="{E331CF19-8AC8-4173-8CA4-BC53A5198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" y="288"/>
                <a:ext cx="39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00" name="Text Box 54">
                <a:extLst>
                  <a:ext uri="{FF2B5EF4-FFF2-40B4-BE49-F238E27FC236}">
                    <a16:creationId xmlns:a16="http://schemas.microsoft.com/office/drawing/2014/main" id="{29403EB5-B66D-474F-80A0-87EB0B047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9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  sPtr</a:t>
                </a:r>
              </a:p>
            </p:txBody>
          </p:sp>
          <p:sp>
            <p:nvSpPr>
              <p:cNvPr id="50201" name="Line 55">
                <a:extLst>
                  <a:ext uri="{FF2B5EF4-FFF2-40B4-BE49-F238E27FC236}">
                    <a16:creationId xmlns:a16="http://schemas.microsoft.com/office/drawing/2014/main" id="{C3CD2FAF-9D94-41AC-9DB3-D558425F5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43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8425" name="Text Box 56">
            <a:extLst>
              <a:ext uri="{FF2B5EF4-FFF2-40B4-BE49-F238E27FC236}">
                <a16:creationId xmlns:a16="http://schemas.microsoft.com/office/drawing/2014/main" id="{9D2C7433-E263-4197-8D43-0D2D6EC55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151313"/>
            <a:ext cx="7489825" cy="2462213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 err="1">
                <a:latin typeface="Times New Roman" panose="02020603050405020304" pitchFamily="18" charset="0"/>
              </a:rPr>
              <a:t>previousPtr</a:t>
            </a:r>
            <a:r>
              <a:rPr lang="en-US" altLang="zh-CN" sz="2200" dirty="0">
                <a:latin typeface="Times New Roman" panose="02020603050405020304" pitchFamily="18" charset="0"/>
              </a:rPr>
              <a:t>=</a:t>
            </a:r>
            <a:r>
              <a:rPr lang="en-US" altLang="zh-CN" sz="22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200" dirty="0"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en-US" altLang="zh-CN" sz="2200" dirty="0">
                <a:latin typeface="Times New Roman" panose="02020603050405020304" pitchFamily="18" charset="0"/>
              </a:rPr>
              <a:t>=</a:t>
            </a:r>
            <a:r>
              <a:rPr lang="en-US" altLang="zh-CN" sz="22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200" dirty="0">
                <a:latin typeface="Times New Roman" panose="02020603050405020304" pitchFamily="18" charset="0"/>
              </a:rPr>
              <a:t>-&gt;</a:t>
            </a:r>
            <a:r>
              <a:rPr lang="en-US" altLang="zh-CN" sz="22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200" dirty="0"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/*</a:t>
            </a:r>
            <a:r>
              <a:rPr lang="zh-CN" altLang="en-US" sz="2200" dirty="0">
                <a:latin typeface="Times New Roman" panose="02020603050405020304" pitchFamily="18" charset="0"/>
              </a:rPr>
              <a:t>查找待</a:t>
            </a:r>
            <a:r>
              <a:rPr lang="zh-CN" altLang="en-US" sz="2200" dirty="0" smtClean="0">
                <a:latin typeface="Times New Roman" panose="02020603050405020304" pitchFamily="18" charset="0"/>
              </a:rPr>
              <a:t>删除结点*</a:t>
            </a:r>
            <a:r>
              <a:rPr lang="en-US" altLang="zh-CN" sz="2200" dirty="0" smtClean="0">
                <a:latin typeface="Times New Roman" panose="02020603050405020304" pitchFamily="18" charset="0"/>
              </a:rPr>
              <a:t>/ 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while(</a:t>
            </a: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en-US" altLang="zh-CN" sz="2200" dirty="0">
                <a:latin typeface="Times New Roman" panose="02020603050405020304" pitchFamily="18" charset="0"/>
              </a:rPr>
              <a:t>!=NULL &amp;&amp; value != </a:t>
            </a: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en-US" altLang="zh-CN" sz="2200" dirty="0">
                <a:latin typeface="Times New Roman" panose="02020603050405020304" pitchFamily="18" charset="0"/>
              </a:rPr>
              <a:t>-&gt;data){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     </a:t>
            </a:r>
            <a:r>
              <a:rPr lang="en-US" altLang="zh-CN" sz="2200" dirty="0" err="1">
                <a:latin typeface="Times New Roman" panose="02020603050405020304" pitchFamily="18" charset="0"/>
              </a:rPr>
              <a:t>previousPtr</a:t>
            </a:r>
            <a:r>
              <a:rPr lang="en-US" altLang="zh-CN" sz="2200" dirty="0">
                <a:latin typeface="Times New Roman" panose="02020603050405020304" pitchFamily="18" charset="0"/>
              </a:rPr>
              <a:t>=</a:t>
            </a: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en-US" altLang="zh-CN" sz="22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     </a:t>
            </a: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en-US" altLang="zh-CN" sz="2200" dirty="0">
                <a:latin typeface="Times New Roman" panose="02020603050405020304" pitchFamily="18" charset="0"/>
              </a:rPr>
              <a:t>=</a:t>
            </a: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en-US" altLang="zh-CN" sz="2200" dirty="0">
                <a:latin typeface="Times New Roman" panose="02020603050405020304" pitchFamily="18" charset="0"/>
              </a:rPr>
              <a:t>-&gt;</a:t>
            </a:r>
            <a:r>
              <a:rPr lang="en-US" altLang="zh-CN" sz="22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2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87568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A1E0DD2D-F617-4FA4-964C-D7B24975919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F9124226-2B25-45DD-A7FE-EB497EC56178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6E619F2E-CF18-4D95-BAA6-217D1E08F0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基本操作</a:t>
            </a:r>
            <a:r>
              <a:rPr lang="en-US" altLang="zh-CN" b="1" dirty="0"/>
              <a:t>5</a:t>
            </a:r>
            <a:r>
              <a:rPr lang="zh-CN" altLang="en-US" b="1" dirty="0"/>
              <a:t>－按值</a:t>
            </a:r>
            <a:r>
              <a:rPr lang="zh-CN" altLang="en-US" b="1" dirty="0" smtClean="0"/>
              <a:t>删除结点</a:t>
            </a:r>
            <a:endParaRPr lang="zh-CN" altLang="en-US" b="1" dirty="0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550DF74-3E5A-46B6-9478-008480B169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319213"/>
            <a:ext cx="8497639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/*</a:t>
            </a:r>
            <a:r>
              <a:rPr lang="zh-CN" altLang="en-US" sz="2200" dirty="0"/>
              <a:t>删除值为</a:t>
            </a:r>
            <a:r>
              <a:rPr lang="en-US" altLang="zh-CN" sz="2200" dirty="0"/>
              <a:t>value</a:t>
            </a:r>
            <a:r>
              <a:rPr lang="zh-CN" altLang="en-US" sz="2200" dirty="0" smtClean="0"/>
              <a:t>的结点，</a:t>
            </a:r>
            <a:r>
              <a:rPr lang="zh-CN" altLang="en-US" sz="2200" dirty="0"/>
              <a:t>成功则返回被删元素值；否则返回</a:t>
            </a:r>
            <a:r>
              <a:rPr lang="en-US" altLang="zh-CN" sz="2200" dirty="0"/>
              <a:t>0</a:t>
            </a:r>
            <a:r>
              <a:rPr lang="zh-CN" altLang="en-US" sz="2200" dirty="0"/>
              <a:t>。*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int </a:t>
            </a:r>
            <a:r>
              <a:rPr lang="en-US" altLang="zh-CN" sz="2200" dirty="0" err="1"/>
              <a:t>deleteNode</a:t>
            </a:r>
            <a:r>
              <a:rPr lang="en-US" altLang="zh-CN" sz="2200" dirty="0"/>
              <a:t>(LISTNODEPTR </a:t>
            </a:r>
            <a:r>
              <a:rPr lang="en-US" altLang="zh-CN" sz="2200" dirty="0" err="1"/>
              <a:t>headPtr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ElementType</a:t>
            </a:r>
            <a:r>
              <a:rPr lang="en-US" altLang="zh-CN" sz="2200" dirty="0"/>
              <a:t> value)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LISTNODEPTR </a:t>
            </a:r>
            <a:r>
              <a:rPr lang="en-US" altLang="zh-CN" sz="2200" dirty="0" err="1"/>
              <a:t>previousPtr,currentPtr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200" dirty="0"/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previousPtr</a:t>
            </a:r>
            <a:r>
              <a:rPr lang="en-US" altLang="zh-CN" sz="2200" dirty="0"/>
              <a:t>=</a:t>
            </a:r>
            <a:r>
              <a:rPr lang="en-US" altLang="zh-CN" sz="2200" dirty="0" err="1"/>
              <a:t>headPtr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currentPtr</a:t>
            </a:r>
            <a:r>
              <a:rPr lang="en-US" altLang="zh-CN" sz="2200" dirty="0"/>
              <a:t>=</a:t>
            </a:r>
            <a:r>
              <a:rPr lang="en-US" altLang="zh-CN" sz="2200" dirty="0" err="1"/>
              <a:t>headPtr</a:t>
            </a:r>
            <a:r>
              <a:rPr lang="en-US" altLang="zh-CN" sz="2200" dirty="0"/>
              <a:t>-&gt;</a:t>
            </a:r>
            <a:r>
              <a:rPr lang="en-US" altLang="zh-CN" sz="2200" dirty="0" err="1"/>
              <a:t>nextPtr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/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/*</a:t>
            </a:r>
            <a:r>
              <a:rPr lang="zh-CN" altLang="en-US" sz="2200" dirty="0"/>
              <a:t>查找待</a:t>
            </a:r>
            <a:r>
              <a:rPr lang="zh-CN" altLang="en-US" sz="2200" dirty="0" smtClean="0"/>
              <a:t>删除结点，</a:t>
            </a:r>
            <a:r>
              <a:rPr lang="zh-CN" altLang="en-US" sz="2200" dirty="0"/>
              <a:t>若找到，则由</a:t>
            </a:r>
            <a:r>
              <a:rPr lang="en-US" altLang="zh-CN" sz="2200" dirty="0" err="1"/>
              <a:t>currentPtr</a:t>
            </a:r>
            <a:r>
              <a:rPr lang="zh-CN" altLang="en-US" sz="2200" dirty="0"/>
              <a:t>指向</a:t>
            </a:r>
            <a:r>
              <a:rPr lang="zh-CN" altLang="en-US" sz="2200" dirty="0" smtClean="0"/>
              <a:t>该结点*</a:t>
            </a:r>
            <a:r>
              <a:rPr lang="en-US" altLang="zh-CN" sz="2200" dirty="0" smtClean="0"/>
              <a:t>/</a:t>
            </a:r>
            <a:endParaRPr lang="en-US" altLang="zh-CN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while (</a:t>
            </a:r>
            <a:r>
              <a:rPr lang="en-US" altLang="zh-CN" sz="2200" dirty="0" err="1"/>
              <a:t>currentPtr</a:t>
            </a:r>
            <a:r>
              <a:rPr lang="en-US" altLang="zh-CN" sz="2200" dirty="0"/>
              <a:t>!=NULL &amp;&amp;  </a:t>
            </a:r>
            <a:r>
              <a:rPr lang="en-US" altLang="zh-CN" sz="2200" dirty="0" err="1"/>
              <a:t>currentPtr</a:t>
            </a:r>
            <a:r>
              <a:rPr lang="en-US" altLang="zh-CN" sz="2200" dirty="0"/>
              <a:t>-&gt;data!=value){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      </a:t>
            </a:r>
            <a:r>
              <a:rPr lang="en-US" altLang="zh-CN" sz="2200" dirty="0" err="1"/>
              <a:t>previousPtr</a:t>
            </a:r>
            <a:r>
              <a:rPr lang="en-US" altLang="zh-CN" sz="2200" dirty="0"/>
              <a:t>=</a:t>
            </a:r>
            <a:r>
              <a:rPr lang="en-US" altLang="zh-CN" sz="2200" dirty="0" err="1"/>
              <a:t>currentPtr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      </a:t>
            </a:r>
            <a:r>
              <a:rPr lang="en-US" altLang="zh-CN" sz="2200" dirty="0" err="1"/>
              <a:t>currentPtr</a:t>
            </a:r>
            <a:r>
              <a:rPr lang="en-US" altLang="zh-CN" sz="2200" dirty="0"/>
              <a:t>=</a:t>
            </a:r>
            <a:r>
              <a:rPr lang="en-US" altLang="zh-CN" sz="2200" dirty="0" err="1"/>
              <a:t>currentPtr</a:t>
            </a:r>
            <a:r>
              <a:rPr lang="en-US" altLang="zh-CN" sz="2200" dirty="0"/>
              <a:t>-&gt;</a:t>
            </a:r>
            <a:r>
              <a:rPr lang="en-US" altLang="zh-CN" sz="2200" dirty="0" err="1"/>
              <a:t>nextPtr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505145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6627B181-79F1-4CF2-96A1-D28E755977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E05D7933-C981-4BBF-8373-D1FEE9241493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F7DD9ED-3A9E-4929-9B0A-EFF76124CE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基本操作</a:t>
            </a:r>
            <a:r>
              <a:rPr lang="en-US" altLang="zh-CN" b="1" dirty="0"/>
              <a:t>5</a:t>
            </a:r>
            <a:r>
              <a:rPr lang="zh-CN" altLang="en-US" b="1" dirty="0"/>
              <a:t>－按值</a:t>
            </a:r>
            <a:r>
              <a:rPr lang="zh-CN" altLang="en-US" b="1" dirty="0" smtClean="0"/>
              <a:t>删除结点</a:t>
            </a:r>
            <a:endParaRPr lang="zh-CN" altLang="en-US" b="1" dirty="0"/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9FA3734-AD1F-49C1-817C-90CC0792C2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if (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!=NULL){ /*</a:t>
            </a:r>
            <a:r>
              <a:rPr lang="zh-CN" altLang="en-US" sz="2400" dirty="0"/>
              <a:t>如果找到要删除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结点</a:t>
            </a:r>
            <a:r>
              <a:rPr lang="zh-CN" altLang="en-US" sz="2400" dirty="0" smtClean="0"/>
              <a:t>*</a:t>
            </a:r>
            <a:r>
              <a:rPr lang="en-US" altLang="zh-CN" sz="2400" dirty="0" smtClean="0"/>
              <a:t>/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	</a:t>
            </a:r>
            <a:r>
              <a:rPr lang="en-US" altLang="zh-CN" sz="2400" dirty="0" err="1"/>
              <a:t>previousPtr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= 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	   	free(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); /*</a:t>
            </a:r>
            <a:r>
              <a:rPr lang="zh-CN" altLang="en-US" sz="2400" dirty="0"/>
              <a:t>释放结点内存*</a:t>
            </a:r>
            <a:r>
              <a:rPr lang="en-US" altLang="zh-CN" sz="24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    	return value;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}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	   return 0;//</a:t>
            </a:r>
            <a:r>
              <a:rPr lang="zh-CN" altLang="en-US" sz="2400" dirty="0"/>
              <a:t>没有找到符合条件的结点	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/>
              <a:t>但是，如果链表中重复元素呢？如何删除所有值为</a:t>
            </a:r>
            <a:r>
              <a:rPr lang="en-US" altLang="zh-CN" sz="2400" dirty="0"/>
              <a:t>x</a:t>
            </a:r>
            <a:r>
              <a:rPr lang="zh-CN" altLang="en-US" sz="2400" dirty="0"/>
              <a:t>的结点？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169077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429595C3-2147-4207-84F8-AF1E71FE8EA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1" dirty="0"/>
              <a:t>基本操作</a:t>
            </a:r>
            <a:r>
              <a:rPr lang="en-US" altLang="zh-CN" b="1" dirty="0"/>
              <a:t>5</a:t>
            </a:r>
            <a:r>
              <a:rPr lang="zh-CN" altLang="en-US" b="1" dirty="0"/>
              <a:t>－删除</a:t>
            </a:r>
            <a:r>
              <a:rPr lang="zh-CN" altLang="en-US" b="1" dirty="0" smtClean="0"/>
              <a:t>多重结点</a:t>
            </a:r>
            <a:endParaRPr lang="zh-CN" altLang="zh-CN" dirty="0"/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A0E6338D-53CD-44A0-8FA2-BE96FD6BB45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39552" y="1268760"/>
            <a:ext cx="8299648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/*</a:t>
            </a:r>
            <a:r>
              <a:rPr lang="zh-CN" altLang="en-US" sz="2000" dirty="0"/>
              <a:t>删除所有值为</a:t>
            </a:r>
            <a:r>
              <a:rPr lang="en-US" altLang="zh-CN" sz="2000" dirty="0"/>
              <a:t>value</a:t>
            </a:r>
            <a:r>
              <a:rPr lang="zh-CN" altLang="en-US" sz="2000" dirty="0"/>
              <a:t>的结点，成功则返回被删元素个数；否则返回</a:t>
            </a:r>
            <a:r>
              <a:rPr lang="en-US" altLang="zh-CN" sz="2000" dirty="0"/>
              <a:t>0</a:t>
            </a:r>
            <a:r>
              <a:rPr lang="zh-CN" altLang="en-US" sz="2000" dirty="0"/>
              <a:t>。*</a:t>
            </a:r>
            <a:r>
              <a:rPr lang="en-US" altLang="zh-CN" sz="200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int </a:t>
            </a:r>
            <a:r>
              <a:rPr lang="en-US" altLang="zh-CN" sz="2000" dirty="0" err="1">
                <a:solidFill>
                  <a:srgbClr val="FF0000"/>
                </a:solidFill>
              </a:rPr>
              <a:t>deleteNodes</a:t>
            </a:r>
            <a:r>
              <a:rPr lang="en-US" altLang="zh-CN" sz="2000" dirty="0"/>
              <a:t>(LISTNODEPTR </a:t>
            </a:r>
            <a:r>
              <a:rPr lang="en-US" altLang="zh-CN" sz="2000" dirty="0" err="1"/>
              <a:t>headPtr,ElementType</a:t>
            </a:r>
            <a:r>
              <a:rPr lang="en-US" altLang="zh-CN" sz="2000" dirty="0"/>
              <a:t> value){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LISTNODEPTR </a:t>
            </a:r>
            <a:r>
              <a:rPr lang="en-US" altLang="zh-CN" sz="2000" dirty="0" err="1"/>
              <a:t>previousPtr,currentPtr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 int count=0;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 /*</a:t>
            </a:r>
            <a:r>
              <a:rPr lang="zh-CN" altLang="en-US" sz="2000" dirty="0"/>
              <a:t>将空结点的后继传给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*/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while ( </a:t>
            </a:r>
            <a:r>
              <a:rPr lang="en-US" altLang="zh-CN" sz="2000" dirty="0" err="1">
                <a:solidFill>
                  <a:srgbClr val="FF0000"/>
                </a:solidFill>
              </a:rPr>
              <a:t>currentPtr</a:t>
            </a:r>
            <a:r>
              <a:rPr lang="en-US" altLang="zh-CN" sz="2000" dirty="0">
                <a:solidFill>
                  <a:srgbClr val="FF0000"/>
                </a:solidFill>
              </a:rPr>
              <a:t> != NULL){  /</a:t>
            </a:r>
            <a:r>
              <a:rPr lang="zh-CN" altLang="en-US" sz="2000" dirty="0">
                <a:solidFill>
                  <a:srgbClr val="FF0000"/>
                </a:solidFill>
              </a:rPr>
              <a:t>*遍历整个链表来删除多个</a:t>
            </a:r>
            <a:r>
              <a:rPr lang="en-US" altLang="zh-CN" sz="2000" dirty="0">
                <a:solidFill>
                  <a:srgbClr val="FF0000"/>
                </a:solidFill>
              </a:rPr>
              <a:t>value</a:t>
            </a:r>
            <a:r>
              <a:rPr lang="zh-CN" altLang="en-US" sz="2000" dirty="0">
                <a:solidFill>
                  <a:srgbClr val="FF0000"/>
                </a:solidFill>
              </a:rPr>
              <a:t>值结点*</a:t>
            </a:r>
            <a:r>
              <a:rPr lang="en-US" altLang="zh-CN" sz="2000" dirty="0" smtClean="0">
                <a:solidFill>
                  <a:srgbClr val="FF0000"/>
                </a:solidFill>
              </a:rPr>
              <a:t>/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 dirty="0"/>
              <a:t>        /*</a:t>
            </a:r>
            <a:r>
              <a:rPr lang="zh-CN" altLang="en-US" sz="2000" dirty="0"/>
              <a:t>查找待删除结点，若找到，则由</a:t>
            </a:r>
            <a:r>
              <a:rPr lang="en-US" altLang="zh-CN" sz="2000" dirty="0" err="1"/>
              <a:t>currentPt</a:t>
            </a:r>
            <a:r>
              <a:rPr lang="zh-CN" altLang="en-US" sz="2000" dirty="0"/>
              <a:t>指向该结点</a:t>
            </a:r>
            <a:r>
              <a:rPr lang="en-US" altLang="zh-CN" sz="2000" dirty="0" smtClean="0"/>
              <a:t>*/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    while (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!=NULL &amp;&amp; 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-&gt;data!=value){ 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        }</a:t>
            </a:r>
            <a:endParaRPr lang="zh-CN" altLang="en-US" sz="2000" dirty="0"/>
          </a:p>
          <a:p>
            <a:pPr marL="0" indent="0">
              <a:buFontTx/>
              <a:buNone/>
            </a:pPr>
            <a:endParaRPr lang="zh-CN" altLang="en-US" sz="2000" dirty="0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C17DAFA6-1FC6-4695-AAA0-DFED0E81DA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FDEE474F-EF3A-49BB-83C1-F5CB4E7456B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1558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8CB03F34-C089-47AA-BBE2-EA4712C427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2B1BC3CF-FA93-48D9-BBEF-9BC247EAAEC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/>
              <a:t>      if (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!=NULL){ /*</a:t>
            </a:r>
            <a:r>
              <a:rPr lang="zh-CN" altLang="en-US" sz="2000" dirty="0"/>
              <a:t>如果找到要删除的结点*</a:t>
            </a:r>
            <a:r>
              <a:rPr lang="en-US" altLang="zh-CN" sz="2000" dirty="0" smtClean="0"/>
              <a:t>/</a:t>
            </a:r>
            <a:endParaRPr lang="en-US" altLang="zh-CN" sz="2000" dirty="0"/>
          </a:p>
          <a:p>
            <a:pPr marL="0" indent="0">
              <a:buFontTx/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=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     free(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); 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	count++;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} 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return count;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80A928DE-23D6-4EDB-BCF9-FC3903210C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ACA0C8CB-3004-4F55-AA4A-908009113A7D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1301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02CD5DF6-9410-4C9C-A640-96FC2938D3D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A65357E-C8B5-4D3B-BE48-A2D97A881BFA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0833608-32B8-43A4-B6CD-7FE8208967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基本操作</a:t>
            </a:r>
            <a:r>
              <a:rPr lang="en-US" altLang="zh-CN" b="1" dirty="0"/>
              <a:t>5</a:t>
            </a:r>
            <a:r>
              <a:rPr lang="zh-CN" altLang="en-US" b="1" dirty="0"/>
              <a:t>－删除指定位置结点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09A97C5-E104-4C83-B728-FAE18969DB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19213"/>
            <a:ext cx="8134350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 err="1"/>
              <a:t>ElementType</a:t>
            </a:r>
            <a:r>
              <a:rPr lang="en-US" altLang="zh-CN" b="1" dirty="0"/>
              <a:t> erase (LISTNODEPTR </a:t>
            </a:r>
            <a:r>
              <a:rPr lang="en-US" altLang="zh-CN" b="1" dirty="0" err="1"/>
              <a:t>currentPtr</a:t>
            </a:r>
            <a:r>
              <a:rPr lang="en-US" altLang="zh-CN" b="1" dirty="0"/>
              <a:t>);</a:t>
            </a:r>
            <a:endParaRPr lang="zh-CN" altLang="en-US" b="1" dirty="0"/>
          </a:p>
        </p:txBody>
      </p:sp>
      <p:grpSp>
        <p:nvGrpSpPr>
          <p:cNvPr id="50181" name="Group 4">
            <a:extLst>
              <a:ext uri="{FF2B5EF4-FFF2-40B4-BE49-F238E27FC236}">
                <a16:creationId xmlns:a16="http://schemas.microsoft.com/office/drawing/2014/main" id="{ADC80737-D47F-49BF-9AD0-0823A23AFF3C}"/>
              </a:ext>
            </a:extLst>
          </p:cNvPr>
          <p:cNvGrpSpPr>
            <a:grpSpLocks/>
          </p:cNvGrpSpPr>
          <p:nvPr/>
        </p:nvGrpSpPr>
        <p:grpSpPr bwMode="auto">
          <a:xfrm>
            <a:off x="2425700" y="3216424"/>
            <a:ext cx="990600" cy="466725"/>
            <a:chOff x="0" y="0"/>
            <a:chExt cx="624" cy="294"/>
          </a:xfrm>
        </p:grpSpPr>
        <p:sp>
          <p:nvSpPr>
            <p:cNvPr id="50232" name="Text Box 5">
              <a:extLst>
                <a:ext uri="{FF2B5EF4-FFF2-40B4-BE49-F238E27FC236}">
                  <a16:creationId xmlns:a16="http://schemas.microsoft.com/office/drawing/2014/main" id="{2109FDF5-E7DC-42C6-B498-D6CE42B30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50233" name="Line 6">
              <a:extLst>
                <a:ext uri="{FF2B5EF4-FFF2-40B4-BE49-F238E27FC236}">
                  <a16:creationId xmlns:a16="http://schemas.microsoft.com/office/drawing/2014/main" id="{90B53FBE-97D0-4C03-9F96-3A0B149B5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2" name="Group 7">
            <a:extLst>
              <a:ext uri="{FF2B5EF4-FFF2-40B4-BE49-F238E27FC236}">
                <a16:creationId xmlns:a16="http://schemas.microsoft.com/office/drawing/2014/main" id="{8D7AB3BC-2AF2-4A1C-B79E-F7D56C1CF07A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3216424"/>
            <a:ext cx="990600" cy="466725"/>
            <a:chOff x="0" y="0"/>
            <a:chExt cx="624" cy="294"/>
          </a:xfrm>
        </p:grpSpPr>
        <p:sp>
          <p:nvSpPr>
            <p:cNvPr id="50230" name="Text Box 8">
              <a:extLst>
                <a:ext uri="{FF2B5EF4-FFF2-40B4-BE49-F238E27FC236}">
                  <a16:creationId xmlns:a16="http://schemas.microsoft.com/office/drawing/2014/main" id="{E3240054-099A-4340-9D27-4012F7310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50231" name="Line 9">
              <a:extLst>
                <a:ext uri="{FF2B5EF4-FFF2-40B4-BE49-F238E27FC236}">
                  <a16:creationId xmlns:a16="http://schemas.microsoft.com/office/drawing/2014/main" id="{8E4CDEE8-CA1E-4257-B8D9-94C976881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3" name="Group 10">
            <a:extLst>
              <a:ext uri="{FF2B5EF4-FFF2-40B4-BE49-F238E27FC236}">
                <a16:creationId xmlns:a16="http://schemas.microsoft.com/office/drawing/2014/main" id="{CF92BE8B-E470-49C9-AE0F-F4D4C1904875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3216424"/>
            <a:ext cx="990600" cy="466725"/>
            <a:chOff x="0" y="0"/>
            <a:chExt cx="624" cy="294"/>
          </a:xfrm>
        </p:grpSpPr>
        <p:sp>
          <p:nvSpPr>
            <p:cNvPr id="50228" name="Text Box 11">
              <a:extLst>
                <a:ext uri="{FF2B5EF4-FFF2-40B4-BE49-F238E27FC236}">
                  <a16:creationId xmlns:a16="http://schemas.microsoft.com/office/drawing/2014/main" id="{522798B6-3DAB-4A4F-A437-A3B191EB0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50229" name="Line 12">
              <a:extLst>
                <a:ext uri="{FF2B5EF4-FFF2-40B4-BE49-F238E27FC236}">
                  <a16:creationId xmlns:a16="http://schemas.microsoft.com/office/drawing/2014/main" id="{5CD3D69F-DF55-4546-802D-2652770C5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4" name="Group 13">
            <a:extLst>
              <a:ext uri="{FF2B5EF4-FFF2-40B4-BE49-F238E27FC236}">
                <a16:creationId xmlns:a16="http://schemas.microsoft.com/office/drawing/2014/main" id="{C973B470-5544-41AF-AE52-319138831486}"/>
              </a:ext>
            </a:extLst>
          </p:cNvPr>
          <p:cNvGrpSpPr>
            <a:grpSpLocks/>
          </p:cNvGrpSpPr>
          <p:nvPr/>
        </p:nvGrpSpPr>
        <p:grpSpPr bwMode="auto">
          <a:xfrm>
            <a:off x="3187700" y="3411687"/>
            <a:ext cx="838200" cy="76200"/>
            <a:chOff x="0" y="0"/>
            <a:chExt cx="528" cy="48"/>
          </a:xfrm>
        </p:grpSpPr>
        <p:sp>
          <p:nvSpPr>
            <p:cNvPr id="50226" name="Line 14">
              <a:extLst>
                <a:ext uri="{FF2B5EF4-FFF2-40B4-BE49-F238E27FC236}">
                  <a16:creationId xmlns:a16="http://schemas.microsoft.com/office/drawing/2014/main" id="{73098768-C9BF-4E23-96F2-78B75498A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7" name="Oval 15">
              <a:extLst>
                <a:ext uri="{FF2B5EF4-FFF2-40B4-BE49-F238E27FC236}">
                  <a16:creationId xmlns:a16="http://schemas.microsoft.com/office/drawing/2014/main" id="{68D02F1B-9D39-4FE9-ADE6-522959D87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85" name="Group 16">
            <a:extLst>
              <a:ext uri="{FF2B5EF4-FFF2-40B4-BE49-F238E27FC236}">
                <a16:creationId xmlns:a16="http://schemas.microsoft.com/office/drawing/2014/main" id="{825C9329-05B4-4246-B67B-E86D2AAA57DB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416449"/>
            <a:ext cx="838200" cy="76200"/>
            <a:chOff x="0" y="0"/>
            <a:chExt cx="528" cy="48"/>
          </a:xfrm>
        </p:grpSpPr>
        <p:sp>
          <p:nvSpPr>
            <p:cNvPr id="50224" name="Line 17">
              <a:extLst>
                <a:ext uri="{FF2B5EF4-FFF2-40B4-BE49-F238E27FC236}">
                  <a16:creationId xmlns:a16="http://schemas.microsoft.com/office/drawing/2014/main" id="{6127D624-51CA-44A2-BAA3-A4FFB5AD8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5" name="Oval 18">
              <a:extLst>
                <a:ext uri="{FF2B5EF4-FFF2-40B4-BE49-F238E27FC236}">
                  <a16:creationId xmlns:a16="http://schemas.microsoft.com/office/drawing/2014/main" id="{8F4BF17B-9294-44C3-B74A-ABD7D66F0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86" name="Group 19">
            <a:extLst>
              <a:ext uri="{FF2B5EF4-FFF2-40B4-BE49-F238E27FC236}">
                <a16:creationId xmlns:a16="http://schemas.microsoft.com/office/drawing/2014/main" id="{EE092ADA-9FA9-4CD8-9301-E7AE8F8E3AB8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1844824"/>
            <a:ext cx="1219200" cy="1371600"/>
            <a:chOff x="0" y="0"/>
            <a:chExt cx="768" cy="864"/>
          </a:xfrm>
        </p:grpSpPr>
        <p:sp>
          <p:nvSpPr>
            <p:cNvPr id="50219" name="Text Box 20">
              <a:extLst>
                <a:ext uri="{FF2B5EF4-FFF2-40B4-BE49-F238E27FC236}">
                  <a16:creationId xmlns:a16="http://schemas.microsoft.com/office/drawing/2014/main" id="{015803F0-5BE5-449B-97C5-4E886A4BB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0220" name="Text Box 21">
              <a:extLst>
                <a:ext uri="{FF2B5EF4-FFF2-40B4-BE49-F238E27FC236}">
                  <a16:creationId xmlns:a16="http://schemas.microsoft.com/office/drawing/2014/main" id="{114F0C42-FBFC-4E7B-A897-C7CC33797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50221" name="Group 22">
              <a:extLst>
                <a:ext uri="{FF2B5EF4-FFF2-40B4-BE49-F238E27FC236}">
                  <a16:creationId xmlns:a16="http://schemas.microsoft.com/office/drawing/2014/main" id="{E9D8F274-5A37-452C-BE88-57EE8CC95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50222" name="Oval 23">
                <a:extLst>
                  <a:ext uri="{FF2B5EF4-FFF2-40B4-BE49-F238E27FC236}">
                    <a16:creationId xmlns:a16="http://schemas.microsoft.com/office/drawing/2014/main" id="{69568AEE-7242-4A69-B009-E6926AA97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3" name="Line 24">
                <a:extLst>
                  <a:ext uri="{FF2B5EF4-FFF2-40B4-BE49-F238E27FC236}">
                    <a16:creationId xmlns:a16="http://schemas.microsoft.com/office/drawing/2014/main" id="{CF60D337-6720-4C03-B0CB-C46956A02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187" name="Group 25">
            <a:extLst>
              <a:ext uri="{FF2B5EF4-FFF2-40B4-BE49-F238E27FC236}">
                <a16:creationId xmlns:a16="http://schemas.microsoft.com/office/drawing/2014/main" id="{6CAD8EDA-3CF3-4616-8118-BB99CBA8A6DA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854349"/>
            <a:ext cx="1600200" cy="1371600"/>
            <a:chOff x="0" y="0"/>
            <a:chExt cx="768" cy="864"/>
          </a:xfrm>
        </p:grpSpPr>
        <p:sp>
          <p:nvSpPr>
            <p:cNvPr id="50214" name="Text Box 26">
              <a:extLst>
                <a:ext uri="{FF2B5EF4-FFF2-40B4-BE49-F238E27FC236}">
                  <a16:creationId xmlns:a16="http://schemas.microsoft.com/office/drawing/2014/main" id="{38351D53-E13C-4E1E-AA55-43038B400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0215" name="Text Box 27">
              <a:extLst>
                <a:ext uri="{FF2B5EF4-FFF2-40B4-BE49-F238E27FC236}">
                  <a16:creationId xmlns:a16="http://schemas.microsoft.com/office/drawing/2014/main" id="{0546842B-31FA-469D-A2B3-4A850FDDA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previousPtr</a:t>
              </a:r>
              <a:endPara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216" name="Group 28">
              <a:extLst>
                <a:ext uri="{FF2B5EF4-FFF2-40B4-BE49-F238E27FC236}">
                  <a16:creationId xmlns:a16="http://schemas.microsoft.com/office/drawing/2014/main" id="{A11F7F6B-F0A6-4B8F-966D-A3DE79A722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50217" name="Oval 29">
                <a:extLst>
                  <a:ext uri="{FF2B5EF4-FFF2-40B4-BE49-F238E27FC236}">
                    <a16:creationId xmlns:a16="http://schemas.microsoft.com/office/drawing/2014/main" id="{A6FF9D7B-3383-4D78-82B7-B754E3C31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8" name="Line 30">
                <a:extLst>
                  <a:ext uri="{FF2B5EF4-FFF2-40B4-BE49-F238E27FC236}">
                    <a16:creationId xmlns:a16="http://schemas.microsoft.com/office/drawing/2014/main" id="{5C32FAC9-7BA4-4788-931F-4C37B7D5E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188" name="Group 31">
            <a:extLst>
              <a:ext uri="{FF2B5EF4-FFF2-40B4-BE49-F238E27FC236}">
                <a16:creationId xmlns:a16="http://schemas.microsoft.com/office/drawing/2014/main" id="{A7F0A72C-57BB-4FBD-B40F-D238E815ACC0}"/>
              </a:ext>
            </a:extLst>
          </p:cNvPr>
          <p:cNvGrpSpPr>
            <a:grpSpLocks/>
          </p:cNvGrpSpPr>
          <p:nvPr/>
        </p:nvGrpSpPr>
        <p:grpSpPr bwMode="auto">
          <a:xfrm>
            <a:off x="5092700" y="1854349"/>
            <a:ext cx="1447800" cy="1371600"/>
            <a:chOff x="0" y="0"/>
            <a:chExt cx="768" cy="864"/>
          </a:xfrm>
        </p:grpSpPr>
        <p:sp>
          <p:nvSpPr>
            <p:cNvPr id="50209" name="Text Box 32">
              <a:extLst>
                <a:ext uri="{FF2B5EF4-FFF2-40B4-BE49-F238E27FC236}">
                  <a16:creationId xmlns:a16="http://schemas.microsoft.com/office/drawing/2014/main" id="{CF1B64A9-C6D9-4D68-B997-73595F5CD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0210" name="Text Box 33">
              <a:extLst>
                <a:ext uri="{FF2B5EF4-FFF2-40B4-BE49-F238E27FC236}">
                  <a16:creationId xmlns:a16="http://schemas.microsoft.com/office/drawing/2014/main" id="{CD8846BA-1064-4526-B67A-B11888C60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currentPtr</a:t>
              </a:r>
            </a:p>
          </p:txBody>
        </p:sp>
        <p:grpSp>
          <p:nvGrpSpPr>
            <p:cNvPr id="50211" name="Group 34">
              <a:extLst>
                <a:ext uri="{FF2B5EF4-FFF2-40B4-BE49-F238E27FC236}">
                  <a16:creationId xmlns:a16="http://schemas.microsoft.com/office/drawing/2014/main" id="{F9AC891E-B050-4B71-84FD-389CE7A085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50212" name="Oval 35">
                <a:extLst>
                  <a:ext uri="{FF2B5EF4-FFF2-40B4-BE49-F238E27FC236}">
                    <a16:creationId xmlns:a16="http://schemas.microsoft.com/office/drawing/2014/main" id="{176CB925-560E-481C-801F-FD47126C6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Line 36">
                <a:extLst>
                  <a:ext uri="{FF2B5EF4-FFF2-40B4-BE49-F238E27FC236}">
                    <a16:creationId xmlns:a16="http://schemas.microsoft.com/office/drawing/2014/main" id="{87B0B6B2-9757-4F22-A97B-45F8B9034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189" name="Line 37">
            <a:extLst>
              <a:ext uri="{FF2B5EF4-FFF2-40B4-BE49-F238E27FC236}">
                <a16:creationId xmlns:a16="http://schemas.microsoft.com/office/drawing/2014/main" id="{4B3451B3-106B-490C-9EE5-A46AD29B2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0813" y="3279924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0" name="Group 38">
            <a:extLst>
              <a:ext uri="{FF2B5EF4-FFF2-40B4-BE49-F238E27FC236}">
                <a16:creationId xmlns:a16="http://schemas.microsoft.com/office/drawing/2014/main" id="{E151C162-57DB-492B-8B37-995230E9B68E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229124"/>
            <a:ext cx="990600" cy="466725"/>
            <a:chOff x="0" y="0"/>
            <a:chExt cx="624" cy="294"/>
          </a:xfrm>
        </p:grpSpPr>
        <p:sp>
          <p:nvSpPr>
            <p:cNvPr id="50207" name="Text Box 39">
              <a:extLst>
                <a:ext uri="{FF2B5EF4-FFF2-40B4-BE49-F238E27FC236}">
                  <a16:creationId xmlns:a16="http://schemas.microsoft.com/office/drawing/2014/main" id="{2569EB0F-D712-4189-9090-B2E53EC7B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9     </a:t>
              </a:r>
            </a:p>
          </p:txBody>
        </p:sp>
        <p:sp>
          <p:nvSpPr>
            <p:cNvPr id="50208" name="Line 40">
              <a:extLst>
                <a:ext uri="{FF2B5EF4-FFF2-40B4-BE49-F238E27FC236}">
                  <a16:creationId xmlns:a16="http://schemas.microsoft.com/office/drawing/2014/main" id="{9E3099AA-EC37-4CED-BE10-3BAA13D18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91" name="Group 41">
            <a:extLst>
              <a:ext uri="{FF2B5EF4-FFF2-40B4-BE49-F238E27FC236}">
                <a16:creationId xmlns:a16="http://schemas.microsoft.com/office/drawing/2014/main" id="{6034328F-ED32-4EC6-A733-41FC190B64D9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3424387"/>
            <a:ext cx="838200" cy="76200"/>
            <a:chOff x="0" y="0"/>
            <a:chExt cx="528" cy="48"/>
          </a:xfrm>
        </p:grpSpPr>
        <p:sp>
          <p:nvSpPr>
            <p:cNvPr id="50205" name="Line 42">
              <a:extLst>
                <a:ext uri="{FF2B5EF4-FFF2-40B4-BE49-F238E27FC236}">
                  <a16:creationId xmlns:a16="http://schemas.microsoft.com/office/drawing/2014/main" id="{F76FCC09-91C3-4C99-B7D1-1423910E0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Oval 43">
              <a:extLst>
                <a:ext uri="{FF2B5EF4-FFF2-40B4-BE49-F238E27FC236}">
                  <a16:creationId xmlns:a16="http://schemas.microsoft.com/office/drawing/2014/main" id="{EA293B94-6203-4C52-9153-AE31C0199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92" name="Group 44">
            <a:extLst>
              <a:ext uri="{FF2B5EF4-FFF2-40B4-BE49-F238E27FC236}">
                <a16:creationId xmlns:a16="http://schemas.microsoft.com/office/drawing/2014/main" id="{76CD2882-25B0-4EE1-9A34-8AD997426C93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3516462"/>
            <a:ext cx="2605087" cy="287337"/>
            <a:chOff x="0" y="0"/>
            <a:chExt cx="1641" cy="272"/>
          </a:xfrm>
        </p:grpSpPr>
        <p:sp>
          <p:nvSpPr>
            <p:cNvPr id="50202" name="Line 45">
              <a:extLst>
                <a:ext uri="{FF2B5EF4-FFF2-40B4-BE49-F238E27FC236}">
                  <a16:creationId xmlns:a16="http://schemas.microsoft.com/office/drawing/2014/main" id="{989CFBB0-41FB-48EF-8D2F-351EC885D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Line 46">
              <a:extLst>
                <a:ext uri="{FF2B5EF4-FFF2-40B4-BE49-F238E27FC236}">
                  <a16:creationId xmlns:a16="http://schemas.microsoft.com/office/drawing/2014/main" id="{4DF03D37-491F-4763-AB6E-413CCB55C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72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4" name="Line 47">
              <a:extLst>
                <a:ext uri="{FF2B5EF4-FFF2-40B4-BE49-F238E27FC236}">
                  <a16:creationId xmlns:a16="http://schemas.microsoft.com/office/drawing/2014/main" id="{F25F7205-6A1D-45F7-BD0F-B6C35DAFA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3" y="90"/>
              <a:ext cx="8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93" name="Line 48">
            <a:extLst>
              <a:ext uri="{FF2B5EF4-FFF2-40B4-BE49-F238E27FC236}">
                <a16:creationId xmlns:a16="http://schemas.microsoft.com/office/drawing/2014/main" id="{786AF800-9D43-406B-ADCB-6A9CAD27F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9725" y="3230712"/>
            <a:ext cx="792163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4" name="Line 49">
            <a:extLst>
              <a:ext uri="{FF2B5EF4-FFF2-40B4-BE49-F238E27FC236}">
                <a16:creationId xmlns:a16="http://schemas.microsoft.com/office/drawing/2014/main" id="{5F41E074-85E0-47D3-B53F-DAFB5EDF9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4188" y="3157687"/>
            <a:ext cx="576262" cy="5048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5" name="Group 50">
            <a:extLst>
              <a:ext uri="{FF2B5EF4-FFF2-40B4-BE49-F238E27FC236}">
                <a16:creationId xmlns:a16="http://schemas.microsoft.com/office/drawing/2014/main" id="{F0FE2E5C-FBD3-44C6-AC7C-80DF7EDC4E97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1916262"/>
            <a:ext cx="1447800" cy="923925"/>
            <a:chOff x="0" y="0"/>
            <a:chExt cx="912" cy="582"/>
          </a:xfrm>
        </p:grpSpPr>
        <p:sp>
          <p:nvSpPr>
            <p:cNvPr id="50197" name="Oval 51">
              <a:extLst>
                <a:ext uri="{FF2B5EF4-FFF2-40B4-BE49-F238E27FC236}">
                  <a16:creationId xmlns:a16="http://schemas.microsoft.com/office/drawing/2014/main" id="{AB9B8D29-9CFE-4B72-9EBE-1969B45BD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390"/>
              <a:ext cx="57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0198" name="Group 52">
              <a:extLst>
                <a:ext uri="{FF2B5EF4-FFF2-40B4-BE49-F238E27FC236}">
                  <a16:creationId xmlns:a16="http://schemas.microsoft.com/office/drawing/2014/main" id="{A2C56FFD-265F-4B64-9C83-1FDA6E9B9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582"/>
              <a:chOff x="0" y="0"/>
              <a:chExt cx="912" cy="582"/>
            </a:xfrm>
          </p:grpSpPr>
          <p:sp>
            <p:nvSpPr>
              <p:cNvPr id="50199" name="Text Box 53">
                <a:extLst>
                  <a:ext uri="{FF2B5EF4-FFF2-40B4-BE49-F238E27FC236}">
                    <a16:creationId xmlns:a16="http://schemas.microsoft.com/office/drawing/2014/main" id="{E331CF19-8AC8-4173-8CA4-BC53A5198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" y="288"/>
                <a:ext cx="39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00" name="Text Box 54">
                <a:extLst>
                  <a:ext uri="{FF2B5EF4-FFF2-40B4-BE49-F238E27FC236}">
                    <a16:creationId xmlns:a16="http://schemas.microsoft.com/office/drawing/2014/main" id="{29403EB5-B66D-474F-80A0-87EB0B047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9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  sPtr</a:t>
                </a:r>
              </a:p>
            </p:txBody>
          </p:sp>
          <p:sp>
            <p:nvSpPr>
              <p:cNvPr id="50201" name="Line 55">
                <a:extLst>
                  <a:ext uri="{FF2B5EF4-FFF2-40B4-BE49-F238E27FC236}">
                    <a16:creationId xmlns:a16="http://schemas.microsoft.com/office/drawing/2014/main" id="{C3CD2FAF-9D94-41AC-9DB3-D558425F5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43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8425" name="Text Box 56">
            <a:extLst>
              <a:ext uri="{FF2B5EF4-FFF2-40B4-BE49-F238E27FC236}">
                <a16:creationId xmlns:a16="http://schemas.microsoft.com/office/drawing/2014/main" id="{9D2C7433-E263-4197-8D43-0D2D6EC55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" y="4211935"/>
            <a:ext cx="7489825" cy="1446550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只有要</a:t>
            </a:r>
            <a:r>
              <a:rPr lang="zh-CN" altLang="en-US" sz="2200" dirty="0" smtClean="0">
                <a:latin typeface="Times New Roman" panose="02020603050405020304" pitchFamily="18" charset="0"/>
              </a:rPr>
              <a:t>删结点指针</a:t>
            </a:r>
            <a:r>
              <a:rPr lang="en-US" altLang="zh-CN" sz="2200" dirty="0" err="1">
                <a:latin typeface="Times New Roman" panose="02020603050405020304" pitchFamily="18" charset="0"/>
              </a:rPr>
              <a:t>currentPtr</a:t>
            </a:r>
            <a:r>
              <a:rPr lang="zh-CN" altLang="en-US" sz="2200" dirty="0">
                <a:latin typeface="Times New Roman" panose="02020603050405020304" pitchFamily="18" charset="0"/>
              </a:rPr>
              <a:t>，无法完成删除任务；只有在双向链表中才可以。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虽然当被</a:t>
            </a:r>
            <a:r>
              <a:rPr lang="zh-CN" altLang="en-US" sz="2200" dirty="0" smtClean="0">
                <a:latin typeface="Times New Roman" panose="02020603050405020304" pitchFamily="18" charset="0"/>
              </a:rPr>
              <a:t>删结点肯定</a:t>
            </a:r>
            <a:r>
              <a:rPr lang="zh-CN" altLang="en-US" sz="2200" dirty="0">
                <a:latin typeface="Times New Roman" panose="02020603050405020304" pitchFamily="18" charset="0"/>
              </a:rPr>
              <a:t>在链表中间，不是尾部时，我们可以将其</a:t>
            </a:r>
            <a:r>
              <a:rPr lang="zh-CN" altLang="en-US" sz="2200" dirty="0" smtClean="0">
                <a:latin typeface="Times New Roman" panose="02020603050405020304" pitchFamily="18" charset="0"/>
              </a:rPr>
              <a:t>后继结点的</a:t>
            </a:r>
            <a:r>
              <a:rPr lang="zh-CN" altLang="en-US" sz="2200" dirty="0">
                <a:latin typeface="Times New Roman" panose="02020603050405020304" pitchFamily="18" charset="0"/>
              </a:rPr>
              <a:t>数值和指针复制到</a:t>
            </a:r>
            <a:r>
              <a:rPr lang="zh-CN" altLang="en-US" sz="2200" dirty="0" smtClean="0">
                <a:latin typeface="Times New Roman" panose="02020603050405020304" pitchFamily="18" charset="0"/>
              </a:rPr>
              <a:t>当前结点，</a:t>
            </a:r>
            <a:r>
              <a:rPr lang="en-US" altLang="zh-CN" sz="2200" dirty="0">
                <a:latin typeface="Times New Roman" panose="02020603050405020304" pitchFamily="18" charset="0"/>
              </a:rPr>
              <a:t>free</a:t>
            </a:r>
            <a:r>
              <a:rPr lang="zh-CN" altLang="en-US" sz="2200" dirty="0" smtClean="0">
                <a:latin typeface="Times New Roman" panose="02020603050405020304" pitchFamily="18" charset="0"/>
              </a:rPr>
              <a:t>后继结点。</a:t>
            </a:r>
            <a:endParaRPr lang="en-US" altLang="zh-CN" sz="2200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94387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D7EEBF11-7A5C-4A2F-9213-873287D1403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5E429960-A614-4024-8390-5A9D73F6BFC0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568" name="Text Box 45">
            <a:extLst>
              <a:ext uri="{FF2B5EF4-FFF2-40B4-BE49-F238E27FC236}">
                <a16:creationId xmlns:a16="http://schemas.microsoft.com/office/drawing/2014/main" id="{0A0C76A9-D115-4BA3-B78E-4A48B4C92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04813"/>
            <a:ext cx="57800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遍历链表（打印）</a:t>
            </a: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DA6271E2-8A51-4A56-97D1-DFDEAB526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253153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100" b="0" dirty="0"/>
              <a:t>void </a:t>
            </a:r>
            <a:r>
              <a:rPr lang="en-US" altLang="zh-CN" sz="2100" b="0" dirty="0" err="1"/>
              <a:t>printList</a:t>
            </a:r>
            <a:r>
              <a:rPr lang="en-US" altLang="zh-CN" sz="2100" b="0" dirty="0"/>
              <a:t>(LISTNODEPTR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{</a:t>
            </a:r>
          </a:p>
          <a:p>
            <a:pPr eaLnBrk="1" hangingPunct="1">
              <a:buNone/>
            </a:pPr>
            <a:r>
              <a:rPr lang="en-US" altLang="zh-CN" sz="2100" b="0" dirty="0"/>
              <a:t>    </a:t>
            </a:r>
            <a:r>
              <a:rPr lang="en-US" altLang="zh-CN" sz="2100" b="0" dirty="0" err="1">
                <a:solidFill>
                  <a:schemeClr val="accent2">
                    <a:lumMod val="75000"/>
                  </a:schemeClr>
                </a:solidFill>
              </a:rPr>
              <a:t>currentPtr</a:t>
            </a:r>
            <a:r>
              <a:rPr lang="en-US" altLang="zh-CN" sz="2100" b="0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en-US" altLang="zh-CN" sz="2100" b="0" dirty="0" err="1">
                <a:solidFill>
                  <a:schemeClr val="accent2">
                    <a:lumMod val="75000"/>
                  </a:schemeClr>
                </a:solidFill>
              </a:rPr>
              <a:t>currentPtr</a:t>
            </a:r>
            <a:r>
              <a:rPr lang="en-US" altLang="zh-CN" sz="2100" b="0" dirty="0">
                <a:solidFill>
                  <a:schemeClr val="accent2">
                    <a:lumMod val="75000"/>
                  </a:schemeClr>
                </a:solidFill>
              </a:rPr>
              <a:t>-&gt;</a:t>
            </a:r>
            <a:r>
              <a:rPr lang="en-US" altLang="zh-CN" sz="2100" b="0" dirty="0" err="1">
                <a:solidFill>
                  <a:schemeClr val="accent2">
                    <a:lumMod val="75000"/>
                  </a:schemeClr>
                </a:solidFill>
              </a:rPr>
              <a:t>nextPtr</a:t>
            </a:r>
            <a:r>
              <a:rPr lang="en-US" altLang="zh-CN" sz="2100" b="0" dirty="0">
                <a:solidFill>
                  <a:schemeClr val="accent2">
                    <a:lumMod val="75000"/>
                  </a:schemeClr>
                </a:solidFill>
              </a:rPr>
              <a:t>; /</a:t>
            </a:r>
            <a:r>
              <a:rPr lang="zh-CN" altLang="en-US" sz="2100" b="0" dirty="0">
                <a:solidFill>
                  <a:schemeClr val="accent2">
                    <a:lumMod val="75000"/>
                  </a:schemeClr>
                </a:solidFill>
              </a:rPr>
              <a:t>*跳过</a:t>
            </a:r>
            <a:r>
              <a:rPr lang="zh-CN" altLang="en-US" sz="2100" b="0" dirty="0" smtClean="0">
                <a:solidFill>
                  <a:schemeClr val="accent2">
                    <a:lumMod val="75000"/>
                  </a:schemeClr>
                </a:solidFill>
              </a:rPr>
              <a:t>空结点*</a:t>
            </a:r>
            <a:r>
              <a:rPr lang="en-US" altLang="zh-CN" sz="2100" b="0" dirty="0" smtClean="0">
                <a:solidFill>
                  <a:schemeClr val="accent2">
                    <a:lumMod val="75000"/>
                  </a:schemeClr>
                </a:solidFill>
              </a:rPr>
              <a:t>/</a:t>
            </a:r>
            <a:endParaRPr lang="en-US" altLang="zh-CN" sz="2100" b="0" dirty="0">
              <a:solidFill>
                <a:schemeClr val="accent2">
                  <a:lumMod val="75000"/>
                </a:schemeClr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100" b="0" dirty="0"/>
              <a:t>    if (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==NULL)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	   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("List is empty\n");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else{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	   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("the list is:\n");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	   while(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!=NULL){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	        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 "%d--&gt;",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-&gt;data);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        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 =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-&gt;</a:t>
            </a:r>
            <a:r>
              <a:rPr lang="en-US" altLang="zh-CN" sz="2100" b="0" dirty="0" err="1"/>
              <a:t>nextPtr</a:t>
            </a:r>
            <a:r>
              <a:rPr lang="en-US" altLang="zh-CN" sz="21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     } 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     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("NULL\n\n");   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}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B0E02552-1207-4B0C-A066-1AEA78522FF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42159D3-CD1F-4E3E-BFD0-2FD9916AE40B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grpSp>
        <p:nvGrpSpPr>
          <p:cNvPr id="28675" name="Group 5">
            <a:extLst>
              <a:ext uri="{FF2B5EF4-FFF2-40B4-BE49-F238E27FC236}">
                <a16:creationId xmlns:a16="http://schemas.microsoft.com/office/drawing/2014/main" id="{2AAA1A61-6381-43B2-9807-6DCA664F432C}"/>
              </a:ext>
            </a:extLst>
          </p:cNvPr>
          <p:cNvGrpSpPr>
            <a:grpSpLocks/>
          </p:cNvGrpSpPr>
          <p:nvPr/>
        </p:nvGrpSpPr>
        <p:grpSpPr bwMode="auto">
          <a:xfrm>
            <a:off x="2081213" y="2352675"/>
            <a:ext cx="990600" cy="466725"/>
            <a:chOff x="0" y="0"/>
            <a:chExt cx="624" cy="294"/>
          </a:xfrm>
        </p:grpSpPr>
        <p:sp>
          <p:nvSpPr>
            <p:cNvPr id="28709" name="Text Box 6">
              <a:extLst>
                <a:ext uri="{FF2B5EF4-FFF2-40B4-BE49-F238E27FC236}">
                  <a16:creationId xmlns:a16="http://schemas.microsoft.com/office/drawing/2014/main" id="{D81E222C-BC5E-4160-A988-17CF845AF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28710" name="Line 7">
              <a:extLst>
                <a:ext uri="{FF2B5EF4-FFF2-40B4-BE49-F238E27FC236}">
                  <a16:creationId xmlns:a16="http://schemas.microsoft.com/office/drawing/2014/main" id="{F91BB91E-0BED-4FB2-819A-4A5DA5107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76" name="Group 8">
            <a:extLst>
              <a:ext uri="{FF2B5EF4-FFF2-40B4-BE49-F238E27FC236}">
                <a16:creationId xmlns:a16="http://schemas.microsoft.com/office/drawing/2014/main" id="{DA4344CC-B586-4555-8593-1376D79465C5}"/>
              </a:ext>
            </a:extLst>
          </p:cNvPr>
          <p:cNvGrpSpPr>
            <a:grpSpLocks/>
          </p:cNvGrpSpPr>
          <p:nvPr/>
        </p:nvGrpSpPr>
        <p:grpSpPr bwMode="auto">
          <a:xfrm>
            <a:off x="3452813" y="2352675"/>
            <a:ext cx="990600" cy="466725"/>
            <a:chOff x="0" y="0"/>
            <a:chExt cx="624" cy="294"/>
          </a:xfrm>
        </p:grpSpPr>
        <p:sp>
          <p:nvSpPr>
            <p:cNvPr id="28707" name="Text Box 9">
              <a:extLst>
                <a:ext uri="{FF2B5EF4-FFF2-40B4-BE49-F238E27FC236}">
                  <a16:creationId xmlns:a16="http://schemas.microsoft.com/office/drawing/2014/main" id="{725F1EEA-FB88-44BE-A593-5AD85EBD6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28708" name="Line 10">
              <a:extLst>
                <a:ext uri="{FF2B5EF4-FFF2-40B4-BE49-F238E27FC236}">
                  <a16:creationId xmlns:a16="http://schemas.microsoft.com/office/drawing/2014/main" id="{370D2F3B-8893-4BAD-8B28-0CAF6118D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77" name="Group 11">
            <a:extLst>
              <a:ext uri="{FF2B5EF4-FFF2-40B4-BE49-F238E27FC236}">
                <a16:creationId xmlns:a16="http://schemas.microsoft.com/office/drawing/2014/main" id="{0F68C549-FE79-44BE-8424-156E60895E33}"/>
              </a:ext>
            </a:extLst>
          </p:cNvPr>
          <p:cNvGrpSpPr>
            <a:grpSpLocks/>
          </p:cNvGrpSpPr>
          <p:nvPr/>
        </p:nvGrpSpPr>
        <p:grpSpPr bwMode="auto">
          <a:xfrm>
            <a:off x="4900613" y="2352675"/>
            <a:ext cx="990600" cy="466725"/>
            <a:chOff x="0" y="0"/>
            <a:chExt cx="624" cy="294"/>
          </a:xfrm>
        </p:grpSpPr>
        <p:sp>
          <p:nvSpPr>
            <p:cNvPr id="28705" name="Text Box 12">
              <a:extLst>
                <a:ext uri="{FF2B5EF4-FFF2-40B4-BE49-F238E27FC236}">
                  <a16:creationId xmlns:a16="http://schemas.microsoft.com/office/drawing/2014/main" id="{6720637D-A8B9-49E2-8F1A-2E2AF99B8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28706" name="Line 13">
              <a:extLst>
                <a:ext uri="{FF2B5EF4-FFF2-40B4-BE49-F238E27FC236}">
                  <a16:creationId xmlns:a16="http://schemas.microsoft.com/office/drawing/2014/main" id="{5DD96BA4-D6D3-4965-B921-06D84BFA5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78" name="Group 14">
            <a:extLst>
              <a:ext uri="{FF2B5EF4-FFF2-40B4-BE49-F238E27FC236}">
                <a16:creationId xmlns:a16="http://schemas.microsoft.com/office/drawing/2014/main" id="{A34419B5-878F-428D-8333-311368ACBA44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547938"/>
            <a:ext cx="609600" cy="109537"/>
            <a:chOff x="0" y="0"/>
            <a:chExt cx="528" cy="48"/>
          </a:xfrm>
        </p:grpSpPr>
        <p:sp>
          <p:nvSpPr>
            <p:cNvPr id="28703" name="Line 15">
              <a:extLst>
                <a:ext uri="{FF2B5EF4-FFF2-40B4-BE49-F238E27FC236}">
                  <a16:creationId xmlns:a16="http://schemas.microsoft.com/office/drawing/2014/main" id="{3D28761E-5917-434A-9754-2EEFF12DD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4" name="Oval 16">
              <a:extLst>
                <a:ext uri="{FF2B5EF4-FFF2-40B4-BE49-F238E27FC236}">
                  <a16:creationId xmlns:a16="http://schemas.microsoft.com/office/drawing/2014/main" id="{ACA12EF9-A048-4592-949A-4ECB8D14E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679" name="Group 17">
            <a:extLst>
              <a:ext uri="{FF2B5EF4-FFF2-40B4-BE49-F238E27FC236}">
                <a16:creationId xmlns:a16="http://schemas.microsoft.com/office/drawing/2014/main" id="{5BFB74F1-651B-4B5D-AE4E-69AF480CBB52}"/>
              </a:ext>
            </a:extLst>
          </p:cNvPr>
          <p:cNvGrpSpPr>
            <a:grpSpLocks/>
          </p:cNvGrpSpPr>
          <p:nvPr/>
        </p:nvGrpSpPr>
        <p:grpSpPr bwMode="auto">
          <a:xfrm>
            <a:off x="4214813" y="2552700"/>
            <a:ext cx="685800" cy="104775"/>
            <a:chOff x="0" y="0"/>
            <a:chExt cx="528" cy="48"/>
          </a:xfrm>
        </p:grpSpPr>
        <p:sp>
          <p:nvSpPr>
            <p:cNvPr id="28701" name="Line 18">
              <a:extLst>
                <a:ext uri="{FF2B5EF4-FFF2-40B4-BE49-F238E27FC236}">
                  <a16:creationId xmlns:a16="http://schemas.microsoft.com/office/drawing/2014/main" id="{95823174-44E4-423B-84C4-8AC1B7F74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2" name="Oval 19">
              <a:extLst>
                <a:ext uri="{FF2B5EF4-FFF2-40B4-BE49-F238E27FC236}">
                  <a16:creationId xmlns:a16="http://schemas.microsoft.com/office/drawing/2014/main" id="{F9613D3D-6F7D-43BB-A0CF-158061947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680" name="Group 20">
            <a:extLst>
              <a:ext uri="{FF2B5EF4-FFF2-40B4-BE49-F238E27FC236}">
                <a16:creationId xmlns:a16="http://schemas.microsoft.com/office/drawing/2014/main" id="{86F6CFB0-3A59-45A7-9443-8299C8907590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981075"/>
            <a:ext cx="1219200" cy="1371600"/>
            <a:chOff x="0" y="0"/>
            <a:chExt cx="768" cy="864"/>
          </a:xfrm>
        </p:grpSpPr>
        <p:sp>
          <p:nvSpPr>
            <p:cNvPr id="28696" name="Text Box 21">
              <a:extLst>
                <a:ext uri="{FF2B5EF4-FFF2-40B4-BE49-F238E27FC236}">
                  <a16:creationId xmlns:a16="http://schemas.microsoft.com/office/drawing/2014/main" id="{9259CFA7-C2F6-4C1B-BDFF-EC1B37400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8697" name="Text Box 22">
              <a:extLst>
                <a:ext uri="{FF2B5EF4-FFF2-40B4-BE49-F238E27FC236}">
                  <a16:creationId xmlns:a16="http://schemas.microsoft.com/office/drawing/2014/main" id="{037CD15E-AAC2-47C2-A3FD-393ABF44D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28698" name="Group 23">
              <a:extLst>
                <a:ext uri="{FF2B5EF4-FFF2-40B4-BE49-F238E27FC236}">
                  <a16:creationId xmlns:a16="http://schemas.microsoft.com/office/drawing/2014/main" id="{F47E9E48-5776-46C2-83FA-8D28313F3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28699" name="Oval 24">
                <a:extLst>
                  <a:ext uri="{FF2B5EF4-FFF2-40B4-BE49-F238E27FC236}">
                    <a16:creationId xmlns:a16="http://schemas.microsoft.com/office/drawing/2014/main" id="{3BFA58BE-D50B-48C0-A056-D0D95D996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0" name="Line 25">
                <a:extLst>
                  <a:ext uri="{FF2B5EF4-FFF2-40B4-BE49-F238E27FC236}">
                    <a16:creationId xmlns:a16="http://schemas.microsoft.com/office/drawing/2014/main" id="{9B58541D-D581-4E59-A3C5-61DD7A24B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682" name="Line 31">
            <a:extLst>
              <a:ext uri="{FF2B5EF4-FFF2-40B4-BE49-F238E27FC236}">
                <a16:creationId xmlns:a16="http://schemas.microsoft.com/office/drawing/2014/main" id="{EED0F0F5-713E-477A-A630-688473746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4013" y="23622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F0AE80-DA12-4D4E-BC63-9981150CD4E7}"/>
              </a:ext>
            </a:extLst>
          </p:cNvPr>
          <p:cNvGrpSpPr/>
          <p:nvPr/>
        </p:nvGrpSpPr>
        <p:grpSpPr>
          <a:xfrm>
            <a:off x="323850" y="2852738"/>
            <a:ext cx="4386263" cy="1163637"/>
            <a:chOff x="323850" y="2852738"/>
            <a:chExt cx="4386263" cy="1163637"/>
          </a:xfrm>
        </p:grpSpPr>
        <p:grpSp>
          <p:nvGrpSpPr>
            <p:cNvPr id="28681" name="Group 26">
              <a:extLst>
                <a:ext uri="{FF2B5EF4-FFF2-40B4-BE49-F238E27FC236}">
                  <a16:creationId xmlns:a16="http://schemas.microsoft.com/office/drawing/2014/main" id="{ACEFAEA2-C668-420F-9C45-8F43464D73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313" y="2852738"/>
              <a:ext cx="1447800" cy="1143000"/>
              <a:chOff x="0" y="0"/>
              <a:chExt cx="912" cy="720"/>
            </a:xfrm>
          </p:grpSpPr>
          <p:sp>
            <p:nvSpPr>
              <p:cNvPr id="28692" name="Text Box 27">
                <a:extLst>
                  <a:ext uri="{FF2B5EF4-FFF2-40B4-BE49-F238E27FC236}">
                    <a16:creationId xmlns:a16="http://schemas.microsoft.com/office/drawing/2014/main" id="{46BD192B-B91A-4C38-948B-65393908BA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" y="192"/>
                <a:ext cx="39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3" name="Text Box 28">
                <a:extLst>
                  <a:ext uri="{FF2B5EF4-FFF2-40B4-BE49-F238E27FC236}">
                    <a16:creationId xmlns:a16="http://schemas.microsoft.com/office/drawing/2014/main" id="{9AAAD432-C090-42C4-8A2A-47D1B6EA6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32"/>
                <a:ext cx="9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headPtr</a:t>
                </a:r>
              </a:p>
            </p:txBody>
          </p:sp>
          <p:sp>
            <p:nvSpPr>
              <p:cNvPr id="28694" name="Oval 29">
                <a:extLst>
                  <a:ext uri="{FF2B5EF4-FFF2-40B4-BE49-F238E27FC236}">
                    <a16:creationId xmlns:a16="http://schemas.microsoft.com/office/drawing/2014/main" id="{0D5BF331-A159-4D4C-B0C6-2A0C93F58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" y="336"/>
                <a:ext cx="57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5" name="Line 30">
                <a:extLst>
                  <a:ext uri="{FF2B5EF4-FFF2-40B4-BE49-F238E27FC236}">
                    <a16:creationId xmlns:a16="http://schemas.microsoft.com/office/drawing/2014/main" id="{2FB4AA0B-4A77-4455-AD2A-80AE6C618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" y="0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894" name="Group 41">
              <a:extLst>
                <a:ext uri="{FF2B5EF4-FFF2-40B4-BE49-F238E27FC236}">
                  <a16:creationId xmlns:a16="http://schemas.microsoft.com/office/drawing/2014/main" id="{A2515B2A-8691-493E-9BDD-F3FAF2F35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850" y="2852738"/>
              <a:ext cx="1727200" cy="1163637"/>
              <a:chOff x="0" y="0"/>
              <a:chExt cx="1088" cy="733"/>
            </a:xfrm>
          </p:grpSpPr>
          <p:sp>
            <p:nvSpPr>
              <p:cNvPr id="28687" name="Text Box 34">
                <a:extLst>
                  <a:ext uri="{FF2B5EF4-FFF2-40B4-BE49-F238E27FC236}">
                    <a16:creationId xmlns:a16="http://schemas.microsoft.com/office/drawing/2014/main" id="{C33C36BE-2EDB-42AC-A0E3-FA5D2F47C6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45"/>
                <a:ext cx="9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tempPtr</a:t>
                </a:r>
              </a:p>
            </p:txBody>
          </p:sp>
          <p:grpSp>
            <p:nvGrpSpPr>
              <p:cNvPr id="28688" name="Group 39">
                <a:extLst>
                  <a:ext uri="{FF2B5EF4-FFF2-40B4-BE49-F238E27FC236}">
                    <a16:creationId xmlns:a16="http://schemas.microsoft.com/office/drawing/2014/main" id="{A02B8BF9-3A18-4DD1-816C-6E7863D2E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" y="0"/>
                <a:ext cx="956" cy="499"/>
                <a:chOff x="0" y="0"/>
                <a:chExt cx="956" cy="499"/>
              </a:xfrm>
            </p:grpSpPr>
            <p:sp>
              <p:nvSpPr>
                <p:cNvPr id="28689" name="Text Box 33">
                  <a:extLst>
                    <a:ext uri="{FF2B5EF4-FFF2-40B4-BE49-F238E27FC236}">
                      <a16:creationId xmlns:a16="http://schemas.microsoft.com/office/drawing/2014/main" id="{FB6FE49A-E4D3-42B9-B874-D5AAECD35B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205"/>
                  <a:ext cx="39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0" name="Oval 35">
                  <a:extLst>
                    <a:ext uri="{FF2B5EF4-FFF2-40B4-BE49-F238E27FC236}">
                      <a16:creationId xmlns:a16="http://schemas.microsoft.com/office/drawing/2014/main" id="{62E6384B-8C79-4436-A4D0-B759799081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" y="349"/>
                  <a:ext cx="57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1" name="Line 36">
                  <a:extLst>
                    <a:ext uri="{FF2B5EF4-FFF2-40B4-BE49-F238E27FC236}">
                      <a16:creationId xmlns:a16="http://schemas.microsoft.com/office/drawing/2014/main" id="{5251CCDF-FD4C-408C-BBA2-D9DE6EA2F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" y="0"/>
                  <a:ext cx="764" cy="3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8684" name="Line 37">
            <a:extLst>
              <a:ext uri="{FF2B5EF4-FFF2-40B4-BE49-F238E27FC236}">
                <a16:creationId xmlns:a16="http://schemas.microsoft.com/office/drawing/2014/main" id="{3093C38B-99DA-4A68-8DE5-215936959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081213"/>
            <a:ext cx="1728787" cy="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1" name="Text Box 38">
            <a:extLst>
              <a:ext uri="{FF2B5EF4-FFF2-40B4-BE49-F238E27FC236}">
                <a16:creationId xmlns:a16="http://schemas.microsoft.com/office/drawing/2014/main" id="{17BB9115-D1AC-4716-A9B9-19AB1BE0C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4098925"/>
            <a:ext cx="9144000" cy="2308324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思考：若用语句</a:t>
            </a:r>
            <a:r>
              <a:rPr lang="en-US" altLang="zh-CN" sz="2400" dirty="0">
                <a:latin typeface="Times New Roman" panose="02020603050405020304" pitchFamily="18" charset="0"/>
              </a:rPr>
              <a:t>free(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来释放链表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头结点，</a:t>
            </a:r>
            <a:r>
              <a:rPr lang="zh-CN" altLang="en-US" sz="2400" dirty="0">
                <a:latin typeface="Times New Roman" panose="02020603050405020304" pitchFamily="18" charset="0"/>
              </a:rPr>
              <a:t>会有什么后果？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后果：第二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个结点的</a:t>
            </a:r>
            <a:r>
              <a:rPr lang="zh-CN" altLang="en-US" sz="2400" dirty="0">
                <a:latin typeface="Times New Roman" panose="02020603050405020304" pitchFamily="18" charset="0"/>
              </a:rPr>
              <a:t>地址也就丢失了，从而无法释放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后续结点！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解决方法：设置指针变量</a:t>
            </a:r>
            <a:r>
              <a:rPr lang="en-US" altLang="zh-CN" sz="2400" dirty="0" err="1">
                <a:latin typeface="Times New Roman" panose="02020603050405020304" pitchFamily="18" charset="0"/>
              </a:rPr>
              <a:t>tempPtr</a:t>
            </a:r>
            <a:r>
              <a:rPr lang="zh-CN" altLang="en-US" sz="2400" dirty="0">
                <a:latin typeface="Times New Roman" panose="02020603050405020304" pitchFamily="18" charset="0"/>
              </a:rPr>
              <a:t>。要释放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zh-CN" altLang="en-US" sz="2400" dirty="0">
                <a:latin typeface="Times New Roman" panose="02020603050405020304" pitchFamily="18" charset="0"/>
              </a:rPr>
              <a:t>指向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的结点之前</a:t>
            </a:r>
            <a:r>
              <a:rPr lang="zh-CN" altLang="en-US" sz="2400" dirty="0">
                <a:latin typeface="Times New Roman" panose="02020603050405020304" pitchFamily="18" charset="0"/>
              </a:rPr>
              <a:t>，先将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值赋给</a:t>
            </a:r>
            <a:r>
              <a:rPr lang="en-US" altLang="zh-CN" sz="2400" dirty="0" err="1">
                <a:latin typeface="Times New Roman" panose="02020603050405020304" pitchFamily="18" charset="0"/>
              </a:rPr>
              <a:t>tempPtr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，然后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zh-CN" altLang="en-US" sz="2400" dirty="0">
                <a:latin typeface="Times New Roman" panose="02020603050405020304" pitchFamily="18" charset="0"/>
              </a:rPr>
              <a:t>指向下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一结点，</a:t>
            </a:r>
            <a:r>
              <a:rPr lang="zh-CN" altLang="en-US" sz="2400" dirty="0">
                <a:latin typeface="Times New Roman" panose="02020603050405020304" pitchFamily="18" charset="0"/>
              </a:rPr>
              <a:t>然后执行</a:t>
            </a:r>
            <a:r>
              <a:rPr lang="en-US" altLang="zh-CN" sz="2400" dirty="0">
                <a:latin typeface="Times New Roman" panose="02020603050405020304" pitchFamily="18" charset="0"/>
              </a:rPr>
              <a:t>free(</a:t>
            </a:r>
            <a:r>
              <a:rPr lang="en-US" altLang="zh-CN" sz="2400" dirty="0" err="1">
                <a:latin typeface="Times New Roman" panose="02020603050405020304" pitchFamily="18" charset="0"/>
              </a:rPr>
              <a:t>tempPtr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86" name="Text Box 40">
            <a:extLst>
              <a:ext uri="{FF2B5EF4-FFF2-40B4-BE49-F238E27FC236}">
                <a16:creationId xmlns:a16="http://schemas.microsoft.com/office/drawing/2014/main" id="{1E7882D6-FB65-4FBB-BEB5-597C83C844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－释放链表</a:t>
            </a:r>
          </a:p>
        </p:txBody>
      </p:sp>
      <p:grpSp>
        <p:nvGrpSpPr>
          <p:cNvPr id="39" name="Group 49">
            <a:extLst>
              <a:ext uri="{FF2B5EF4-FFF2-40B4-BE49-F238E27FC236}">
                <a16:creationId xmlns:a16="http://schemas.microsoft.com/office/drawing/2014/main" id="{9B38DF21-6077-4578-B4D4-1AAE51F61AC8}"/>
              </a:ext>
            </a:extLst>
          </p:cNvPr>
          <p:cNvGrpSpPr>
            <a:grpSpLocks/>
          </p:cNvGrpSpPr>
          <p:nvPr/>
        </p:nvGrpSpPr>
        <p:grpSpPr bwMode="auto">
          <a:xfrm>
            <a:off x="2441431" y="2379345"/>
            <a:ext cx="341313" cy="457200"/>
            <a:chOff x="0" y="0"/>
            <a:chExt cx="192" cy="288"/>
          </a:xfrm>
        </p:grpSpPr>
        <p:sp>
          <p:nvSpPr>
            <p:cNvPr id="40" name="Line 50">
              <a:extLst>
                <a:ext uri="{FF2B5EF4-FFF2-40B4-BE49-F238E27FC236}">
                  <a16:creationId xmlns:a16="http://schemas.microsoft.com/office/drawing/2014/main" id="{400DE923-59ED-4D68-A922-09C08068D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192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51">
              <a:extLst>
                <a:ext uri="{FF2B5EF4-FFF2-40B4-BE49-F238E27FC236}">
                  <a16:creationId xmlns:a16="http://schemas.microsoft.com/office/drawing/2014/main" id="{B1159431-2EE5-4BFD-86BE-E7A277885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"/>
              <a:ext cx="192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1AB0A33C-F828-42C4-9D8C-9B928E4ECB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BBDA696-0D43-4525-A36E-C311F6CF4DE6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228BFD4-5A82-486D-98C4-699D08C40C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－释放链表</a:t>
            </a:r>
          </a:p>
        </p:txBody>
      </p:sp>
      <p:grpSp>
        <p:nvGrpSpPr>
          <p:cNvPr id="29701" name="Group 4">
            <a:extLst>
              <a:ext uri="{FF2B5EF4-FFF2-40B4-BE49-F238E27FC236}">
                <a16:creationId xmlns:a16="http://schemas.microsoft.com/office/drawing/2014/main" id="{9411DF52-B36B-4505-BDEA-4E7F11C468D0}"/>
              </a:ext>
            </a:extLst>
          </p:cNvPr>
          <p:cNvGrpSpPr>
            <a:grpSpLocks/>
          </p:cNvGrpSpPr>
          <p:nvPr/>
        </p:nvGrpSpPr>
        <p:grpSpPr bwMode="auto">
          <a:xfrm>
            <a:off x="2081213" y="1268413"/>
            <a:ext cx="990600" cy="466725"/>
            <a:chOff x="0" y="0"/>
            <a:chExt cx="624" cy="294"/>
          </a:xfrm>
        </p:grpSpPr>
        <p:sp>
          <p:nvSpPr>
            <p:cNvPr id="29738" name="Text Box 5">
              <a:extLst>
                <a:ext uri="{FF2B5EF4-FFF2-40B4-BE49-F238E27FC236}">
                  <a16:creationId xmlns:a16="http://schemas.microsoft.com/office/drawing/2014/main" id="{AB8178B5-604E-4B07-9881-C99E0062A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29739" name="Line 6">
              <a:extLst>
                <a:ext uri="{FF2B5EF4-FFF2-40B4-BE49-F238E27FC236}">
                  <a16:creationId xmlns:a16="http://schemas.microsoft.com/office/drawing/2014/main" id="{0C1A1860-794F-47F1-A73C-B9ABE512F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702" name="Group 7">
            <a:extLst>
              <a:ext uri="{FF2B5EF4-FFF2-40B4-BE49-F238E27FC236}">
                <a16:creationId xmlns:a16="http://schemas.microsoft.com/office/drawing/2014/main" id="{7431A144-BD4E-4132-8A65-68AEBB892247}"/>
              </a:ext>
            </a:extLst>
          </p:cNvPr>
          <p:cNvGrpSpPr>
            <a:grpSpLocks/>
          </p:cNvGrpSpPr>
          <p:nvPr/>
        </p:nvGrpSpPr>
        <p:grpSpPr bwMode="auto">
          <a:xfrm>
            <a:off x="3452813" y="1268413"/>
            <a:ext cx="990600" cy="466725"/>
            <a:chOff x="0" y="0"/>
            <a:chExt cx="624" cy="294"/>
          </a:xfrm>
        </p:grpSpPr>
        <p:sp>
          <p:nvSpPr>
            <p:cNvPr id="29736" name="Text Box 8">
              <a:extLst>
                <a:ext uri="{FF2B5EF4-FFF2-40B4-BE49-F238E27FC236}">
                  <a16:creationId xmlns:a16="http://schemas.microsoft.com/office/drawing/2014/main" id="{6D58C4C6-936C-46B2-80A5-25184354F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29737" name="Line 9">
              <a:extLst>
                <a:ext uri="{FF2B5EF4-FFF2-40B4-BE49-F238E27FC236}">
                  <a16:creationId xmlns:a16="http://schemas.microsoft.com/office/drawing/2014/main" id="{98B2F004-6DB8-4056-B003-0DB8B2C3A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703" name="Group 10">
            <a:extLst>
              <a:ext uri="{FF2B5EF4-FFF2-40B4-BE49-F238E27FC236}">
                <a16:creationId xmlns:a16="http://schemas.microsoft.com/office/drawing/2014/main" id="{7700C114-4C1C-4CC8-A2EC-3331D4D7232B}"/>
              </a:ext>
            </a:extLst>
          </p:cNvPr>
          <p:cNvGrpSpPr>
            <a:grpSpLocks/>
          </p:cNvGrpSpPr>
          <p:nvPr/>
        </p:nvGrpSpPr>
        <p:grpSpPr bwMode="auto">
          <a:xfrm>
            <a:off x="4900613" y="1268413"/>
            <a:ext cx="990600" cy="466725"/>
            <a:chOff x="0" y="0"/>
            <a:chExt cx="624" cy="294"/>
          </a:xfrm>
        </p:grpSpPr>
        <p:sp>
          <p:nvSpPr>
            <p:cNvPr id="29734" name="Text Box 11">
              <a:extLst>
                <a:ext uri="{FF2B5EF4-FFF2-40B4-BE49-F238E27FC236}">
                  <a16:creationId xmlns:a16="http://schemas.microsoft.com/office/drawing/2014/main" id="{D38D913B-781D-4296-80E3-B5EC33151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29735" name="Line 12">
              <a:extLst>
                <a:ext uri="{FF2B5EF4-FFF2-40B4-BE49-F238E27FC236}">
                  <a16:creationId xmlns:a16="http://schemas.microsoft.com/office/drawing/2014/main" id="{B14A7EF2-DBB8-4FE7-A064-5741896B0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704" name="Group 13">
            <a:extLst>
              <a:ext uri="{FF2B5EF4-FFF2-40B4-BE49-F238E27FC236}">
                <a16:creationId xmlns:a16="http://schemas.microsoft.com/office/drawing/2014/main" id="{70EAD43D-E6BE-4902-9231-B0ACBFBB1EA0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1463675"/>
            <a:ext cx="609600" cy="109538"/>
            <a:chOff x="0" y="0"/>
            <a:chExt cx="528" cy="48"/>
          </a:xfrm>
        </p:grpSpPr>
        <p:sp>
          <p:nvSpPr>
            <p:cNvPr id="29732" name="Line 14">
              <a:extLst>
                <a:ext uri="{FF2B5EF4-FFF2-40B4-BE49-F238E27FC236}">
                  <a16:creationId xmlns:a16="http://schemas.microsoft.com/office/drawing/2014/main" id="{F4AE9606-89BA-4863-85E3-40CF35982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Oval 15">
              <a:extLst>
                <a:ext uri="{FF2B5EF4-FFF2-40B4-BE49-F238E27FC236}">
                  <a16:creationId xmlns:a16="http://schemas.microsoft.com/office/drawing/2014/main" id="{BA955F88-26EC-4D84-BE1A-A70E0FDEC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705" name="Group 16">
            <a:extLst>
              <a:ext uri="{FF2B5EF4-FFF2-40B4-BE49-F238E27FC236}">
                <a16:creationId xmlns:a16="http://schemas.microsoft.com/office/drawing/2014/main" id="{78AB7BC5-1C12-434A-BCC9-E54C0A965B29}"/>
              </a:ext>
            </a:extLst>
          </p:cNvPr>
          <p:cNvGrpSpPr>
            <a:grpSpLocks/>
          </p:cNvGrpSpPr>
          <p:nvPr/>
        </p:nvGrpSpPr>
        <p:grpSpPr bwMode="auto">
          <a:xfrm>
            <a:off x="4214813" y="1468438"/>
            <a:ext cx="685800" cy="104775"/>
            <a:chOff x="0" y="0"/>
            <a:chExt cx="528" cy="48"/>
          </a:xfrm>
        </p:grpSpPr>
        <p:sp>
          <p:nvSpPr>
            <p:cNvPr id="29730" name="Line 17">
              <a:extLst>
                <a:ext uri="{FF2B5EF4-FFF2-40B4-BE49-F238E27FC236}">
                  <a16:creationId xmlns:a16="http://schemas.microsoft.com/office/drawing/2014/main" id="{DC33D74F-437C-4A9F-8327-E70B65834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Oval 18">
              <a:extLst>
                <a:ext uri="{FF2B5EF4-FFF2-40B4-BE49-F238E27FC236}">
                  <a16:creationId xmlns:a16="http://schemas.microsoft.com/office/drawing/2014/main" id="{AD2E8645-4080-4986-B222-99D0A13B9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9706" name="Text Box 20">
            <a:extLst>
              <a:ext uri="{FF2B5EF4-FFF2-40B4-BE49-F238E27FC236}">
                <a16:creationId xmlns:a16="http://schemas.microsoft.com/office/drawing/2014/main" id="{A62949DC-D00E-43CA-926E-D919A297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2078038"/>
            <a:ext cx="63341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29707" name="Text Box 21">
            <a:extLst>
              <a:ext uri="{FF2B5EF4-FFF2-40B4-BE49-F238E27FC236}">
                <a16:creationId xmlns:a16="http://schemas.microsoft.com/office/drawing/2014/main" id="{CE050BB2-1308-4FAF-9684-836C6B6A9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459038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solidFill>
                  <a:srgbClr val="FF3300"/>
                </a:solidFill>
                <a:latin typeface="Times New Roman" panose="02020603050405020304" pitchFamily="18" charset="0"/>
              </a:rPr>
              <a:t>headPtr</a:t>
            </a:r>
          </a:p>
        </p:txBody>
      </p:sp>
      <p:sp>
        <p:nvSpPr>
          <p:cNvPr id="29708" name="Oval 22">
            <a:extLst>
              <a:ext uri="{FF2B5EF4-FFF2-40B4-BE49-F238E27FC236}">
                <a16:creationId xmlns:a16="http://schemas.microsoft.com/office/drawing/2014/main" id="{0BF06E44-3E32-4D82-977F-AF35B687E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75" y="2306638"/>
            <a:ext cx="90488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37911" name="Line 23">
            <a:extLst>
              <a:ext uri="{FF2B5EF4-FFF2-40B4-BE49-F238E27FC236}">
                <a16:creationId xmlns:a16="http://schemas.microsoft.com/office/drawing/2014/main" id="{6B85B2C0-A64A-41AB-9901-05015CF4A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3" y="17732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0" name="Line 24">
            <a:extLst>
              <a:ext uri="{FF2B5EF4-FFF2-40B4-BE49-F238E27FC236}">
                <a16:creationId xmlns:a16="http://schemas.microsoft.com/office/drawing/2014/main" id="{B6E3AAEC-C246-4156-8289-7F8FB735D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4013" y="1277938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1" name="Text Box 25">
            <a:extLst>
              <a:ext uri="{FF2B5EF4-FFF2-40B4-BE49-F238E27FC236}">
                <a16:creationId xmlns:a16="http://schemas.microsoft.com/office/drawing/2014/main" id="{AC83A063-4815-4D25-9373-F7AF5CA14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2492375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solidFill>
                  <a:srgbClr val="FF3300"/>
                </a:solidFill>
                <a:latin typeface="Times New Roman" panose="02020603050405020304" pitchFamily="18" charset="0"/>
              </a:rPr>
              <a:t>tempPtr</a:t>
            </a:r>
          </a:p>
        </p:txBody>
      </p:sp>
      <p:sp>
        <p:nvSpPr>
          <p:cNvPr id="29712" name="Text Box 27">
            <a:extLst>
              <a:ext uri="{FF2B5EF4-FFF2-40B4-BE49-F238E27FC236}">
                <a16:creationId xmlns:a16="http://schemas.microsoft.com/office/drawing/2014/main" id="{7606F118-F60C-4555-AD30-C6F593DCF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2093913"/>
            <a:ext cx="63341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29713" name="Oval 28">
            <a:extLst>
              <a:ext uri="{FF2B5EF4-FFF2-40B4-BE49-F238E27FC236}">
                <a16:creationId xmlns:a16="http://schemas.microsoft.com/office/drawing/2014/main" id="{5F7801AE-BDDD-4FF4-8A99-3C083C8CC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2322513"/>
            <a:ext cx="90487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37916" name="Line 29">
            <a:extLst>
              <a:ext uri="{FF2B5EF4-FFF2-40B4-BE49-F238E27FC236}">
                <a16:creationId xmlns:a16="http://schemas.microsoft.com/office/drawing/2014/main" id="{6D4DE7C3-F4AA-4541-B282-952589FB6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1700213"/>
            <a:ext cx="1439863" cy="630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8" name="Line 31">
            <a:extLst>
              <a:ext uri="{FF2B5EF4-FFF2-40B4-BE49-F238E27FC236}">
                <a16:creationId xmlns:a16="http://schemas.microsoft.com/office/drawing/2014/main" id="{C74D6A20-D6B7-4797-AF48-639D3D8B94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11413" y="1773238"/>
            <a:ext cx="108108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9" name="Line 32">
            <a:extLst>
              <a:ext uri="{FF2B5EF4-FFF2-40B4-BE49-F238E27FC236}">
                <a16:creationId xmlns:a16="http://schemas.microsoft.com/office/drawing/2014/main" id="{72EF3CA0-4681-4328-9E36-CC9B73D15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1700213"/>
            <a:ext cx="71437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0" name="Line 33">
            <a:extLst>
              <a:ext uri="{FF2B5EF4-FFF2-40B4-BE49-F238E27FC236}">
                <a16:creationId xmlns:a16="http://schemas.microsoft.com/office/drawing/2014/main" id="{213112C9-BC54-446E-8F2E-10F6D9F41B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79838" y="1773238"/>
            <a:ext cx="16557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1" name="Line 34">
            <a:extLst>
              <a:ext uri="{FF2B5EF4-FFF2-40B4-BE49-F238E27FC236}">
                <a16:creationId xmlns:a16="http://schemas.microsoft.com/office/drawing/2014/main" id="{670A60A8-A3DF-4F5F-9C84-77473690B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2111375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2" name="Line 35">
            <a:extLst>
              <a:ext uri="{FF2B5EF4-FFF2-40B4-BE49-F238E27FC236}">
                <a16:creationId xmlns:a16="http://schemas.microsoft.com/office/drawing/2014/main" id="{3A24BBA5-79C5-40A8-BB0D-0ADB296826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0338" y="1773238"/>
            <a:ext cx="280828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923" name="Group 38">
            <a:extLst>
              <a:ext uri="{FF2B5EF4-FFF2-40B4-BE49-F238E27FC236}">
                <a16:creationId xmlns:a16="http://schemas.microsoft.com/office/drawing/2014/main" id="{299CD6F1-D87C-4FD4-8742-F5C404860E15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1341438"/>
            <a:ext cx="503237" cy="431800"/>
            <a:chOff x="0" y="0"/>
            <a:chExt cx="317" cy="272"/>
          </a:xfrm>
        </p:grpSpPr>
        <p:sp>
          <p:nvSpPr>
            <p:cNvPr id="29728" name="Line 36">
              <a:extLst>
                <a:ext uri="{FF2B5EF4-FFF2-40B4-BE49-F238E27FC236}">
                  <a16:creationId xmlns:a16="http://schemas.microsoft.com/office/drawing/2014/main" id="{48AA8DD4-2CBC-4E01-B3DA-5EFA2F6D5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317" cy="22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37">
              <a:extLst>
                <a:ext uri="{FF2B5EF4-FFF2-40B4-BE49-F238E27FC236}">
                  <a16:creationId xmlns:a16="http://schemas.microsoft.com/office/drawing/2014/main" id="{38461E11-9917-47BB-AEDC-F8AE20263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" y="0"/>
              <a:ext cx="227" cy="2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926" name="Group 39">
            <a:extLst>
              <a:ext uri="{FF2B5EF4-FFF2-40B4-BE49-F238E27FC236}">
                <a16:creationId xmlns:a16="http://schemas.microsoft.com/office/drawing/2014/main" id="{66EED9BC-123D-42E1-9B89-6667B9872F61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1268413"/>
            <a:ext cx="503238" cy="431800"/>
            <a:chOff x="0" y="0"/>
            <a:chExt cx="317" cy="272"/>
          </a:xfrm>
        </p:grpSpPr>
        <p:sp>
          <p:nvSpPr>
            <p:cNvPr id="29726" name="Line 40">
              <a:extLst>
                <a:ext uri="{FF2B5EF4-FFF2-40B4-BE49-F238E27FC236}">
                  <a16:creationId xmlns:a16="http://schemas.microsoft.com/office/drawing/2014/main" id="{66BB9AA1-4A3A-470D-9B0C-6639C52C9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317" cy="22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41">
              <a:extLst>
                <a:ext uri="{FF2B5EF4-FFF2-40B4-BE49-F238E27FC236}">
                  <a16:creationId xmlns:a16="http://schemas.microsoft.com/office/drawing/2014/main" id="{7AEED642-A15B-4B50-8043-1881B08FA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" y="0"/>
              <a:ext cx="227" cy="2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929" name="Group 42">
            <a:extLst>
              <a:ext uri="{FF2B5EF4-FFF2-40B4-BE49-F238E27FC236}">
                <a16:creationId xmlns:a16="http://schemas.microsoft.com/office/drawing/2014/main" id="{DD9E53F0-B356-4F4F-A2B9-4868F149A609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68413"/>
            <a:ext cx="503238" cy="431800"/>
            <a:chOff x="0" y="0"/>
            <a:chExt cx="317" cy="272"/>
          </a:xfrm>
        </p:grpSpPr>
        <p:sp>
          <p:nvSpPr>
            <p:cNvPr id="29724" name="Line 43">
              <a:extLst>
                <a:ext uri="{FF2B5EF4-FFF2-40B4-BE49-F238E27FC236}">
                  <a16:creationId xmlns:a16="http://schemas.microsoft.com/office/drawing/2014/main" id="{C1A74AFF-3184-4B4F-829D-4B8093321E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317" cy="22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44">
              <a:extLst>
                <a:ext uri="{FF2B5EF4-FFF2-40B4-BE49-F238E27FC236}">
                  <a16:creationId xmlns:a16="http://schemas.microsoft.com/office/drawing/2014/main" id="{93BE0B28-64D5-49E5-8A6A-CDD222E0A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" y="0"/>
              <a:ext cx="227" cy="2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Rectangle 4">
            <a:extLst>
              <a:ext uri="{FF2B5EF4-FFF2-40B4-BE49-F238E27FC236}">
                <a16:creationId xmlns:a16="http://schemas.microsoft.com/office/drawing/2014/main" id="{5C637AE9-ABB7-4215-B534-4A1547FB5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80" y="2890838"/>
            <a:ext cx="6123899" cy="393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0" dirty="0"/>
              <a:t>void </a:t>
            </a:r>
            <a:r>
              <a:rPr lang="en-US" altLang="zh-CN" sz="2400" b="0" dirty="0" err="1"/>
              <a:t>destroyList</a:t>
            </a:r>
            <a:r>
              <a:rPr lang="en-US" altLang="zh-CN" sz="2400" b="0" dirty="0"/>
              <a:t>(LISTNODEPTR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LISTNODEPTR </a:t>
            </a:r>
            <a:r>
              <a:rPr lang="en-US" altLang="zh-CN" sz="2400" b="0" dirty="0" err="1"/>
              <a:t>tempPtr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while (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 != NULL 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</a:t>
            </a:r>
            <a:r>
              <a:rPr lang="en-US" altLang="zh-CN" sz="2400" b="0" dirty="0" err="1"/>
              <a:t>tempPtr</a:t>
            </a:r>
            <a:r>
              <a:rPr lang="en-US" altLang="zh-CN" sz="2400" b="0" dirty="0"/>
              <a:t> =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 =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free(</a:t>
            </a:r>
            <a:r>
              <a:rPr lang="en-US" altLang="zh-CN" sz="2400" b="0" dirty="0" err="1"/>
              <a:t>tempPtr</a:t>
            </a:r>
            <a:r>
              <a:rPr lang="en-US" altLang="zh-CN" sz="2400" b="0" dirty="0"/>
              <a:t>);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}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}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1AB0A33C-F828-42C4-9D8C-9B928E4ECB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BBDA696-0D43-4525-A36E-C311F6CF4DE6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228BFD4-5A82-486D-98C4-699D08C40C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－判断空链表</a:t>
            </a: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5C637AE9-ABB7-4215-B534-4A1547FB5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68760"/>
            <a:ext cx="8371656" cy="393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0" dirty="0"/>
              <a:t>/*</a:t>
            </a:r>
            <a:r>
              <a:rPr lang="zh-CN" altLang="en-US" sz="2400" b="0" dirty="0"/>
              <a:t>如果链表为空，返回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，否则返回</a:t>
            </a:r>
            <a:r>
              <a:rPr lang="en-US" altLang="zh-CN" sz="2400" b="0" dirty="0"/>
              <a:t>0*/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int </a:t>
            </a:r>
            <a:r>
              <a:rPr lang="en-US" altLang="zh-CN" sz="2400" b="0" dirty="0" err="1"/>
              <a:t>isEmpty</a:t>
            </a:r>
            <a:r>
              <a:rPr lang="en-US" altLang="zh-CN" sz="2400" b="0" dirty="0"/>
              <a:t> (LISTNODEPTR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return (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 == NULL);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13057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1AB0A33C-F828-42C4-9D8C-9B928E4ECB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BBDA696-0D43-4525-A36E-C311F6CF4DE6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228BFD4-5A82-486D-98C4-699D08C40C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－链表长度</a:t>
            </a: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5C637AE9-ABB7-4215-B534-4A1547FB5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196752"/>
            <a:ext cx="8371656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0" dirty="0"/>
              <a:t>/*</a:t>
            </a:r>
            <a:r>
              <a:rPr lang="zh-CN" altLang="en-US" sz="2400" b="0" dirty="0"/>
              <a:t>计算链表</a:t>
            </a:r>
            <a:r>
              <a:rPr lang="zh-CN" altLang="en-US" sz="2400" b="0" dirty="0" smtClean="0"/>
              <a:t>有效结点数</a:t>
            </a:r>
            <a:r>
              <a:rPr lang="zh-CN" altLang="en-US" sz="2400" b="0" dirty="0"/>
              <a:t>并返回</a:t>
            </a:r>
            <a:r>
              <a:rPr lang="en-US" altLang="zh-CN" sz="2400" b="0" dirty="0"/>
              <a:t>*/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int </a:t>
            </a:r>
            <a:r>
              <a:rPr lang="en-US" altLang="zh-CN" sz="2400" b="0" dirty="0" err="1"/>
              <a:t>getSize</a:t>
            </a:r>
            <a:r>
              <a:rPr lang="en-US" altLang="zh-CN" sz="2400" b="0" dirty="0"/>
              <a:t> (LISTNODEPTR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int num=-1;/</a:t>
            </a:r>
            <a:r>
              <a:rPr lang="zh-CN" altLang="en-US" sz="2400" b="0" dirty="0"/>
              <a:t>*</a:t>
            </a:r>
            <a:r>
              <a:rPr lang="en-US" altLang="zh-CN" sz="2400" b="0" dirty="0"/>
              <a:t>-1</a:t>
            </a:r>
            <a:r>
              <a:rPr lang="zh-CN" altLang="en-US" sz="2400" b="0" dirty="0"/>
              <a:t>的初始值是为了抵消</a:t>
            </a:r>
            <a:r>
              <a:rPr lang="zh-CN" altLang="en-US" sz="2400" b="0" dirty="0" smtClean="0"/>
              <a:t>空结点的</a:t>
            </a:r>
            <a:r>
              <a:rPr lang="zh-CN" altLang="en-US" sz="2400" b="0" dirty="0"/>
              <a:t>计数*</a:t>
            </a:r>
            <a:r>
              <a:rPr lang="en-US" altLang="zh-CN" sz="2400" b="0" dirty="0"/>
              <a:t>/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while(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!=NULL){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	num++;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	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=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} 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return (num);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460205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32</a:t>
            </a:fld>
            <a:endParaRPr lang="en-US" altLang="zh-CN" sz="1400"/>
          </a:p>
        </p:txBody>
      </p: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" y="1268760"/>
            <a:ext cx="8351837" cy="830997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/>
              <a:t>链表的</a:t>
            </a:r>
            <a:r>
              <a:rPr lang="zh-CN" altLang="en-US" dirty="0" smtClean="0"/>
              <a:t>尾结点处于</a:t>
            </a:r>
            <a:r>
              <a:rPr lang="zh-CN" altLang="en-US" dirty="0"/>
              <a:t>动态变化中，插入和删除函数会涉及</a:t>
            </a:r>
            <a:r>
              <a:rPr lang="zh-CN" altLang="en-US" dirty="0" smtClean="0"/>
              <a:t>尾结点变化</a:t>
            </a:r>
            <a:r>
              <a:rPr lang="zh-CN" altLang="en-US" dirty="0"/>
              <a:t>，但有些函数没有修正主程序的尾指针；</a:t>
            </a:r>
            <a:endParaRPr lang="en-US" altLang="zh-CN" dirty="0"/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04813"/>
            <a:ext cx="4608512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修正尾指针</a:t>
            </a: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3854CFDA-94D8-4C97-9464-B8CDDA1BC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060848"/>
            <a:ext cx="8371656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0" dirty="0"/>
              <a:t>/*</a:t>
            </a:r>
            <a:r>
              <a:rPr lang="zh-CN" altLang="en-US" sz="2400" b="0" dirty="0"/>
              <a:t>查找链表的</a:t>
            </a:r>
            <a:r>
              <a:rPr lang="zh-CN" altLang="en-US" sz="2400" b="0" dirty="0" smtClean="0"/>
              <a:t>尾结点，</a:t>
            </a:r>
            <a:r>
              <a:rPr lang="zh-CN" altLang="en-US" sz="2400" b="0" dirty="0"/>
              <a:t>并返回指向</a:t>
            </a:r>
            <a:r>
              <a:rPr lang="zh-CN" altLang="en-US" sz="2400" b="0" dirty="0" smtClean="0"/>
              <a:t>尾结点的</a:t>
            </a:r>
            <a:r>
              <a:rPr lang="zh-CN" altLang="en-US" sz="2400" b="0" dirty="0"/>
              <a:t>尾指针*</a:t>
            </a:r>
            <a:r>
              <a:rPr lang="en-US" altLang="zh-CN" sz="2400" b="0" dirty="0"/>
              <a:t>/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LISTNODEPTR </a:t>
            </a:r>
            <a:r>
              <a:rPr lang="en-US" altLang="zh-CN" sz="2400" b="0" dirty="0" err="1"/>
              <a:t>getLast</a:t>
            </a:r>
            <a:r>
              <a:rPr lang="en-US" altLang="zh-CN" sz="2400" b="0" dirty="0"/>
              <a:t>(LISTNODEPTR 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LISTNODEPTR </a:t>
            </a:r>
            <a:r>
              <a:rPr lang="en-US" altLang="zh-CN" sz="2400" b="0" dirty="0" err="1"/>
              <a:t>currentPtr,previousPtr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</a:t>
            </a:r>
            <a:r>
              <a:rPr lang="en-US" altLang="zh-CN" sz="2400" b="0" dirty="0" err="1"/>
              <a:t>previousPtr</a:t>
            </a:r>
            <a:r>
              <a:rPr lang="en-US" altLang="zh-CN" sz="2400" b="0" dirty="0"/>
              <a:t>=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; 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=</a:t>
            </a:r>
            <a:r>
              <a:rPr lang="en-US" altLang="zh-CN" sz="2400" b="0" dirty="0" err="1"/>
              <a:t>headPtr</a:t>
            </a:r>
            <a:r>
              <a:rPr lang="en-US" altLang="zh-CN" sz="2400" b="0" dirty="0"/>
              <a:t>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; /*</a:t>
            </a:r>
            <a:r>
              <a:rPr lang="zh-CN" altLang="en-US" sz="2400" b="0" dirty="0"/>
              <a:t>跳过</a:t>
            </a:r>
            <a:r>
              <a:rPr lang="zh-CN" altLang="en-US" sz="2400" b="0" dirty="0" smtClean="0"/>
              <a:t>空结点*</a:t>
            </a:r>
            <a:r>
              <a:rPr lang="en-US" altLang="zh-CN" sz="2400" b="0" dirty="0" smtClean="0"/>
              <a:t>/</a:t>
            </a:r>
            <a:endParaRPr lang="en-US" altLang="zh-CN" sz="2400" b="0" dirty="0"/>
          </a:p>
          <a:p>
            <a:pPr eaLnBrk="1" hangingPunct="1">
              <a:buFontTx/>
              <a:buNone/>
            </a:pPr>
            <a:r>
              <a:rPr lang="en-US" altLang="zh-CN" sz="2400" b="0" dirty="0"/>
              <a:t>   	while(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!=NULL){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		</a:t>
            </a:r>
            <a:r>
              <a:rPr lang="en-US" altLang="zh-CN" sz="2400" b="0" dirty="0" err="1"/>
              <a:t>previousPtr</a:t>
            </a:r>
            <a:r>
              <a:rPr lang="en-US" altLang="zh-CN" sz="2400" b="0" dirty="0"/>
              <a:t> =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 =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} 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return </a:t>
            </a:r>
            <a:r>
              <a:rPr lang="en-US" altLang="zh-CN" sz="2400" b="0" dirty="0" err="1"/>
              <a:t>previousPtr</a:t>
            </a:r>
            <a:r>
              <a:rPr lang="en-US" altLang="zh-CN" sz="2400" b="0" dirty="0"/>
              <a:t>;   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50039850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58354000-9EFE-4D45-AD1A-AD5D8C40C6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673734B8-C4B1-43CD-8780-B34465DE6833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45172D3D-8FCE-4F07-A9E1-79CBCA06D2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链表结点的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</a:p>
        </p:txBody>
      </p:sp>
      <p:sp>
        <p:nvSpPr>
          <p:cNvPr id="31748" name="Rectangle 5">
            <a:extLst>
              <a:ext uri="{FF2B5EF4-FFF2-40B4-BE49-F238E27FC236}">
                <a16:creationId xmlns:a16="http://schemas.microsoft.com/office/drawing/2014/main" id="{F22B97BB-337A-477C-9A75-15BF87DE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19213"/>
            <a:ext cx="813435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zh-CN">
              <a:latin typeface="Times New Roman" panose="02020603050405020304" pitchFamily="18" charset="0"/>
            </a:endParaRPr>
          </a:p>
        </p:txBody>
      </p:sp>
      <p:grpSp>
        <p:nvGrpSpPr>
          <p:cNvPr id="31749" name="Group 6">
            <a:extLst>
              <a:ext uri="{FF2B5EF4-FFF2-40B4-BE49-F238E27FC236}">
                <a16:creationId xmlns:a16="http://schemas.microsoft.com/office/drawing/2014/main" id="{26DF8C09-6377-46F6-BA35-1A9CF27A4E7B}"/>
              </a:ext>
            </a:extLst>
          </p:cNvPr>
          <p:cNvGrpSpPr>
            <a:grpSpLocks/>
          </p:cNvGrpSpPr>
          <p:nvPr/>
        </p:nvGrpSpPr>
        <p:grpSpPr bwMode="auto">
          <a:xfrm>
            <a:off x="2425700" y="2625725"/>
            <a:ext cx="990600" cy="466725"/>
            <a:chOff x="0" y="0"/>
            <a:chExt cx="624" cy="294"/>
          </a:xfrm>
        </p:grpSpPr>
        <p:sp>
          <p:nvSpPr>
            <p:cNvPr id="31781" name="Text Box 7">
              <a:extLst>
                <a:ext uri="{FF2B5EF4-FFF2-40B4-BE49-F238E27FC236}">
                  <a16:creationId xmlns:a16="http://schemas.microsoft.com/office/drawing/2014/main" id="{8DE6C96B-647F-4E98-88CB-42FA41436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31782" name="Line 8">
              <a:extLst>
                <a:ext uri="{FF2B5EF4-FFF2-40B4-BE49-F238E27FC236}">
                  <a16:creationId xmlns:a16="http://schemas.microsoft.com/office/drawing/2014/main" id="{4DD7CBDA-C18F-4194-A491-AE87EB5B3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50" name="Group 9">
            <a:extLst>
              <a:ext uri="{FF2B5EF4-FFF2-40B4-BE49-F238E27FC236}">
                <a16:creationId xmlns:a16="http://schemas.microsoft.com/office/drawing/2014/main" id="{3D749C4E-5D05-4CF5-A228-E0D50F5C1B39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2625725"/>
            <a:ext cx="990600" cy="466725"/>
            <a:chOff x="0" y="0"/>
            <a:chExt cx="624" cy="294"/>
          </a:xfrm>
        </p:grpSpPr>
        <p:sp>
          <p:nvSpPr>
            <p:cNvPr id="31779" name="Text Box 10">
              <a:extLst>
                <a:ext uri="{FF2B5EF4-FFF2-40B4-BE49-F238E27FC236}">
                  <a16:creationId xmlns:a16="http://schemas.microsoft.com/office/drawing/2014/main" id="{17A2DB52-545A-47AA-8AE4-9EE22FCF4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19  </a:t>
              </a:r>
            </a:p>
          </p:txBody>
        </p:sp>
        <p:sp>
          <p:nvSpPr>
            <p:cNvPr id="31780" name="Line 11">
              <a:extLst>
                <a:ext uri="{FF2B5EF4-FFF2-40B4-BE49-F238E27FC236}">
                  <a16:creationId xmlns:a16="http://schemas.microsoft.com/office/drawing/2014/main" id="{5CD13764-6F20-48DA-90A2-B4DB9D950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51" name="Group 12">
            <a:extLst>
              <a:ext uri="{FF2B5EF4-FFF2-40B4-BE49-F238E27FC236}">
                <a16:creationId xmlns:a16="http://schemas.microsoft.com/office/drawing/2014/main" id="{DCDAD702-6740-4169-9758-19BF7C79AD7C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2625725"/>
            <a:ext cx="990600" cy="466725"/>
            <a:chOff x="0" y="0"/>
            <a:chExt cx="624" cy="294"/>
          </a:xfrm>
        </p:grpSpPr>
        <p:sp>
          <p:nvSpPr>
            <p:cNvPr id="31777" name="Text Box 13">
              <a:extLst>
                <a:ext uri="{FF2B5EF4-FFF2-40B4-BE49-F238E27FC236}">
                  <a16:creationId xmlns:a16="http://schemas.microsoft.com/office/drawing/2014/main" id="{57156D0C-F4DB-47EE-88E2-9059FA2B1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31778" name="Line 14">
              <a:extLst>
                <a:ext uri="{FF2B5EF4-FFF2-40B4-BE49-F238E27FC236}">
                  <a16:creationId xmlns:a16="http://schemas.microsoft.com/office/drawing/2014/main" id="{9A684FA3-811E-434F-8BD6-B252BCC87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52" name="Group 15">
            <a:extLst>
              <a:ext uri="{FF2B5EF4-FFF2-40B4-BE49-F238E27FC236}">
                <a16:creationId xmlns:a16="http://schemas.microsoft.com/office/drawing/2014/main" id="{76C6C956-140E-46CF-856E-071556A0FDE9}"/>
              </a:ext>
            </a:extLst>
          </p:cNvPr>
          <p:cNvGrpSpPr>
            <a:grpSpLocks/>
          </p:cNvGrpSpPr>
          <p:nvPr/>
        </p:nvGrpSpPr>
        <p:grpSpPr bwMode="auto">
          <a:xfrm>
            <a:off x="3187700" y="2820988"/>
            <a:ext cx="838200" cy="76200"/>
            <a:chOff x="0" y="0"/>
            <a:chExt cx="528" cy="48"/>
          </a:xfrm>
        </p:grpSpPr>
        <p:sp>
          <p:nvSpPr>
            <p:cNvPr id="31775" name="Line 16">
              <a:extLst>
                <a:ext uri="{FF2B5EF4-FFF2-40B4-BE49-F238E27FC236}">
                  <a16:creationId xmlns:a16="http://schemas.microsoft.com/office/drawing/2014/main" id="{2FBB8008-1E0E-4613-B85F-7C4AB2605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6" name="Oval 17">
              <a:extLst>
                <a:ext uri="{FF2B5EF4-FFF2-40B4-BE49-F238E27FC236}">
                  <a16:creationId xmlns:a16="http://schemas.microsoft.com/office/drawing/2014/main" id="{73006902-E6C5-4551-B2CB-A6F00AA90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53" name="Group 18">
            <a:extLst>
              <a:ext uri="{FF2B5EF4-FFF2-40B4-BE49-F238E27FC236}">
                <a16:creationId xmlns:a16="http://schemas.microsoft.com/office/drawing/2014/main" id="{BC35151D-63CB-49CC-A7F5-48CF288E3B6A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2825750"/>
            <a:ext cx="838200" cy="76200"/>
            <a:chOff x="0" y="0"/>
            <a:chExt cx="528" cy="48"/>
          </a:xfrm>
        </p:grpSpPr>
        <p:sp>
          <p:nvSpPr>
            <p:cNvPr id="31773" name="Line 19">
              <a:extLst>
                <a:ext uri="{FF2B5EF4-FFF2-40B4-BE49-F238E27FC236}">
                  <a16:creationId xmlns:a16="http://schemas.microsoft.com/office/drawing/2014/main" id="{79A76266-C02D-4583-B6D5-FD4CDE09F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4" name="Oval 20">
              <a:extLst>
                <a:ext uri="{FF2B5EF4-FFF2-40B4-BE49-F238E27FC236}">
                  <a16:creationId xmlns:a16="http://schemas.microsoft.com/office/drawing/2014/main" id="{DE5A22D4-E025-46BA-AED6-CD7439A13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54" name="Group 21">
            <a:extLst>
              <a:ext uri="{FF2B5EF4-FFF2-40B4-BE49-F238E27FC236}">
                <a16:creationId xmlns:a16="http://schemas.microsoft.com/office/drawing/2014/main" id="{4F1142B4-19A8-4A91-8D8B-0C41DC82B781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1254125"/>
            <a:ext cx="1219200" cy="1371600"/>
            <a:chOff x="0" y="0"/>
            <a:chExt cx="768" cy="864"/>
          </a:xfrm>
        </p:grpSpPr>
        <p:sp>
          <p:nvSpPr>
            <p:cNvPr id="31768" name="Text Box 22">
              <a:extLst>
                <a:ext uri="{FF2B5EF4-FFF2-40B4-BE49-F238E27FC236}">
                  <a16:creationId xmlns:a16="http://schemas.microsoft.com/office/drawing/2014/main" id="{93719005-0E46-412C-8251-3B4BA2DD7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8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1769" name="Text Box 23">
              <a:extLst>
                <a:ext uri="{FF2B5EF4-FFF2-40B4-BE49-F238E27FC236}">
                  <a16:creationId xmlns:a16="http://schemas.microsoft.com/office/drawing/2014/main" id="{F70A80A5-9EFE-4602-A637-BFC54241E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headPtr</a:t>
              </a:r>
            </a:p>
          </p:txBody>
        </p:sp>
        <p:grpSp>
          <p:nvGrpSpPr>
            <p:cNvPr id="31770" name="Group 24">
              <a:extLst>
                <a:ext uri="{FF2B5EF4-FFF2-40B4-BE49-F238E27FC236}">
                  <a16:creationId xmlns:a16="http://schemas.microsoft.com/office/drawing/2014/main" id="{63592B1B-E8B2-4BDA-95C7-817CDC8DA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32"/>
              <a:ext cx="48" cy="432"/>
              <a:chOff x="0" y="0"/>
              <a:chExt cx="48" cy="432"/>
            </a:xfrm>
          </p:grpSpPr>
          <p:sp>
            <p:nvSpPr>
              <p:cNvPr id="31771" name="Oval 25">
                <a:extLst>
                  <a:ext uri="{FF2B5EF4-FFF2-40B4-BE49-F238E27FC236}">
                    <a16:creationId xmlns:a16="http://schemas.microsoft.com/office/drawing/2014/main" id="{29BC9910-5AE4-4737-AF35-F114E1C84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2" name="Line 26">
                <a:extLst>
                  <a:ext uri="{FF2B5EF4-FFF2-40B4-BE49-F238E27FC236}">
                    <a16:creationId xmlns:a16="http://schemas.microsoft.com/office/drawing/2014/main" id="{17CD52F8-8D03-4BA9-B39D-33F60A850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" y="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1755" name="Group 59">
            <a:extLst>
              <a:ext uri="{FF2B5EF4-FFF2-40B4-BE49-F238E27FC236}">
                <a16:creationId xmlns:a16="http://schemas.microsoft.com/office/drawing/2014/main" id="{57CE767B-DE40-44AC-9AEE-754C3F73BB43}"/>
              </a:ext>
            </a:extLst>
          </p:cNvPr>
          <p:cNvGrpSpPr>
            <a:grpSpLocks/>
          </p:cNvGrpSpPr>
          <p:nvPr/>
        </p:nvGrpSpPr>
        <p:grpSpPr bwMode="auto">
          <a:xfrm>
            <a:off x="3263901" y="1268413"/>
            <a:ext cx="1255713" cy="1370013"/>
            <a:chOff x="265" y="0"/>
            <a:chExt cx="791" cy="863"/>
          </a:xfrm>
        </p:grpSpPr>
        <p:sp>
          <p:nvSpPr>
            <p:cNvPr id="31764" name="Text Box 34">
              <a:extLst>
                <a:ext uri="{FF2B5EF4-FFF2-40B4-BE49-F238E27FC236}">
                  <a16:creationId xmlns:a16="http://schemas.microsoft.com/office/drawing/2014/main" id="{24BF65A9-C597-40A2-BD2B-FED24AE54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24"/>
              <a:ext cx="39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1765" name="Text Box 35">
              <a:extLst>
                <a:ext uri="{FF2B5EF4-FFF2-40B4-BE49-F238E27FC236}">
                  <a16:creationId xmlns:a16="http://schemas.microsoft.com/office/drawing/2014/main" id="{A56BC67B-7D38-49F1-9C9F-5C7CAF717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0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firstPtr</a:t>
              </a:r>
              <a:endPara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66" name="Oval 37">
              <a:extLst>
                <a:ext uri="{FF2B5EF4-FFF2-40B4-BE49-F238E27FC236}">
                  <a16:creationId xmlns:a16="http://schemas.microsoft.com/office/drawing/2014/main" id="{C8B7FEE6-9DC7-43D8-98F0-DE58B5AF6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408"/>
              <a:ext cx="57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67" name="Line 38">
              <a:extLst>
                <a:ext uri="{FF2B5EF4-FFF2-40B4-BE49-F238E27FC236}">
                  <a16:creationId xmlns:a16="http://schemas.microsoft.com/office/drawing/2014/main" id="{BDF69F30-5BCC-457C-9C0C-C7ADADEB5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3" y="408"/>
              <a:ext cx="8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56" name="Line 39">
            <a:extLst>
              <a:ext uri="{FF2B5EF4-FFF2-40B4-BE49-F238E27FC236}">
                <a16:creationId xmlns:a16="http://schemas.microsoft.com/office/drawing/2014/main" id="{EDEA1066-3707-4015-9F15-FD6D196D0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0813" y="2689225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757" name="Group 40">
            <a:extLst>
              <a:ext uri="{FF2B5EF4-FFF2-40B4-BE49-F238E27FC236}">
                <a16:creationId xmlns:a16="http://schemas.microsoft.com/office/drawing/2014/main" id="{C3DA6C3F-3306-499E-ACE4-B5D325DA3B04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2638425"/>
            <a:ext cx="990600" cy="466725"/>
            <a:chOff x="0" y="0"/>
            <a:chExt cx="624" cy="294"/>
          </a:xfrm>
        </p:grpSpPr>
        <p:sp>
          <p:nvSpPr>
            <p:cNvPr id="31762" name="Text Box 41">
              <a:extLst>
                <a:ext uri="{FF2B5EF4-FFF2-40B4-BE49-F238E27FC236}">
                  <a16:creationId xmlns:a16="http://schemas.microsoft.com/office/drawing/2014/main" id="{A4D48B98-FD79-474F-9ECB-D898ABEB4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9     </a:t>
              </a:r>
            </a:p>
          </p:txBody>
        </p:sp>
        <p:sp>
          <p:nvSpPr>
            <p:cNvPr id="31763" name="Line 42">
              <a:extLst>
                <a:ext uri="{FF2B5EF4-FFF2-40B4-BE49-F238E27FC236}">
                  <a16:creationId xmlns:a16="http://schemas.microsoft.com/office/drawing/2014/main" id="{8B042D2D-F603-460E-A6CD-736F1C699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58" name="Group 43">
            <a:extLst>
              <a:ext uri="{FF2B5EF4-FFF2-40B4-BE49-F238E27FC236}">
                <a16:creationId xmlns:a16="http://schemas.microsoft.com/office/drawing/2014/main" id="{B767CF9E-6876-466A-A618-DAE0CC517D22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2833688"/>
            <a:ext cx="838200" cy="76200"/>
            <a:chOff x="0" y="0"/>
            <a:chExt cx="528" cy="48"/>
          </a:xfrm>
        </p:grpSpPr>
        <p:sp>
          <p:nvSpPr>
            <p:cNvPr id="31760" name="Line 44">
              <a:extLst>
                <a:ext uri="{FF2B5EF4-FFF2-40B4-BE49-F238E27FC236}">
                  <a16:creationId xmlns:a16="http://schemas.microsoft.com/office/drawing/2014/main" id="{82517AC0-78AD-4E40-A9E1-7DFFC4173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Oval 45">
              <a:extLst>
                <a:ext uri="{FF2B5EF4-FFF2-40B4-BE49-F238E27FC236}">
                  <a16:creationId xmlns:a16="http://schemas.microsoft.com/office/drawing/2014/main" id="{BB0C5661-3BEA-48FC-BED0-D5FAD46A7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9974" name="Text Box 58">
            <a:extLst>
              <a:ext uri="{FF2B5EF4-FFF2-40B4-BE49-F238E27FC236}">
                <a16:creationId xmlns:a16="http://schemas.microsoft.com/office/drawing/2014/main" id="{0CA6B0BF-0F5C-47BF-8A03-7713A8ECB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3265488"/>
            <a:ext cx="8458200" cy="3416320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/*</a:t>
            </a:r>
            <a:r>
              <a:rPr lang="zh-CN" altLang="en-US" sz="2400" dirty="0">
                <a:latin typeface="Times New Roman" panose="02020603050405020304" pitchFamily="18" charset="0"/>
              </a:rPr>
              <a:t>查找值为</a:t>
            </a:r>
            <a:r>
              <a:rPr lang="en-US" altLang="zh-CN" sz="2400" dirty="0">
                <a:latin typeface="Times New Roman" panose="02020603050405020304" pitchFamily="18" charset="0"/>
              </a:rPr>
              <a:t>value</a:t>
            </a:r>
            <a:r>
              <a:rPr lang="zh-CN" altLang="en-US" sz="2400" dirty="0">
                <a:latin typeface="Times New Roman" panose="02020603050405020304" pitchFamily="18" charset="0"/>
              </a:rPr>
              <a:t>的第一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个结点，</a:t>
            </a:r>
            <a:r>
              <a:rPr lang="zh-CN" altLang="en-US" sz="2400" dirty="0">
                <a:latin typeface="Times New Roman" panose="02020603050405020304" pitchFamily="18" charset="0"/>
              </a:rPr>
              <a:t>返回指针，失败返回</a:t>
            </a:r>
            <a:r>
              <a:rPr lang="en-US" altLang="zh-CN" sz="2400" dirty="0">
                <a:latin typeface="Times New Roman" panose="02020603050405020304" pitchFamily="18" charset="0"/>
              </a:rPr>
              <a:t>NULL*/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LISTNODEPTR find(LISTNODEPTR 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</a:rPr>
              <a:t>ElementType</a:t>
            </a:r>
            <a:r>
              <a:rPr lang="en-US" altLang="zh-CN" sz="2400" dirty="0">
                <a:latin typeface="Times New Roman" panose="02020603050405020304" pitchFamily="18" charset="0"/>
              </a:rPr>
              <a:t> value)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LISTNODEPTR 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	while ( 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 != NULL &amp;&amp; 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-&gt;data != value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		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return 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39" name="Text Box 22">
            <a:extLst>
              <a:ext uri="{FF2B5EF4-FFF2-40B4-BE49-F238E27FC236}">
                <a16:creationId xmlns:a16="http://schemas.microsoft.com/office/drawing/2014/main" id="{6FCE6B62-3BDA-4231-BADE-7A8EAE65E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000" y="1722512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b="0"/>
          </a:p>
        </p:txBody>
      </p:sp>
      <p:sp>
        <p:nvSpPr>
          <p:cNvPr id="40" name="Text Box 23">
            <a:extLst>
              <a:ext uri="{FF2B5EF4-FFF2-40B4-BE49-F238E27FC236}">
                <a16:creationId xmlns:a16="http://schemas.microsoft.com/office/drawing/2014/main" id="{4F370F63-981C-4A75-97EB-E42E644A3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00" y="1265312"/>
            <a:ext cx="1219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dirty="0" err="1">
                <a:solidFill>
                  <a:srgbClr val="FF0000"/>
                </a:solidFill>
              </a:rPr>
              <a:t>lastPtr</a:t>
            </a:r>
            <a:endParaRPr lang="en-US" altLang="zh-CN" b="0" dirty="0">
              <a:solidFill>
                <a:srgbClr val="FF0000"/>
              </a:solidFill>
            </a:endParaRPr>
          </a:p>
        </p:txBody>
      </p:sp>
      <p:sp>
        <p:nvSpPr>
          <p:cNvPr id="41" name="Line 26">
            <a:extLst>
              <a:ext uri="{FF2B5EF4-FFF2-40B4-BE49-F238E27FC236}">
                <a16:creationId xmlns:a16="http://schemas.microsoft.com/office/drawing/2014/main" id="{D871B8AA-9CB3-40D9-83F9-A73FE8EF3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5175" y="20273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7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32552C4-BAC6-4189-9300-BAEF516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C7E6D0-0D57-4C03-AA62-2D56BEF21AEB}" type="slidenum">
              <a:rPr lang="en-US" altLang="zh-CN" sz="1400"/>
              <a:pPr eaLnBrk="1" hangingPunct="1"/>
              <a:t>34</a:t>
            </a:fld>
            <a:endParaRPr lang="en-US" altLang="zh-CN" sz="1400"/>
          </a:p>
        </p:txBody>
      </p:sp>
      <p:sp>
        <p:nvSpPr>
          <p:cNvPr id="159797" name="Text Box 53">
            <a:extLst>
              <a:ext uri="{FF2B5EF4-FFF2-40B4-BE49-F238E27FC236}">
                <a16:creationId xmlns:a16="http://schemas.microsoft.com/office/drawing/2014/main" id="{597AE8A1-3EA6-4F30-806B-CA943F9B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" y="3436689"/>
            <a:ext cx="8351837" cy="2308324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/>
              <a:t>链表在创建过程中可以排序，使用有序插；</a:t>
            </a:r>
            <a:endParaRPr lang="en-US" altLang="zh-CN" dirty="0"/>
          </a:p>
          <a:p>
            <a:pPr>
              <a:spcBef>
                <a:spcPct val="50000"/>
              </a:spcBef>
              <a:defRPr/>
            </a:pPr>
            <a:r>
              <a:rPr lang="zh-CN" altLang="en-US" dirty="0"/>
              <a:t>链表创建后也可以排序，小型链表可以用选择排序，大型链表用快速排序（需要链表分割和归并的子函数）。</a:t>
            </a:r>
            <a:endParaRPr lang="en-US" altLang="zh-CN" dirty="0"/>
          </a:p>
          <a:p>
            <a:pPr>
              <a:spcBef>
                <a:spcPct val="50000"/>
              </a:spcBef>
              <a:defRPr/>
            </a:pPr>
            <a:r>
              <a:rPr lang="zh-CN" altLang="en-US" dirty="0"/>
              <a:t>链表不能直接定位到第</a:t>
            </a:r>
            <a:r>
              <a:rPr lang="en-US" altLang="zh-CN" dirty="0"/>
              <a:t>k</a:t>
            </a:r>
            <a:r>
              <a:rPr lang="zh-CN" altLang="en-US" dirty="0" smtClean="0"/>
              <a:t>个结点，</a:t>
            </a:r>
            <a:r>
              <a:rPr lang="zh-CN" altLang="en-US" dirty="0"/>
              <a:t>所以链表不能进行二分查找，除非借助于存储</a:t>
            </a:r>
            <a:r>
              <a:rPr lang="zh-CN" altLang="en-US" dirty="0" smtClean="0"/>
              <a:t>所有结点指针</a:t>
            </a:r>
            <a:r>
              <a:rPr lang="zh-CN" altLang="en-US" dirty="0"/>
              <a:t>的指针数组。</a:t>
            </a:r>
            <a:endParaRPr lang="en-US" altLang="zh-CN" dirty="0"/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A1FDF194-0345-469A-A469-67A3FD46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404813"/>
            <a:ext cx="6553423" cy="5847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思考：链表可以排序后二分查找吗？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C86B626-4E83-4506-AACB-DE3DE575FC65}"/>
              </a:ext>
            </a:extLst>
          </p:cNvPr>
          <p:cNvGrpSpPr/>
          <p:nvPr/>
        </p:nvGrpSpPr>
        <p:grpSpPr>
          <a:xfrm>
            <a:off x="899592" y="1119411"/>
            <a:ext cx="6048672" cy="1877541"/>
            <a:chOff x="899592" y="1119411"/>
            <a:chExt cx="6048672" cy="187754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B13960A2-DB1E-436B-9E71-81E4F4C58438}"/>
                </a:ext>
              </a:extLst>
            </p:cNvPr>
            <p:cNvGrpSpPr/>
            <p:nvPr/>
          </p:nvGrpSpPr>
          <p:grpSpPr>
            <a:xfrm>
              <a:off x="899592" y="1119411"/>
              <a:ext cx="6028258" cy="1877541"/>
              <a:chOff x="899592" y="1119411"/>
              <a:chExt cx="6028258" cy="1877541"/>
            </a:xfrm>
          </p:grpSpPr>
          <p:grpSp>
            <p:nvGrpSpPr>
              <p:cNvPr id="50" name="Group 4">
                <a:extLst>
                  <a:ext uri="{FF2B5EF4-FFF2-40B4-BE49-F238E27FC236}">
                    <a16:creationId xmlns:a16="http://schemas.microsoft.com/office/drawing/2014/main" id="{584A230C-5D29-4A96-8F5D-53F1DEB5B8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3650" y="2530227"/>
                <a:ext cx="990600" cy="466725"/>
                <a:chOff x="624" y="2544"/>
                <a:chExt cx="624" cy="294"/>
              </a:xfrm>
            </p:grpSpPr>
            <p:sp>
              <p:nvSpPr>
                <p:cNvPr id="51" name="Text Box 5">
                  <a:extLst>
                    <a:ext uri="{FF2B5EF4-FFF2-40B4-BE49-F238E27FC236}">
                      <a16:creationId xmlns:a16="http://schemas.microsoft.com/office/drawing/2014/main" id="{CF73DCBA-1207-47FF-A1D7-4B1BBDB9EC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2544"/>
                  <a:ext cx="624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0" dirty="0"/>
                    <a:t>     </a:t>
                  </a:r>
                </a:p>
              </p:txBody>
            </p:sp>
            <p:sp>
              <p:nvSpPr>
                <p:cNvPr id="52" name="Line 6">
                  <a:extLst>
                    <a:ext uri="{FF2B5EF4-FFF2-40B4-BE49-F238E27FC236}">
                      <a16:creationId xmlns:a16="http://schemas.microsoft.com/office/drawing/2014/main" id="{BC83ACB2-E389-478D-8264-37BBCF51A2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5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Group 16">
                <a:extLst>
                  <a:ext uri="{FF2B5EF4-FFF2-40B4-BE49-F238E27FC236}">
                    <a16:creationId xmlns:a16="http://schemas.microsoft.com/office/drawing/2014/main" id="{B0C3E5FF-271A-4844-B6EC-90D9C2CFEB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22863" y="2730252"/>
                <a:ext cx="838200" cy="76200"/>
                <a:chOff x="1104" y="2667"/>
                <a:chExt cx="528" cy="48"/>
              </a:xfrm>
            </p:grpSpPr>
            <p:sp>
              <p:nvSpPr>
                <p:cNvPr id="54" name="Line 17">
                  <a:extLst>
                    <a:ext uri="{FF2B5EF4-FFF2-40B4-BE49-F238E27FC236}">
                      <a16:creationId xmlns:a16="http://schemas.microsoft.com/office/drawing/2014/main" id="{C7A18C35-88E2-416F-B7FD-5B49D7E330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2688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Oval 18">
                  <a:extLst>
                    <a:ext uri="{FF2B5EF4-FFF2-40B4-BE49-F238E27FC236}">
                      <a16:creationId xmlns:a16="http://schemas.microsoft.com/office/drawing/2014/main" id="{33ABCD36-7766-497A-B31A-6215FBF183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667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56" name="Group 21">
                <a:extLst>
                  <a:ext uri="{FF2B5EF4-FFF2-40B4-BE49-F238E27FC236}">
                    <a16:creationId xmlns:a16="http://schemas.microsoft.com/office/drawing/2014/main" id="{BD6F9D10-5A5E-47EA-AFAA-F0E4A8C736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9592" y="1119411"/>
                <a:ext cx="1219200" cy="1371600"/>
                <a:chOff x="432" y="1536"/>
                <a:chExt cx="768" cy="864"/>
              </a:xfrm>
            </p:grpSpPr>
            <p:sp>
              <p:nvSpPr>
                <p:cNvPr id="57" name="Text Box 22">
                  <a:extLst>
                    <a:ext uri="{FF2B5EF4-FFF2-40B4-BE49-F238E27FC236}">
                      <a16:creationId xmlns:a16="http://schemas.microsoft.com/office/drawing/2014/main" id="{DA66DBCF-3258-4AAF-8A11-24E11338E8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24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b="0"/>
                </a:p>
              </p:txBody>
            </p:sp>
            <p:sp>
              <p:nvSpPr>
                <p:cNvPr id="59" name="Text Box 23">
                  <a:extLst>
                    <a:ext uri="{FF2B5EF4-FFF2-40B4-BE49-F238E27FC236}">
                      <a16:creationId xmlns:a16="http://schemas.microsoft.com/office/drawing/2014/main" id="{BA53B39E-A041-45F2-A6F6-3209EE91F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" y="1536"/>
                  <a:ext cx="7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0" dirty="0" err="1"/>
                    <a:t>headPtr</a:t>
                  </a:r>
                  <a:endParaRPr lang="en-US" altLang="zh-CN" b="0" dirty="0"/>
                </a:p>
              </p:txBody>
            </p:sp>
            <p:grpSp>
              <p:nvGrpSpPr>
                <p:cNvPr id="60" name="Group 24">
                  <a:extLst>
                    <a:ext uri="{FF2B5EF4-FFF2-40B4-BE49-F238E27FC236}">
                      <a16:creationId xmlns:a16="http://schemas.microsoft.com/office/drawing/2014/main" id="{337253EB-56B6-4154-B3FC-E5BF2FF4D6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1968"/>
                  <a:ext cx="48" cy="432"/>
                  <a:chOff x="768" y="1968"/>
                  <a:chExt cx="48" cy="432"/>
                </a:xfrm>
              </p:grpSpPr>
              <p:sp>
                <p:nvSpPr>
                  <p:cNvPr id="61" name="Oval 25">
                    <a:extLst>
                      <a:ext uri="{FF2B5EF4-FFF2-40B4-BE49-F238E27FC236}">
                        <a16:creationId xmlns:a16="http://schemas.microsoft.com/office/drawing/2014/main" id="{AE07A0C2-1DF4-416E-8443-40BF5CBA45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96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62" name="Line 26">
                    <a:extLst>
                      <a:ext uri="{FF2B5EF4-FFF2-40B4-BE49-F238E27FC236}">
                        <a16:creationId xmlns:a16="http://schemas.microsoft.com/office/drawing/2014/main" id="{A6F2B578-0AE6-4B4C-A709-0F2B11D97F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86" y="2016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9" name="Group 34">
                <a:extLst>
                  <a:ext uri="{FF2B5EF4-FFF2-40B4-BE49-F238E27FC236}">
                    <a16:creationId xmlns:a16="http://schemas.microsoft.com/office/drawing/2014/main" id="{EEE4AFCE-91F9-40BD-A211-002BFAE50E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7250" y="2527052"/>
                <a:ext cx="990600" cy="466725"/>
                <a:chOff x="624" y="2544"/>
                <a:chExt cx="624" cy="294"/>
              </a:xfrm>
            </p:grpSpPr>
            <p:sp>
              <p:nvSpPr>
                <p:cNvPr id="70" name="Text Box 35">
                  <a:extLst>
                    <a:ext uri="{FF2B5EF4-FFF2-40B4-BE49-F238E27FC236}">
                      <a16:creationId xmlns:a16="http://schemas.microsoft.com/office/drawing/2014/main" id="{70E0A17A-3CCA-49C3-AA19-394247FE62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2544"/>
                  <a:ext cx="624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0"/>
                    <a:t>37     </a:t>
                  </a:r>
                </a:p>
              </p:txBody>
            </p:sp>
            <p:sp>
              <p:nvSpPr>
                <p:cNvPr id="71" name="Line 36">
                  <a:extLst>
                    <a:ext uri="{FF2B5EF4-FFF2-40B4-BE49-F238E27FC236}">
                      <a16:creationId xmlns:a16="http://schemas.microsoft.com/office/drawing/2014/main" id="{F0D0B7A0-BF93-40A2-82AB-385ACC137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5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Group 69">
                <a:extLst>
                  <a:ext uri="{FF2B5EF4-FFF2-40B4-BE49-F238E27FC236}">
                    <a16:creationId xmlns:a16="http://schemas.microsoft.com/office/drawing/2014/main" id="{85B4152D-2BCB-43E1-AEEE-2A8957DAD6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5800" y="2527052"/>
                <a:ext cx="3340100" cy="469900"/>
                <a:chOff x="930" y="1298"/>
                <a:chExt cx="2104" cy="296"/>
              </a:xfrm>
            </p:grpSpPr>
            <p:grpSp>
              <p:nvGrpSpPr>
                <p:cNvPr id="78" name="Group 54">
                  <a:extLst>
                    <a:ext uri="{FF2B5EF4-FFF2-40B4-BE49-F238E27FC236}">
                      <a16:creationId xmlns:a16="http://schemas.microsoft.com/office/drawing/2014/main" id="{68B2616C-334B-44CE-BA01-DC44429C6E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30" y="1300"/>
                  <a:ext cx="1152" cy="294"/>
                  <a:chOff x="1536" y="1706"/>
                  <a:chExt cx="1152" cy="294"/>
                </a:xfrm>
              </p:grpSpPr>
              <p:grpSp>
                <p:nvGrpSpPr>
                  <p:cNvPr id="86" name="Group 7">
                    <a:extLst>
                      <a:ext uri="{FF2B5EF4-FFF2-40B4-BE49-F238E27FC236}">
                        <a16:creationId xmlns:a16="http://schemas.microsoft.com/office/drawing/2014/main" id="{F0393891-3B85-4E01-B9CB-43363C9E632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64" y="1706"/>
                    <a:ext cx="624" cy="294"/>
                    <a:chOff x="624" y="2544"/>
                    <a:chExt cx="624" cy="294"/>
                  </a:xfrm>
                </p:grpSpPr>
                <p:sp>
                  <p:nvSpPr>
                    <p:cNvPr id="90" name="Text Box 8">
                      <a:extLst>
                        <a:ext uri="{FF2B5EF4-FFF2-40B4-BE49-F238E27FC236}">
                          <a16:creationId xmlns:a16="http://schemas.microsoft.com/office/drawing/2014/main" id="{6D4309E5-AA9F-43C9-893E-C06D7DD64B6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24" y="2544"/>
                      <a:ext cx="624" cy="2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b="0" dirty="0"/>
                        <a:t>17  </a:t>
                      </a:r>
                    </a:p>
                  </p:txBody>
                </p:sp>
                <p:sp>
                  <p:nvSpPr>
                    <p:cNvPr id="91" name="Line 9">
                      <a:extLst>
                        <a:ext uri="{FF2B5EF4-FFF2-40B4-BE49-F238E27FC236}">
                          <a16:creationId xmlns:a16="http://schemas.microsoft.com/office/drawing/2014/main" id="{1244352B-631F-4DE7-B946-7624B3BEE2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4"/>
                      <a:ext cx="0" cy="28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" name="Group 13">
                    <a:extLst>
                      <a:ext uri="{FF2B5EF4-FFF2-40B4-BE49-F238E27FC236}">
                        <a16:creationId xmlns:a16="http://schemas.microsoft.com/office/drawing/2014/main" id="{0AE0FB68-9270-4CBD-BEA8-66A2D0EC324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36" y="1829"/>
                    <a:ext cx="528" cy="48"/>
                    <a:chOff x="1104" y="2667"/>
                    <a:chExt cx="528" cy="48"/>
                  </a:xfrm>
                </p:grpSpPr>
                <p:sp>
                  <p:nvSpPr>
                    <p:cNvPr id="88" name="Line 14">
                      <a:extLst>
                        <a:ext uri="{FF2B5EF4-FFF2-40B4-BE49-F238E27FC236}">
                          <a16:creationId xmlns:a16="http://schemas.microsoft.com/office/drawing/2014/main" id="{FEA62493-1F3E-4320-B7CA-1BFADBE8A57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2688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" name="Oval 15">
                      <a:extLst>
                        <a:ext uri="{FF2B5EF4-FFF2-40B4-BE49-F238E27FC236}">
                          <a16:creationId xmlns:a16="http://schemas.microsoft.com/office/drawing/2014/main" id="{0956D565-BCDD-4AFF-9853-ADD4B8BA97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667"/>
                      <a:ext cx="48" cy="4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79" name="Group 62">
                  <a:extLst>
                    <a:ext uri="{FF2B5EF4-FFF2-40B4-BE49-F238E27FC236}">
                      <a16:creationId xmlns:a16="http://schemas.microsoft.com/office/drawing/2014/main" id="{87B6A979-9F26-4262-AAFF-0E41DA7B54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82" y="1298"/>
                  <a:ext cx="1152" cy="294"/>
                  <a:chOff x="1536" y="1706"/>
                  <a:chExt cx="1152" cy="294"/>
                </a:xfrm>
              </p:grpSpPr>
              <p:grpSp>
                <p:nvGrpSpPr>
                  <p:cNvPr id="80" name="Group 63">
                    <a:extLst>
                      <a:ext uri="{FF2B5EF4-FFF2-40B4-BE49-F238E27FC236}">
                        <a16:creationId xmlns:a16="http://schemas.microsoft.com/office/drawing/2014/main" id="{9A202B25-58F1-4D0B-8C97-E9F482611CE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64" y="1706"/>
                    <a:ext cx="624" cy="294"/>
                    <a:chOff x="624" y="2544"/>
                    <a:chExt cx="624" cy="294"/>
                  </a:xfrm>
                </p:grpSpPr>
                <p:sp>
                  <p:nvSpPr>
                    <p:cNvPr id="84" name="Text Box 64">
                      <a:extLst>
                        <a:ext uri="{FF2B5EF4-FFF2-40B4-BE49-F238E27FC236}">
                          <a16:creationId xmlns:a16="http://schemas.microsoft.com/office/drawing/2014/main" id="{91D5AF6A-5F2D-4578-8C1D-1CDF2D921F7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24" y="2544"/>
                      <a:ext cx="624" cy="2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b="0" dirty="0"/>
                        <a:t>19  </a:t>
                      </a:r>
                    </a:p>
                  </p:txBody>
                </p:sp>
                <p:sp>
                  <p:nvSpPr>
                    <p:cNvPr id="85" name="Line 65">
                      <a:extLst>
                        <a:ext uri="{FF2B5EF4-FFF2-40B4-BE49-F238E27FC236}">
                          <a16:creationId xmlns:a16="http://schemas.microsoft.com/office/drawing/2014/main" id="{74F8942B-ADB1-45CD-8187-82CDC09EDA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4"/>
                      <a:ext cx="0" cy="28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1" name="Group 66">
                    <a:extLst>
                      <a:ext uri="{FF2B5EF4-FFF2-40B4-BE49-F238E27FC236}">
                        <a16:creationId xmlns:a16="http://schemas.microsoft.com/office/drawing/2014/main" id="{AD9244F9-DC41-483E-843B-106D4681DA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36" y="1829"/>
                    <a:ext cx="528" cy="48"/>
                    <a:chOff x="1104" y="2667"/>
                    <a:chExt cx="528" cy="48"/>
                  </a:xfrm>
                </p:grpSpPr>
                <p:sp>
                  <p:nvSpPr>
                    <p:cNvPr id="82" name="Line 67">
                      <a:extLst>
                        <a:ext uri="{FF2B5EF4-FFF2-40B4-BE49-F238E27FC236}">
                          <a16:creationId xmlns:a16="http://schemas.microsoft.com/office/drawing/2014/main" id="{D27C8F07-6C85-493A-9CEC-A4749AE2DFE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2688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" name="Oval 68">
                      <a:extLst>
                        <a:ext uri="{FF2B5EF4-FFF2-40B4-BE49-F238E27FC236}">
                          <a16:creationId xmlns:a16="http://schemas.microsoft.com/office/drawing/2014/main" id="{AEFB9443-E622-40C9-9D83-D04AE53BF1E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667"/>
                      <a:ext cx="48" cy="4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06" name="Group 21">
                <a:extLst>
                  <a:ext uri="{FF2B5EF4-FFF2-40B4-BE49-F238E27FC236}">
                    <a16:creationId xmlns:a16="http://schemas.microsoft.com/office/drawing/2014/main" id="{6B7C54DA-1276-4054-8B52-2C47896DBE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80380" y="1128260"/>
                <a:ext cx="1219200" cy="1371600"/>
                <a:chOff x="432" y="1536"/>
                <a:chExt cx="768" cy="864"/>
              </a:xfrm>
            </p:grpSpPr>
            <p:sp>
              <p:nvSpPr>
                <p:cNvPr id="107" name="Text Box 22">
                  <a:extLst>
                    <a:ext uri="{FF2B5EF4-FFF2-40B4-BE49-F238E27FC236}">
                      <a16:creationId xmlns:a16="http://schemas.microsoft.com/office/drawing/2014/main" id="{49F47122-9EC3-462D-83F2-203586538D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24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b="0"/>
                </a:p>
              </p:txBody>
            </p:sp>
            <p:sp>
              <p:nvSpPr>
                <p:cNvPr id="108" name="Text Box 23">
                  <a:extLst>
                    <a:ext uri="{FF2B5EF4-FFF2-40B4-BE49-F238E27FC236}">
                      <a16:creationId xmlns:a16="http://schemas.microsoft.com/office/drawing/2014/main" id="{14F0A078-B93B-40B2-AD7D-B5CEE01DC1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" y="1536"/>
                  <a:ext cx="76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0" dirty="0" err="1"/>
                    <a:t>lastPtr</a:t>
                  </a:r>
                  <a:endParaRPr lang="en-US" altLang="zh-CN" b="0" dirty="0"/>
                </a:p>
              </p:txBody>
            </p:sp>
            <p:grpSp>
              <p:nvGrpSpPr>
                <p:cNvPr id="109" name="Group 24">
                  <a:extLst>
                    <a:ext uri="{FF2B5EF4-FFF2-40B4-BE49-F238E27FC236}">
                      <a16:creationId xmlns:a16="http://schemas.microsoft.com/office/drawing/2014/main" id="{FC71779F-D162-47C5-9A72-A4FF753352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1968"/>
                  <a:ext cx="48" cy="432"/>
                  <a:chOff x="768" y="1968"/>
                  <a:chExt cx="48" cy="432"/>
                </a:xfrm>
              </p:grpSpPr>
              <p:sp>
                <p:nvSpPr>
                  <p:cNvPr id="110" name="Oval 25">
                    <a:extLst>
                      <a:ext uri="{FF2B5EF4-FFF2-40B4-BE49-F238E27FC236}">
                        <a16:creationId xmlns:a16="http://schemas.microsoft.com/office/drawing/2014/main" id="{1DB9E5E5-B773-4F3E-99E7-6E4E9553C9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96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1" name="Line 26">
                    <a:extLst>
                      <a:ext uri="{FF2B5EF4-FFF2-40B4-BE49-F238E27FC236}">
                        <a16:creationId xmlns:a16="http://schemas.microsoft.com/office/drawing/2014/main" id="{11324241-9BDE-47DA-A1A2-C86B9A9860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86" y="2016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D9791E1A-9F04-42CA-BAF7-CB12B68FD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1064" y="2615952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11574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F8F1429F-2A4D-4472-BB7D-09C65191C05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DDD41CB8-0761-4842-BF1F-D7DFE83E1E33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C2CA7C3-DE7E-4F77-A94F-C5BE5F34F0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19214"/>
            <a:ext cx="7772400" cy="1328514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/</a:t>
            </a:r>
            <a:r>
              <a:rPr lang="zh-CN" altLang="en-US" sz="2400" b="1" dirty="0"/>
              <a:t>*将链表</a:t>
            </a:r>
            <a:r>
              <a:rPr lang="zh-CN" altLang="en-US" sz="2400" b="1" dirty="0" smtClean="0"/>
              <a:t>所有结点逆序</a:t>
            </a:r>
            <a:r>
              <a:rPr lang="zh-CN" altLang="en-US" sz="2400" b="1" dirty="0"/>
              <a:t>*</a:t>
            </a:r>
            <a:r>
              <a:rPr lang="en-US" altLang="zh-CN" sz="2400" b="1" dirty="0"/>
              <a:t>/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void </a:t>
            </a:r>
            <a:r>
              <a:rPr lang="en-US" altLang="zh-CN" sz="2400" b="1" dirty="0" err="1"/>
              <a:t>reverseList</a:t>
            </a:r>
            <a:r>
              <a:rPr lang="en-US" altLang="zh-CN" sz="2400" b="1" dirty="0"/>
              <a:t>(LISTNODEPTR </a:t>
            </a:r>
            <a:r>
              <a:rPr lang="en-US" altLang="zh-CN" sz="2400" b="1" dirty="0" err="1"/>
              <a:t>headPtr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LISTNODEPTR *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lastPtrPtr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);</a:t>
            </a: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C23E626A-9805-43D3-A07B-C9AEA0ADA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进深操作－逆序</a:t>
            </a:r>
          </a:p>
        </p:txBody>
      </p:sp>
      <p:sp>
        <p:nvSpPr>
          <p:cNvPr id="85" name="Text Box 75">
            <a:extLst>
              <a:ext uri="{FF2B5EF4-FFF2-40B4-BE49-F238E27FC236}">
                <a16:creationId xmlns:a16="http://schemas.microsoft.com/office/drawing/2014/main" id="{E44B924E-D5AA-4DBA-AB0B-C19DBC615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" y="4656365"/>
            <a:ext cx="8136902" cy="193899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Tx/>
              <a:buAutoNum type="arabicParenBoth"/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空结点指向尾结点：</a:t>
            </a:r>
            <a:r>
              <a:rPr lang="en-US" altLang="zh-CN" sz="2400" dirty="0" err="1">
                <a:latin typeface="Times New Roman" panose="02020603050405020304" pitchFamily="18" charset="0"/>
              </a:rPr>
              <a:t>firstPtr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 = *</a:t>
            </a:r>
            <a:r>
              <a:rPr lang="en-US" altLang="zh-CN" sz="2400" dirty="0" err="1">
                <a:latin typeface="Times New Roman" panose="02020603050405020304" pitchFamily="18" charset="0"/>
              </a:rPr>
              <a:t>lastPtr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(2) </a:t>
            </a:r>
            <a:r>
              <a:rPr lang="zh-CN" altLang="en-US" sz="2400" dirty="0">
                <a:latin typeface="Times New Roman" panose="02020603050405020304" pitchFamily="18" charset="0"/>
              </a:rPr>
              <a:t>遍历链表，除第一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个结点外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其他结点的</a:t>
            </a:r>
            <a:r>
              <a:rPr lang="zh-CN" altLang="en-US" sz="2400" dirty="0">
                <a:latin typeface="Times New Roman" panose="02020603050405020304" pitchFamily="18" charset="0"/>
              </a:rPr>
              <a:t>指针域要指向其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前驱结点。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C993133-4768-4745-9043-6032C397F972}"/>
              </a:ext>
            </a:extLst>
          </p:cNvPr>
          <p:cNvGrpSpPr/>
          <p:nvPr/>
        </p:nvGrpSpPr>
        <p:grpSpPr>
          <a:xfrm>
            <a:off x="1115244" y="2420888"/>
            <a:ext cx="7200900" cy="2168524"/>
            <a:chOff x="1115244" y="2749326"/>
            <a:chExt cx="7200900" cy="2168524"/>
          </a:xfrm>
        </p:grpSpPr>
        <p:grpSp>
          <p:nvGrpSpPr>
            <p:cNvPr id="49" name="Group 4">
              <a:extLst>
                <a:ext uri="{FF2B5EF4-FFF2-40B4-BE49-F238E27FC236}">
                  <a16:creationId xmlns:a16="http://schemas.microsoft.com/office/drawing/2014/main" id="{DCFF78C9-F6BD-467A-BE7C-29663269F0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8644" y="4120926"/>
              <a:ext cx="990600" cy="466725"/>
              <a:chOff x="0" y="0"/>
              <a:chExt cx="624" cy="294"/>
            </a:xfrm>
          </p:grpSpPr>
          <p:sp>
            <p:nvSpPr>
              <p:cNvPr id="50" name="Text Box 5">
                <a:extLst>
                  <a:ext uri="{FF2B5EF4-FFF2-40B4-BE49-F238E27FC236}">
                    <a16:creationId xmlns:a16="http://schemas.microsoft.com/office/drawing/2014/main" id="{10808D1B-7FBC-4832-BC6C-724E5D19A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     </a:t>
                </a:r>
              </a:p>
            </p:txBody>
          </p:sp>
          <p:sp>
            <p:nvSpPr>
              <p:cNvPr id="51" name="Line 6">
                <a:extLst>
                  <a:ext uri="{FF2B5EF4-FFF2-40B4-BE49-F238E27FC236}">
                    <a16:creationId xmlns:a16="http://schemas.microsoft.com/office/drawing/2014/main" id="{82020671-0DC4-4450-91E2-888141734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7">
              <a:extLst>
                <a:ext uri="{FF2B5EF4-FFF2-40B4-BE49-F238E27FC236}">
                  <a16:creationId xmlns:a16="http://schemas.microsoft.com/office/drawing/2014/main" id="{B9C4A813-3137-4DEE-AAD7-2691A362E1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8844" y="4120926"/>
              <a:ext cx="990600" cy="466725"/>
              <a:chOff x="0" y="0"/>
              <a:chExt cx="624" cy="294"/>
            </a:xfrm>
          </p:grpSpPr>
          <p:sp>
            <p:nvSpPr>
              <p:cNvPr id="53" name="Text Box 8">
                <a:extLst>
                  <a:ext uri="{FF2B5EF4-FFF2-40B4-BE49-F238E27FC236}">
                    <a16:creationId xmlns:a16="http://schemas.microsoft.com/office/drawing/2014/main" id="{F7E00DA7-7A88-432E-BA84-4F526B8086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19  </a:t>
                </a:r>
              </a:p>
            </p:txBody>
          </p:sp>
          <p:sp>
            <p:nvSpPr>
              <p:cNvPr id="54" name="Line 9">
                <a:extLst>
                  <a:ext uri="{FF2B5EF4-FFF2-40B4-BE49-F238E27FC236}">
                    <a16:creationId xmlns:a16="http://schemas.microsoft.com/office/drawing/2014/main" id="{6550B07C-B4D5-494C-932C-757EEC50C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5" name="Group 10">
              <a:extLst>
                <a:ext uri="{FF2B5EF4-FFF2-40B4-BE49-F238E27FC236}">
                  <a16:creationId xmlns:a16="http://schemas.microsoft.com/office/drawing/2014/main" id="{7661EC56-64A0-46A1-9F62-56EAE3741B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9044" y="4120926"/>
              <a:ext cx="990600" cy="466725"/>
              <a:chOff x="0" y="0"/>
              <a:chExt cx="624" cy="294"/>
            </a:xfrm>
          </p:grpSpPr>
          <p:sp>
            <p:nvSpPr>
              <p:cNvPr id="56" name="Text Box 11">
                <a:extLst>
                  <a:ext uri="{FF2B5EF4-FFF2-40B4-BE49-F238E27FC236}">
                    <a16:creationId xmlns:a16="http://schemas.microsoft.com/office/drawing/2014/main" id="{BCF63E14-D5F8-4AF5-B732-0E6288F573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27  </a:t>
                </a:r>
              </a:p>
            </p:txBody>
          </p:sp>
          <p:sp>
            <p:nvSpPr>
              <p:cNvPr id="57" name="Line 12">
                <a:extLst>
                  <a:ext uri="{FF2B5EF4-FFF2-40B4-BE49-F238E27FC236}">
                    <a16:creationId xmlns:a16="http://schemas.microsoft.com/office/drawing/2014/main" id="{E7DC7EB5-007F-42DB-9D00-C830CA542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" name="Group 13">
              <a:extLst>
                <a:ext uri="{FF2B5EF4-FFF2-40B4-BE49-F238E27FC236}">
                  <a16:creationId xmlns:a16="http://schemas.microsoft.com/office/drawing/2014/main" id="{29A7F2C6-022E-4CE2-B497-888D868AB6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0644" y="4316189"/>
              <a:ext cx="838200" cy="76200"/>
              <a:chOff x="0" y="0"/>
              <a:chExt cx="528" cy="48"/>
            </a:xfrm>
          </p:grpSpPr>
          <p:sp>
            <p:nvSpPr>
              <p:cNvPr id="59" name="Line 14">
                <a:extLst>
                  <a:ext uri="{FF2B5EF4-FFF2-40B4-BE49-F238E27FC236}">
                    <a16:creationId xmlns:a16="http://schemas.microsoft.com/office/drawing/2014/main" id="{F7C294F5-6B79-4180-84E0-3CDFBE806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4B490A41-8B84-4186-890C-495FDC00E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" name="Group 16">
              <a:extLst>
                <a:ext uri="{FF2B5EF4-FFF2-40B4-BE49-F238E27FC236}">
                  <a16:creationId xmlns:a16="http://schemas.microsoft.com/office/drawing/2014/main" id="{83274103-1BEE-469E-9125-EDAD269B1B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0844" y="4320951"/>
              <a:ext cx="838200" cy="76200"/>
              <a:chOff x="0" y="0"/>
              <a:chExt cx="528" cy="48"/>
            </a:xfrm>
          </p:grpSpPr>
          <p:sp>
            <p:nvSpPr>
              <p:cNvPr id="62" name="Line 17">
                <a:extLst>
                  <a:ext uri="{FF2B5EF4-FFF2-40B4-BE49-F238E27FC236}">
                    <a16:creationId xmlns:a16="http://schemas.microsoft.com/office/drawing/2014/main" id="{0E395500-7F35-4D40-8166-E20E6678E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Oval 18">
                <a:extLst>
                  <a:ext uri="{FF2B5EF4-FFF2-40B4-BE49-F238E27FC236}">
                    <a16:creationId xmlns:a16="http://schemas.microsoft.com/office/drawing/2014/main" id="{84DC83F5-5DCB-4F28-8144-BCEE279B8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Group 19">
              <a:extLst>
                <a:ext uri="{FF2B5EF4-FFF2-40B4-BE49-F238E27FC236}">
                  <a16:creationId xmlns:a16="http://schemas.microsoft.com/office/drawing/2014/main" id="{D3B049BF-3BC1-47A4-9ACE-C62D25990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5244" y="2749326"/>
              <a:ext cx="1219200" cy="1371600"/>
              <a:chOff x="0" y="0"/>
              <a:chExt cx="768" cy="864"/>
            </a:xfrm>
          </p:grpSpPr>
          <p:sp>
            <p:nvSpPr>
              <p:cNvPr id="65" name="Text Box 20">
                <a:extLst>
                  <a:ext uri="{FF2B5EF4-FFF2-40B4-BE49-F238E27FC236}">
                    <a16:creationId xmlns:a16="http://schemas.microsoft.com/office/drawing/2014/main" id="{8C978E76-4B90-47C7-89D7-56F5FCBC0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8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Text Box 21">
                <a:extLst>
                  <a:ext uri="{FF2B5EF4-FFF2-40B4-BE49-F238E27FC236}">
                    <a16:creationId xmlns:a16="http://schemas.microsoft.com/office/drawing/2014/main" id="{73CA99A6-24BC-4436-94E4-6ED43BE294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6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headPtr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7" name="Group 22">
                <a:extLst>
                  <a:ext uri="{FF2B5EF4-FFF2-40B4-BE49-F238E27FC236}">
                    <a16:creationId xmlns:a16="http://schemas.microsoft.com/office/drawing/2014/main" id="{6D7F19A8-54A7-41BD-B6C9-37093832B0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432"/>
                <a:ext cx="48" cy="432"/>
                <a:chOff x="0" y="0"/>
                <a:chExt cx="48" cy="432"/>
              </a:xfrm>
            </p:grpSpPr>
            <p:sp>
              <p:nvSpPr>
                <p:cNvPr id="68" name="Oval 23">
                  <a:extLst>
                    <a:ext uri="{FF2B5EF4-FFF2-40B4-BE49-F238E27FC236}">
                      <a16:creationId xmlns:a16="http://schemas.microsoft.com/office/drawing/2014/main" id="{6BBCDA28-2C93-4DF6-A137-C7ABB077B3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24">
                  <a:extLst>
                    <a:ext uri="{FF2B5EF4-FFF2-40B4-BE49-F238E27FC236}">
                      <a16:creationId xmlns:a16="http://schemas.microsoft.com/office/drawing/2014/main" id="{A5C0C9AC-E889-4A62-B4A6-7D60D8B65D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" y="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0" name="Line 25">
              <a:extLst>
                <a:ext uri="{FF2B5EF4-FFF2-40B4-BE49-F238E27FC236}">
                  <a16:creationId xmlns:a16="http://schemas.microsoft.com/office/drawing/2014/main" id="{A481DF91-BB70-440B-B3E0-0F4CA8DD8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386" y="4183632"/>
              <a:ext cx="433388" cy="4318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" name="Group 29">
              <a:extLst>
                <a:ext uri="{FF2B5EF4-FFF2-40B4-BE49-F238E27FC236}">
                  <a16:creationId xmlns:a16="http://schemas.microsoft.com/office/drawing/2014/main" id="{D7A6F32A-D721-47E0-B84D-BF7083CF5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0644" y="4578125"/>
              <a:ext cx="4732336" cy="339725"/>
              <a:chOff x="0" y="448"/>
              <a:chExt cx="2981" cy="214"/>
            </a:xfrm>
          </p:grpSpPr>
          <p:sp>
            <p:nvSpPr>
              <p:cNvPr id="72" name="Line 26">
                <a:extLst>
                  <a:ext uri="{FF2B5EF4-FFF2-40B4-BE49-F238E27FC236}">
                    <a16:creationId xmlns:a16="http://schemas.microsoft.com/office/drawing/2014/main" id="{6F5FEF3D-46DF-40AE-BFB4-671FFF4E2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0" y="448"/>
                <a:ext cx="0" cy="183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27">
                <a:extLst>
                  <a:ext uri="{FF2B5EF4-FFF2-40B4-BE49-F238E27FC236}">
                    <a16:creationId xmlns:a16="http://schemas.microsoft.com/office/drawing/2014/main" id="{12C257AD-1934-41B8-B1B5-A1DB4ED0C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0" y="631"/>
                <a:ext cx="2970" cy="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28">
                <a:extLst>
                  <a:ext uri="{FF2B5EF4-FFF2-40B4-BE49-F238E27FC236}">
                    <a16:creationId xmlns:a16="http://schemas.microsoft.com/office/drawing/2014/main" id="{0FC91D82-CF6F-496F-92D6-52ED849D2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81" y="476"/>
                <a:ext cx="0" cy="18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5" name="Group 34">
              <a:extLst>
                <a:ext uri="{FF2B5EF4-FFF2-40B4-BE49-F238E27FC236}">
                  <a16:creationId xmlns:a16="http://schemas.microsoft.com/office/drawing/2014/main" id="{1673B128-F7BC-4944-A7A3-3DAB5BD1C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0869" y="3866926"/>
              <a:ext cx="1366837" cy="504825"/>
              <a:chOff x="0" y="0"/>
              <a:chExt cx="861" cy="318"/>
            </a:xfrm>
          </p:grpSpPr>
          <p:sp>
            <p:nvSpPr>
              <p:cNvPr id="76" name="Line 31">
                <a:extLst>
                  <a:ext uri="{FF2B5EF4-FFF2-40B4-BE49-F238E27FC236}">
                    <a16:creationId xmlns:a16="http://schemas.microsoft.com/office/drawing/2014/main" id="{B3DCA52A-4BE7-4CDE-88D0-558C9ACAA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1" y="0"/>
                <a:ext cx="0" cy="31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32">
                <a:extLst>
                  <a:ext uri="{FF2B5EF4-FFF2-40B4-BE49-F238E27FC236}">
                    <a16:creationId xmlns:a16="http://schemas.microsoft.com/office/drawing/2014/main" id="{EE219B8D-E760-4B7F-B19F-477884517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861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33">
                <a:extLst>
                  <a:ext uri="{FF2B5EF4-FFF2-40B4-BE49-F238E27FC236}">
                    <a16:creationId xmlns:a16="http://schemas.microsoft.com/office/drawing/2014/main" id="{724BE8B6-E6E7-489F-8E9E-2D58AEA0B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9" name="Group 65">
              <a:extLst>
                <a:ext uri="{FF2B5EF4-FFF2-40B4-BE49-F238E27FC236}">
                  <a16:creationId xmlns:a16="http://schemas.microsoft.com/office/drawing/2014/main" id="{E1C3D8AD-D36F-45C5-BB54-124134A3A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0506" y="4155851"/>
              <a:ext cx="990600" cy="466725"/>
              <a:chOff x="0" y="0"/>
              <a:chExt cx="624" cy="294"/>
            </a:xfrm>
          </p:grpSpPr>
          <p:sp>
            <p:nvSpPr>
              <p:cNvPr id="80" name="Text Box 66">
                <a:extLst>
                  <a:ext uri="{FF2B5EF4-FFF2-40B4-BE49-F238E27FC236}">
                    <a16:creationId xmlns:a16="http://schemas.microsoft.com/office/drawing/2014/main" id="{A126EAEC-A662-47A1-999E-355A64E6D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47  </a:t>
                </a:r>
              </a:p>
            </p:txBody>
          </p:sp>
          <p:sp>
            <p:nvSpPr>
              <p:cNvPr id="81" name="Line 67">
                <a:extLst>
                  <a:ext uri="{FF2B5EF4-FFF2-40B4-BE49-F238E27FC236}">
                    <a16:creationId xmlns:a16="http://schemas.microsoft.com/office/drawing/2014/main" id="{2DF9445F-976E-46EA-9FB8-886B65E82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" name="Group 68">
              <a:extLst>
                <a:ext uri="{FF2B5EF4-FFF2-40B4-BE49-F238E27FC236}">
                  <a16:creationId xmlns:a16="http://schemas.microsoft.com/office/drawing/2014/main" id="{98597E19-E77C-494C-9865-78606974E0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306" y="4355876"/>
              <a:ext cx="838200" cy="76200"/>
              <a:chOff x="0" y="0"/>
              <a:chExt cx="528" cy="48"/>
            </a:xfrm>
          </p:grpSpPr>
          <p:sp>
            <p:nvSpPr>
              <p:cNvPr id="83" name="Line 69">
                <a:extLst>
                  <a:ext uri="{FF2B5EF4-FFF2-40B4-BE49-F238E27FC236}">
                    <a16:creationId xmlns:a16="http://schemas.microsoft.com/office/drawing/2014/main" id="{AC33932C-9ABD-4BD7-96BF-DF378E64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Oval 70">
                <a:extLst>
                  <a:ext uri="{FF2B5EF4-FFF2-40B4-BE49-F238E27FC236}">
                    <a16:creationId xmlns:a16="http://schemas.microsoft.com/office/drawing/2014/main" id="{A4457654-D938-4786-9F14-166F8F173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6" name="Group 76">
              <a:extLst>
                <a:ext uri="{FF2B5EF4-FFF2-40B4-BE49-F238E27FC236}">
                  <a16:creationId xmlns:a16="http://schemas.microsoft.com/office/drawing/2014/main" id="{C81AAEEC-874D-4FE0-AAD1-54915BC01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319" y="3830414"/>
              <a:ext cx="1655762" cy="504825"/>
              <a:chOff x="0" y="0"/>
              <a:chExt cx="1043" cy="318"/>
            </a:xfrm>
          </p:grpSpPr>
          <p:sp>
            <p:nvSpPr>
              <p:cNvPr id="87" name="Line 77">
                <a:extLst>
                  <a:ext uri="{FF2B5EF4-FFF2-40B4-BE49-F238E27FC236}">
                    <a16:creationId xmlns:a16="http://schemas.microsoft.com/office/drawing/2014/main" id="{DA2551CA-F2E1-4DA2-828A-AEEEEE3A1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0"/>
                <a:ext cx="0" cy="31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78">
                <a:extLst>
                  <a:ext uri="{FF2B5EF4-FFF2-40B4-BE49-F238E27FC236}">
                    <a16:creationId xmlns:a16="http://schemas.microsoft.com/office/drawing/2014/main" id="{B26EE753-6FAB-44C7-8FDA-B4E788957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1043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79">
                <a:extLst>
                  <a:ext uri="{FF2B5EF4-FFF2-40B4-BE49-F238E27FC236}">
                    <a16:creationId xmlns:a16="http://schemas.microsoft.com/office/drawing/2014/main" id="{E083EC35-23DB-487B-9D61-1881D396E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>
                <a:prstShdw prst="shdw17" dist="17961" dir="13500000">
                  <a:srgbClr val="991F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0" name="Group 142">
              <a:extLst>
                <a:ext uri="{FF2B5EF4-FFF2-40B4-BE49-F238E27FC236}">
                  <a16:creationId xmlns:a16="http://schemas.microsoft.com/office/drawing/2014/main" id="{E67C7AAC-EF24-4153-9AA1-149F5C193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5919" y="2750914"/>
              <a:ext cx="1800225" cy="1371600"/>
              <a:chOff x="0" y="0"/>
              <a:chExt cx="1134" cy="864"/>
            </a:xfrm>
          </p:grpSpPr>
          <p:sp>
            <p:nvSpPr>
              <p:cNvPr id="91" name="Text Box 137">
                <a:extLst>
                  <a:ext uri="{FF2B5EF4-FFF2-40B4-BE49-F238E27FC236}">
                    <a16:creationId xmlns:a16="http://schemas.microsoft.com/office/drawing/2014/main" id="{623E0121-4559-4DE0-A134-188983FF9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8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Text Box 138">
                <a:extLst>
                  <a:ext uri="{FF2B5EF4-FFF2-40B4-BE49-F238E27FC236}">
                    <a16:creationId xmlns:a16="http://schemas.microsoft.com/office/drawing/2014/main" id="{7EEE7664-DB02-440D-A374-FD0D52961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13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lastPtr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3" name="Group 139">
                <a:extLst>
                  <a:ext uri="{FF2B5EF4-FFF2-40B4-BE49-F238E27FC236}">
                    <a16:creationId xmlns:a16="http://schemas.microsoft.com/office/drawing/2014/main" id="{848D9BC4-4095-4F61-B087-F44CE9B62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432"/>
                <a:ext cx="48" cy="432"/>
                <a:chOff x="0" y="0"/>
                <a:chExt cx="48" cy="432"/>
              </a:xfrm>
            </p:grpSpPr>
            <p:sp>
              <p:nvSpPr>
                <p:cNvPr id="94" name="Oval 140">
                  <a:extLst>
                    <a:ext uri="{FF2B5EF4-FFF2-40B4-BE49-F238E27FC236}">
                      <a16:creationId xmlns:a16="http://schemas.microsoft.com/office/drawing/2014/main" id="{78CA78F6-AD76-484C-A95C-C2471E8CB9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SzPct val="6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5" name="Line 141">
                  <a:extLst>
                    <a:ext uri="{FF2B5EF4-FFF2-40B4-BE49-F238E27FC236}">
                      <a16:creationId xmlns:a16="http://schemas.microsoft.com/office/drawing/2014/main" id="{B31A8244-5E5C-4E38-BD93-C81F05E3DE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" y="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EFA339A5-7E78-4F6E-B6D8-F120B4AF664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42F1911B-917A-42FD-B6CB-A1403CF47786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BB118F-C1AD-4048-8077-984C5EFCC9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链表逆序</a:t>
            </a:r>
            <a:r>
              <a:rPr lang="en-US" altLang="zh-CN" b="1" dirty="0"/>
              <a:t>-</a:t>
            </a:r>
            <a:r>
              <a:rPr lang="zh-CN" altLang="en-US" b="1" dirty="0"/>
              <a:t>思路</a:t>
            </a:r>
            <a:endParaRPr lang="en-US" altLang="zh-CN" b="1" dirty="0"/>
          </a:p>
        </p:txBody>
      </p:sp>
      <p:grpSp>
        <p:nvGrpSpPr>
          <p:cNvPr id="24580" name="Group 4">
            <a:extLst>
              <a:ext uri="{FF2B5EF4-FFF2-40B4-BE49-F238E27FC236}">
                <a16:creationId xmlns:a16="http://schemas.microsoft.com/office/drawing/2014/main" id="{F8819EE4-1E66-4CBB-A3C9-006F738BBF91}"/>
              </a:ext>
            </a:extLst>
          </p:cNvPr>
          <p:cNvGrpSpPr>
            <a:grpSpLocks/>
          </p:cNvGrpSpPr>
          <p:nvPr/>
        </p:nvGrpSpPr>
        <p:grpSpPr bwMode="auto">
          <a:xfrm>
            <a:off x="1947863" y="1412875"/>
            <a:ext cx="990600" cy="466725"/>
            <a:chOff x="0" y="0"/>
            <a:chExt cx="624" cy="294"/>
          </a:xfrm>
        </p:grpSpPr>
        <p:sp>
          <p:nvSpPr>
            <p:cNvPr id="24624" name="Text Box 5">
              <a:extLst>
                <a:ext uri="{FF2B5EF4-FFF2-40B4-BE49-F238E27FC236}">
                  <a16:creationId xmlns:a16="http://schemas.microsoft.com/office/drawing/2014/main" id="{138823C1-0159-41BE-9F98-5BCF5CEC2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19     </a:t>
              </a:r>
            </a:p>
          </p:txBody>
        </p:sp>
        <p:sp>
          <p:nvSpPr>
            <p:cNvPr id="24625" name="Line 6">
              <a:extLst>
                <a:ext uri="{FF2B5EF4-FFF2-40B4-BE49-F238E27FC236}">
                  <a16:creationId xmlns:a16="http://schemas.microsoft.com/office/drawing/2014/main" id="{E0B6B517-F3C2-4C19-94B2-8F4DDB955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1" name="Group 7">
            <a:extLst>
              <a:ext uri="{FF2B5EF4-FFF2-40B4-BE49-F238E27FC236}">
                <a16:creationId xmlns:a16="http://schemas.microsoft.com/office/drawing/2014/main" id="{FC954A0C-7207-444E-A7FE-E9D885F4C76F}"/>
              </a:ext>
            </a:extLst>
          </p:cNvPr>
          <p:cNvGrpSpPr>
            <a:grpSpLocks/>
          </p:cNvGrpSpPr>
          <p:nvPr/>
        </p:nvGrpSpPr>
        <p:grpSpPr bwMode="auto">
          <a:xfrm>
            <a:off x="3476625" y="1412875"/>
            <a:ext cx="990600" cy="466725"/>
            <a:chOff x="0" y="0"/>
            <a:chExt cx="624" cy="294"/>
          </a:xfrm>
        </p:grpSpPr>
        <p:sp>
          <p:nvSpPr>
            <p:cNvPr id="24622" name="Text Box 8">
              <a:extLst>
                <a:ext uri="{FF2B5EF4-FFF2-40B4-BE49-F238E27FC236}">
                  <a16:creationId xmlns:a16="http://schemas.microsoft.com/office/drawing/2014/main" id="{D9DDDFCD-A3C7-454F-8CDF-F22250CD9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27  </a:t>
              </a:r>
            </a:p>
          </p:txBody>
        </p:sp>
        <p:sp>
          <p:nvSpPr>
            <p:cNvPr id="24623" name="Line 9">
              <a:extLst>
                <a:ext uri="{FF2B5EF4-FFF2-40B4-BE49-F238E27FC236}">
                  <a16:creationId xmlns:a16="http://schemas.microsoft.com/office/drawing/2014/main" id="{280C018E-8D33-4742-8E1F-ABB29984B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2" name="Group 10">
            <a:extLst>
              <a:ext uri="{FF2B5EF4-FFF2-40B4-BE49-F238E27FC236}">
                <a16:creationId xmlns:a16="http://schemas.microsoft.com/office/drawing/2014/main" id="{C37563FC-9434-402F-AB12-56770F61FC1E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412875"/>
            <a:ext cx="990600" cy="466725"/>
            <a:chOff x="0" y="0"/>
            <a:chExt cx="624" cy="294"/>
          </a:xfrm>
        </p:grpSpPr>
        <p:sp>
          <p:nvSpPr>
            <p:cNvPr id="24620" name="Text Box 11">
              <a:extLst>
                <a:ext uri="{FF2B5EF4-FFF2-40B4-BE49-F238E27FC236}">
                  <a16:creationId xmlns:a16="http://schemas.microsoft.com/office/drawing/2014/main" id="{779EDC88-DDE6-4D05-808F-DB8264050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24621" name="Line 12">
              <a:extLst>
                <a:ext uri="{FF2B5EF4-FFF2-40B4-BE49-F238E27FC236}">
                  <a16:creationId xmlns:a16="http://schemas.microsoft.com/office/drawing/2014/main" id="{F8F03A54-8370-43AB-9EF3-5AD337F2F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3" name="Line 13">
            <a:extLst>
              <a:ext uri="{FF2B5EF4-FFF2-40B4-BE49-F238E27FC236}">
                <a16:creationId xmlns:a16="http://schemas.microsoft.com/office/drawing/2014/main" id="{DD8144EA-705C-4FA7-9B24-03AC20B6D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2375" y="1447800"/>
            <a:ext cx="4333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86" name="Group 20">
            <a:extLst>
              <a:ext uri="{FF2B5EF4-FFF2-40B4-BE49-F238E27FC236}">
                <a16:creationId xmlns:a16="http://schemas.microsoft.com/office/drawing/2014/main" id="{7D878FAC-D0C3-497B-8E2A-B78E345D74D8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1592263"/>
            <a:ext cx="838200" cy="76200"/>
            <a:chOff x="0" y="0"/>
            <a:chExt cx="528" cy="48"/>
          </a:xfrm>
        </p:grpSpPr>
        <p:sp>
          <p:nvSpPr>
            <p:cNvPr id="24614" name="Line 21">
              <a:extLst>
                <a:ext uri="{FF2B5EF4-FFF2-40B4-BE49-F238E27FC236}">
                  <a16:creationId xmlns:a16="http://schemas.microsoft.com/office/drawing/2014/main" id="{3212CA14-FF9E-4FCA-8E3C-372D56A1D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Oval 22">
              <a:extLst>
                <a:ext uri="{FF2B5EF4-FFF2-40B4-BE49-F238E27FC236}">
                  <a16:creationId xmlns:a16="http://schemas.microsoft.com/office/drawing/2014/main" id="{FA83ABD6-9A30-4E45-8E16-B6FC1D74B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587" name="Group 23">
            <a:extLst>
              <a:ext uri="{FF2B5EF4-FFF2-40B4-BE49-F238E27FC236}">
                <a16:creationId xmlns:a16="http://schemas.microsoft.com/office/drawing/2014/main" id="{6AB059D9-A1FF-4F4F-9ED0-9D6321578873}"/>
              </a:ext>
            </a:extLst>
          </p:cNvPr>
          <p:cNvGrpSpPr>
            <a:grpSpLocks/>
          </p:cNvGrpSpPr>
          <p:nvPr/>
        </p:nvGrpSpPr>
        <p:grpSpPr bwMode="auto">
          <a:xfrm>
            <a:off x="1444625" y="1879600"/>
            <a:ext cx="1600200" cy="1177925"/>
            <a:chOff x="0" y="0"/>
            <a:chExt cx="1008" cy="742"/>
          </a:xfrm>
        </p:grpSpPr>
        <p:sp>
          <p:nvSpPr>
            <p:cNvPr id="24609" name="Text Box 24">
              <a:extLst>
                <a:ext uri="{FF2B5EF4-FFF2-40B4-BE49-F238E27FC236}">
                  <a16:creationId xmlns:a16="http://schemas.microsoft.com/office/drawing/2014/main" id="{7DD80240-70FC-4E01-89FA-8C2D8063A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4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previousPtr</a:t>
              </a:r>
            </a:p>
          </p:txBody>
        </p:sp>
        <p:grpSp>
          <p:nvGrpSpPr>
            <p:cNvPr id="24610" name="Group 25">
              <a:extLst>
                <a:ext uri="{FF2B5EF4-FFF2-40B4-BE49-F238E27FC236}">
                  <a16:creationId xmlns:a16="http://schemas.microsoft.com/office/drawing/2014/main" id="{B8004E39-AC35-434F-AE4D-AF83081443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" y="0"/>
              <a:ext cx="441" cy="491"/>
              <a:chOff x="0" y="0"/>
              <a:chExt cx="441" cy="491"/>
            </a:xfrm>
          </p:grpSpPr>
          <p:sp>
            <p:nvSpPr>
              <p:cNvPr id="24611" name="Text Box 26">
                <a:extLst>
                  <a:ext uri="{FF2B5EF4-FFF2-40B4-BE49-F238E27FC236}">
                    <a16:creationId xmlns:a16="http://schemas.microsoft.com/office/drawing/2014/main" id="{7481C288-8C42-4A0F-831B-9A1C3E37E4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97"/>
                <a:ext cx="441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2" name="Oval 27">
                <a:extLst>
                  <a:ext uri="{FF2B5EF4-FFF2-40B4-BE49-F238E27FC236}">
                    <a16:creationId xmlns:a16="http://schemas.microsoft.com/office/drawing/2014/main" id="{2DC0572A-10A6-4A96-AC49-22794D113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" y="363"/>
                <a:ext cx="45" cy="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3" name="Line 28">
                <a:extLst>
                  <a:ext uri="{FF2B5EF4-FFF2-40B4-BE49-F238E27FC236}">
                    <a16:creationId xmlns:a16="http://schemas.microsoft.com/office/drawing/2014/main" id="{78D01477-3066-4709-8614-F4CE9B446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2" y="0"/>
                <a:ext cx="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4588" name="Group 29">
            <a:extLst>
              <a:ext uri="{FF2B5EF4-FFF2-40B4-BE49-F238E27FC236}">
                <a16:creationId xmlns:a16="http://schemas.microsoft.com/office/drawing/2014/main" id="{D23C93D6-EF7C-4149-9256-9CFDED50B12C}"/>
              </a:ext>
            </a:extLst>
          </p:cNvPr>
          <p:cNvGrpSpPr>
            <a:grpSpLocks/>
          </p:cNvGrpSpPr>
          <p:nvPr/>
        </p:nvGrpSpPr>
        <p:grpSpPr bwMode="auto">
          <a:xfrm>
            <a:off x="3100388" y="1879600"/>
            <a:ext cx="1447800" cy="1106488"/>
            <a:chOff x="0" y="0"/>
            <a:chExt cx="912" cy="697"/>
          </a:xfrm>
        </p:grpSpPr>
        <p:sp>
          <p:nvSpPr>
            <p:cNvPr id="24604" name="Text Box 30">
              <a:extLst>
                <a:ext uri="{FF2B5EF4-FFF2-40B4-BE49-F238E27FC236}">
                  <a16:creationId xmlns:a16="http://schemas.microsoft.com/office/drawing/2014/main" id="{F4C3780B-FB3D-42C6-ADF9-113E9BF8D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09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currentPtr</a:t>
              </a:r>
            </a:p>
          </p:txBody>
        </p:sp>
        <p:grpSp>
          <p:nvGrpSpPr>
            <p:cNvPr id="24605" name="Group 31">
              <a:extLst>
                <a:ext uri="{FF2B5EF4-FFF2-40B4-BE49-F238E27FC236}">
                  <a16:creationId xmlns:a16="http://schemas.microsoft.com/office/drawing/2014/main" id="{0A6023FB-9931-4374-9284-18CD7C8DB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" y="0"/>
              <a:ext cx="441" cy="491"/>
              <a:chOff x="0" y="0"/>
              <a:chExt cx="441" cy="491"/>
            </a:xfrm>
          </p:grpSpPr>
          <p:sp>
            <p:nvSpPr>
              <p:cNvPr id="24606" name="Text Box 32">
                <a:extLst>
                  <a:ext uri="{FF2B5EF4-FFF2-40B4-BE49-F238E27FC236}">
                    <a16:creationId xmlns:a16="http://schemas.microsoft.com/office/drawing/2014/main" id="{28AF4BBE-9DD9-40DA-8ED5-2373F9D1D7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97"/>
                <a:ext cx="441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7" name="Oval 33">
                <a:extLst>
                  <a:ext uri="{FF2B5EF4-FFF2-40B4-BE49-F238E27FC236}">
                    <a16:creationId xmlns:a16="http://schemas.microsoft.com/office/drawing/2014/main" id="{D30C10DA-EB3D-47A4-A162-6312BD836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" y="363"/>
                <a:ext cx="45" cy="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8" name="Line 34">
                <a:extLst>
                  <a:ext uri="{FF2B5EF4-FFF2-40B4-BE49-F238E27FC236}">
                    <a16:creationId xmlns:a16="http://schemas.microsoft.com/office/drawing/2014/main" id="{8192DCCF-1A62-48AE-86DA-4AF48A018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2" y="0"/>
                <a:ext cx="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4589" name="Group 35">
            <a:extLst>
              <a:ext uri="{FF2B5EF4-FFF2-40B4-BE49-F238E27FC236}">
                <a16:creationId xmlns:a16="http://schemas.microsoft.com/office/drawing/2014/main" id="{4094E414-8F76-4E33-9667-1D8BDADEE97F}"/>
              </a:ext>
            </a:extLst>
          </p:cNvPr>
          <p:cNvGrpSpPr>
            <a:grpSpLocks/>
          </p:cNvGrpSpPr>
          <p:nvPr/>
        </p:nvGrpSpPr>
        <p:grpSpPr bwMode="auto">
          <a:xfrm>
            <a:off x="2554288" y="1052513"/>
            <a:ext cx="1655762" cy="504825"/>
            <a:chOff x="0" y="0"/>
            <a:chExt cx="1043" cy="318"/>
          </a:xfrm>
        </p:grpSpPr>
        <p:sp>
          <p:nvSpPr>
            <p:cNvPr id="24601" name="Line 36">
              <a:extLst>
                <a:ext uri="{FF2B5EF4-FFF2-40B4-BE49-F238E27FC236}">
                  <a16:creationId xmlns:a16="http://schemas.microsoft.com/office/drawing/2014/main" id="{4AE98236-4AD3-4BB0-8347-2CF5CF93E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3" y="0"/>
              <a:ext cx="0" cy="31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Line 37">
              <a:extLst>
                <a:ext uri="{FF2B5EF4-FFF2-40B4-BE49-F238E27FC236}">
                  <a16:creationId xmlns:a16="http://schemas.microsoft.com/office/drawing/2014/main" id="{9D0B3FD9-3D33-4CF4-A550-DF5932BF1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1043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Line 38">
              <a:extLst>
                <a:ext uri="{FF2B5EF4-FFF2-40B4-BE49-F238E27FC236}">
                  <a16:creationId xmlns:a16="http://schemas.microsoft.com/office/drawing/2014/main" id="{B0828FFC-50D4-473C-83DA-446BF7D84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3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0" name="Group 39">
            <a:extLst>
              <a:ext uri="{FF2B5EF4-FFF2-40B4-BE49-F238E27FC236}">
                <a16:creationId xmlns:a16="http://schemas.microsoft.com/office/drawing/2014/main" id="{E81C68E7-539E-4CFD-BBF3-F06BCC5F36FE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484313"/>
            <a:ext cx="358775" cy="287337"/>
            <a:chOff x="0" y="0"/>
            <a:chExt cx="226" cy="181"/>
          </a:xfrm>
        </p:grpSpPr>
        <p:sp>
          <p:nvSpPr>
            <p:cNvPr id="24599" name="Line 40">
              <a:extLst>
                <a:ext uri="{FF2B5EF4-FFF2-40B4-BE49-F238E27FC236}">
                  <a16:creationId xmlns:a16="http://schemas.microsoft.com/office/drawing/2014/main" id="{99F144F0-65FA-471D-8063-E81C2C500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26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41">
              <a:extLst>
                <a:ext uri="{FF2B5EF4-FFF2-40B4-BE49-F238E27FC236}">
                  <a16:creationId xmlns:a16="http://schemas.microsoft.com/office/drawing/2014/main" id="{2E4FB380-AEA0-4B11-B2BC-84C72DC99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" y="0"/>
              <a:ext cx="181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962" name="Group 48">
            <a:extLst>
              <a:ext uri="{FF2B5EF4-FFF2-40B4-BE49-F238E27FC236}">
                <a16:creationId xmlns:a16="http://schemas.microsoft.com/office/drawing/2014/main" id="{437413A8-44D0-403E-BB67-321714E950F2}"/>
              </a:ext>
            </a:extLst>
          </p:cNvPr>
          <p:cNvGrpSpPr>
            <a:grpSpLocks/>
          </p:cNvGrpSpPr>
          <p:nvPr/>
        </p:nvGrpSpPr>
        <p:grpSpPr bwMode="auto">
          <a:xfrm>
            <a:off x="4779963" y="1916113"/>
            <a:ext cx="1879600" cy="1111249"/>
            <a:chOff x="0" y="0"/>
            <a:chExt cx="1184" cy="700"/>
          </a:xfrm>
        </p:grpSpPr>
        <p:sp>
          <p:nvSpPr>
            <p:cNvPr id="24594" name="Text Box 43">
              <a:extLst>
                <a:ext uri="{FF2B5EF4-FFF2-40B4-BE49-F238E27FC236}">
                  <a16:creationId xmlns:a16="http://schemas.microsoft.com/office/drawing/2014/main" id="{17FC191A-8DB5-4402-8BAC-507F0D249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09"/>
              <a:ext cx="11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tempPtr</a:t>
              </a:r>
              <a:endPara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4595" name="Group 44">
              <a:extLst>
                <a:ext uri="{FF2B5EF4-FFF2-40B4-BE49-F238E27FC236}">
                  <a16:creationId xmlns:a16="http://schemas.microsoft.com/office/drawing/2014/main" id="{213445A3-B170-43FA-82C5-F5785E223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" y="0"/>
              <a:ext cx="441" cy="491"/>
              <a:chOff x="0" y="0"/>
              <a:chExt cx="441" cy="491"/>
            </a:xfrm>
          </p:grpSpPr>
          <p:sp>
            <p:nvSpPr>
              <p:cNvPr id="24596" name="Text Box 45">
                <a:extLst>
                  <a:ext uri="{FF2B5EF4-FFF2-40B4-BE49-F238E27FC236}">
                    <a16:creationId xmlns:a16="http://schemas.microsoft.com/office/drawing/2014/main" id="{9160036D-D950-4477-A950-1756AE76AB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97"/>
                <a:ext cx="441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7" name="Oval 46">
                <a:extLst>
                  <a:ext uri="{FF2B5EF4-FFF2-40B4-BE49-F238E27FC236}">
                    <a16:creationId xmlns:a16="http://schemas.microsoft.com/office/drawing/2014/main" id="{B20F77CB-7116-4E6A-B35E-25B42631F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" y="363"/>
                <a:ext cx="45" cy="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8" name="Line 47">
                <a:extLst>
                  <a:ext uri="{FF2B5EF4-FFF2-40B4-BE49-F238E27FC236}">
                    <a16:creationId xmlns:a16="http://schemas.microsoft.com/office/drawing/2014/main" id="{EA4C3889-D808-41F3-88F0-3AEEF58195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2" y="0"/>
                <a:ext cx="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4592" name="Text Box 49">
            <a:extLst>
              <a:ext uri="{FF2B5EF4-FFF2-40B4-BE49-F238E27FC236}">
                <a16:creationId xmlns:a16="http://schemas.microsoft.com/office/drawing/2014/main" id="{8765F54B-410C-482B-AB5C-5D963F2D1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716338"/>
            <a:ext cx="6911975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1969" name="Text Box 50">
            <a:extLst>
              <a:ext uri="{FF2B5EF4-FFF2-40B4-BE49-F238E27FC236}">
                <a16:creationId xmlns:a16="http://schemas.microsoft.com/office/drawing/2014/main" id="{0A8CAE92-E44B-4812-BDEC-145BD262F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2" y="3027362"/>
            <a:ext cx="8353425" cy="34778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lt"/>
              </a:rPr>
              <a:t>(2.1) </a:t>
            </a:r>
            <a:r>
              <a:rPr lang="zh-CN" altLang="en-US" sz="2000" dirty="0">
                <a:latin typeface="+mn-lt"/>
              </a:rPr>
              <a:t>第一</a:t>
            </a:r>
            <a:r>
              <a:rPr lang="zh-CN" altLang="en-US" sz="2000" dirty="0" smtClean="0">
                <a:latin typeface="+mn-lt"/>
              </a:rPr>
              <a:t>个结点的</a:t>
            </a:r>
            <a:r>
              <a:rPr lang="zh-CN" altLang="en-US" sz="2000" dirty="0">
                <a:latin typeface="+mn-lt"/>
              </a:rPr>
              <a:t>指针域暂存和修改处理：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lt"/>
              </a:rPr>
              <a:t>	</a:t>
            </a:r>
            <a:r>
              <a:rPr lang="en-US" altLang="zh-CN" sz="2000" dirty="0" err="1">
                <a:latin typeface="+mn-lt"/>
              </a:rPr>
              <a:t>currentPtr</a:t>
            </a:r>
            <a:r>
              <a:rPr lang="en-US" altLang="zh-CN" sz="2000" dirty="0">
                <a:latin typeface="+mn-lt"/>
              </a:rPr>
              <a:t> = </a:t>
            </a:r>
            <a:r>
              <a:rPr lang="en-US" altLang="zh-CN" sz="2000" dirty="0" err="1">
                <a:latin typeface="+mn-lt"/>
              </a:rPr>
              <a:t>firstPtr</a:t>
            </a:r>
            <a:r>
              <a:rPr lang="en-US" altLang="zh-CN" sz="2000" dirty="0">
                <a:latin typeface="+mn-lt"/>
              </a:rPr>
              <a:t>-&gt;</a:t>
            </a:r>
            <a:r>
              <a:rPr lang="en-US" altLang="zh-CN" sz="2000" dirty="0" err="1">
                <a:latin typeface="+mn-lt"/>
              </a:rPr>
              <a:t>nextPtr</a:t>
            </a:r>
            <a:r>
              <a:rPr lang="en-US" altLang="zh-CN" sz="2000" dirty="0">
                <a:latin typeface="+mn-lt"/>
              </a:rPr>
              <a:t>; </a:t>
            </a:r>
            <a:r>
              <a:rPr lang="en-US" altLang="zh-CN" sz="2000" dirty="0" err="1">
                <a:latin typeface="+mn-lt"/>
              </a:rPr>
              <a:t>prevousPtr</a:t>
            </a:r>
            <a:r>
              <a:rPr lang="en-US" altLang="zh-CN" sz="2000" dirty="0">
                <a:latin typeface="+mn-lt"/>
              </a:rPr>
              <a:t> = </a:t>
            </a:r>
            <a:r>
              <a:rPr lang="en-US" altLang="zh-CN" sz="2000" dirty="0" err="1">
                <a:latin typeface="+mn-lt"/>
              </a:rPr>
              <a:t>firstPtr</a:t>
            </a:r>
            <a:r>
              <a:rPr lang="en-US" altLang="zh-CN" sz="2000" dirty="0">
                <a:latin typeface="+mn-lt"/>
              </a:rPr>
              <a:t>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lt"/>
              </a:rPr>
              <a:t>	</a:t>
            </a:r>
            <a:r>
              <a:rPr lang="en-US" altLang="zh-CN" sz="2000" dirty="0" err="1">
                <a:latin typeface="+mn-lt"/>
              </a:rPr>
              <a:t>firstPtr</a:t>
            </a:r>
            <a:r>
              <a:rPr lang="en-US" altLang="zh-CN" sz="2000" dirty="0">
                <a:latin typeface="+mn-lt"/>
              </a:rPr>
              <a:t>-&gt;</a:t>
            </a:r>
            <a:r>
              <a:rPr lang="en-US" altLang="zh-CN" sz="2000" dirty="0" err="1">
                <a:latin typeface="+mn-lt"/>
              </a:rPr>
              <a:t>nextPtr</a:t>
            </a:r>
            <a:r>
              <a:rPr lang="en-US" altLang="zh-CN" sz="2000" dirty="0">
                <a:latin typeface="+mn-lt"/>
              </a:rPr>
              <a:t> = NULL; (</a:t>
            </a:r>
            <a:r>
              <a:rPr lang="zh-CN" altLang="en-US" sz="2000" dirty="0">
                <a:latin typeface="+mn-lt"/>
              </a:rPr>
              <a:t>或者指向</a:t>
            </a:r>
            <a:r>
              <a:rPr lang="zh-CN" altLang="en-US" sz="2000" dirty="0" smtClean="0">
                <a:latin typeface="+mn-lt"/>
              </a:rPr>
              <a:t>空结点</a:t>
            </a:r>
            <a:r>
              <a:rPr lang="en-US" altLang="zh-CN" sz="2000" dirty="0" smtClean="0">
                <a:latin typeface="+mn-lt"/>
              </a:rPr>
              <a:t>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lt"/>
              </a:rPr>
              <a:t>(2.2) </a:t>
            </a:r>
            <a:r>
              <a:rPr lang="zh-CN" altLang="en-US" sz="2000" dirty="0">
                <a:latin typeface="+mn-lt"/>
              </a:rPr>
              <a:t>依次为</a:t>
            </a:r>
            <a:r>
              <a:rPr lang="zh-CN" altLang="en-US" sz="2000" dirty="0" smtClean="0">
                <a:latin typeface="+mn-lt"/>
              </a:rPr>
              <a:t>后续结点修改</a:t>
            </a:r>
            <a:r>
              <a:rPr lang="zh-CN" altLang="en-US" sz="2000" dirty="0">
                <a:latin typeface="+mn-lt"/>
              </a:rPr>
              <a:t>指针域，暂存</a:t>
            </a:r>
            <a:r>
              <a:rPr lang="zh-CN" altLang="en-US" sz="2000" dirty="0" smtClean="0">
                <a:latin typeface="+mn-lt"/>
              </a:rPr>
              <a:t>当前结点</a:t>
            </a:r>
            <a:r>
              <a:rPr lang="en-US" altLang="zh-CN" sz="2000" dirty="0" err="1" smtClean="0">
                <a:latin typeface="+mn-lt"/>
              </a:rPr>
              <a:t>nextPtr</a:t>
            </a:r>
            <a:r>
              <a:rPr lang="zh-CN" altLang="en-US" sz="2000" dirty="0">
                <a:latin typeface="+mn-lt"/>
              </a:rPr>
              <a:t>，然后使其指向</a:t>
            </a:r>
            <a:r>
              <a:rPr lang="zh-CN" altLang="en-US" sz="2000" dirty="0" smtClean="0">
                <a:latin typeface="+mn-lt"/>
              </a:rPr>
              <a:t>前驱结点。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tempPtr</a:t>
            </a:r>
            <a:r>
              <a:rPr lang="en-US" altLang="zh-CN" sz="2000" dirty="0">
                <a:latin typeface="+mn-lt"/>
              </a:rPr>
              <a:t> = </a:t>
            </a:r>
            <a:r>
              <a:rPr lang="en-US" altLang="zh-CN" sz="2000" dirty="0" err="1">
                <a:latin typeface="+mn-lt"/>
              </a:rPr>
              <a:t>currentPtr</a:t>
            </a:r>
            <a:r>
              <a:rPr lang="en-US" altLang="zh-CN" sz="2000" dirty="0">
                <a:latin typeface="+mn-lt"/>
              </a:rPr>
              <a:t>-&gt;</a:t>
            </a:r>
            <a:r>
              <a:rPr lang="en-US" altLang="zh-CN" sz="2000" dirty="0" err="1">
                <a:latin typeface="+mn-lt"/>
              </a:rPr>
              <a:t>nextPtr</a:t>
            </a:r>
            <a:r>
              <a:rPr lang="en-US" altLang="zh-CN" sz="2000" dirty="0">
                <a:latin typeface="+mn-lt"/>
              </a:rPr>
              <a:t>;  </a:t>
            </a:r>
            <a:r>
              <a:rPr lang="en-US" altLang="zh-CN" sz="2000" dirty="0" err="1">
                <a:latin typeface="+mn-lt"/>
              </a:rPr>
              <a:t>currentPtr</a:t>
            </a:r>
            <a:r>
              <a:rPr lang="en-US" altLang="zh-CN" sz="2000" dirty="0">
                <a:latin typeface="+mn-lt"/>
              </a:rPr>
              <a:t>-&gt;</a:t>
            </a:r>
            <a:r>
              <a:rPr lang="en-US" altLang="zh-CN" sz="2000" dirty="0" err="1">
                <a:latin typeface="+mn-lt"/>
              </a:rPr>
              <a:t>nextPtr</a:t>
            </a:r>
            <a:r>
              <a:rPr lang="en-US" altLang="zh-CN" sz="2000" dirty="0">
                <a:latin typeface="+mn-lt"/>
              </a:rPr>
              <a:t>= </a:t>
            </a:r>
            <a:r>
              <a:rPr lang="en-US" altLang="zh-CN" sz="2000" dirty="0" err="1">
                <a:latin typeface="+mn-lt"/>
              </a:rPr>
              <a:t>previousPtr</a:t>
            </a:r>
            <a:r>
              <a:rPr lang="en-US" altLang="zh-CN" sz="2000" dirty="0">
                <a:latin typeface="+mn-lt"/>
              </a:rPr>
              <a:t>;</a:t>
            </a:r>
            <a:endParaRPr lang="zh-CN" altLang="en-US" sz="200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lt"/>
              </a:rPr>
              <a:t>(2.3) </a:t>
            </a:r>
            <a:r>
              <a:rPr lang="zh-CN" altLang="en-US" sz="2000" dirty="0">
                <a:latin typeface="+mn-lt"/>
              </a:rPr>
              <a:t>滑动</a:t>
            </a:r>
            <a:r>
              <a:rPr lang="zh-CN" altLang="en-US" sz="2000" dirty="0" smtClean="0">
                <a:latin typeface="+mn-lt"/>
              </a:rPr>
              <a:t>当前结点指针</a:t>
            </a:r>
            <a:r>
              <a:rPr lang="zh-CN" altLang="en-US" sz="2000" dirty="0">
                <a:latin typeface="+mn-lt"/>
              </a:rPr>
              <a:t>和前驱指针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previousPtr</a:t>
            </a:r>
            <a:r>
              <a:rPr lang="en-US" altLang="zh-CN" sz="2000" dirty="0">
                <a:latin typeface="+mn-lt"/>
              </a:rPr>
              <a:t>  = </a:t>
            </a:r>
            <a:r>
              <a:rPr lang="en-US" altLang="zh-CN" sz="2000" dirty="0" err="1">
                <a:latin typeface="+mn-lt"/>
              </a:rPr>
              <a:t>currentPtr</a:t>
            </a:r>
            <a:r>
              <a:rPr lang="en-US" altLang="zh-CN" sz="2000" dirty="0">
                <a:latin typeface="+mn-lt"/>
              </a:rPr>
              <a:t>;   	</a:t>
            </a:r>
            <a:r>
              <a:rPr lang="en-US" altLang="zh-CN" sz="2000" dirty="0" err="1">
                <a:latin typeface="+mn-lt"/>
              </a:rPr>
              <a:t>currentPtr</a:t>
            </a:r>
            <a:r>
              <a:rPr lang="en-US" altLang="zh-CN" sz="2000" dirty="0">
                <a:latin typeface="+mn-lt"/>
              </a:rPr>
              <a:t> = </a:t>
            </a:r>
            <a:r>
              <a:rPr lang="en-US" altLang="zh-CN" sz="2000" dirty="0" err="1">
                <a:latin typeface="+mn-lt"/>
              </a:rPr>
              <a:t>tempPtr</a:t>
            </a:r>
            <a:r>
              <a:rPr lang="en-US" altLang="zh-CN" sz="2000" dirty="0">
                <a:latin typeface="+mn-lt"/>
              </a:rPr>
              <a:t>;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3332E6BE-3475-47D5-A132-77C27CB9D42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F6B398DA-5CEF-4F60-9E6D-DCF9FEA78B82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FAB89BD-7E06-462C-84B0-F5246F55B6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链表逆序</a:t>
            </a:r>
            <a:endParaRPr lang="en-US" altLang="zh-CN" b="1" dirty="0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AF40157-BAA2-4503-AD97-AB6D34B93F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4264" y="1125538"/>
            <a:ext cx="8424936" cy="4918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reverseList</a:t>
            </a:r>
            <a:r>
              <a:rPr lang="en-US" altLang="zh-CN" sz="2400" dirty="0"/>
              <a:t>(LISTNODEPTR </a:t>
            </a:r>
            <a:r>
              <a:rPr lang="en-US" altLang="zh-CN" sz="2400" dirty="0" err="1"/>
              <a:t>headPtr</a:t>
            </a:r>
            <a:r>
              <a:rPr lang="en-US" altLang="zh-CN" sz="2400" dirty="0"/>
              <a:t>, LISTNODEPTR * </a:t>
            </a:r>
            <a:r>
              <a:rPr lang="en-US" altLang="zh-CN" sz="2400" dirty="0" err="1"/>
              <a:t>lastPtrPtr</a:t>
            </a:r>
            <a:r>
              <a:rPr lang="en-US" altLang="zh-CN" sz="2400" dirty="0"/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	LISTNODEPTR </a:t>
            </a:r>
            <a:r>
              <a:rPr lang="en-US" altLang="zh-CN" sz="2400" dirty="0" err="1"/>
              <a:t>firstPtr,previousPtr,currentPtr,tempPtr</a:t>
            </a:r>
            <a:r>
              <a:rPr lang="en-US" altLang="zh-CN" sz="2400" dirty="0"/>
              <a:t>;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/</a:t>
            </a:r>
            <a:r>
              <a:rPr lang="zh-CN" altLang="en-US" sz="2400" dirty="0"/>
              <a:t>*若是空链表，不用逆序*</a:t>
            </a:r>
            <a:r>
              <a:rPr lang="en-US" altLang="zh-CN" sz="24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	if(</a:t>
            </a:r>
            <a:r>
              <a:rPr lang="en-US" altLang="zh-CN" sz="2400" dirty="0" err="1"/>
              <a:t>headPtr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 == NULL) </a:t>
            </a:r>
            <a:r>
              <a:rPr lang="zh-CN" altLang="en-US" sz="2400" dirty="0"/>
              <a:t> </a:t>
            </a:r>
            <a:r>
              <a:rPr lang="en-US" altLang="zh-CN" sz="2400" dirty="0"/>
              <a:t>	return 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/*</a:t>
            </a:r>
            <a:r>
              <a:rPr lang="zh-CN" altLang="en-US" sz="2400" dirty="0" smtClean="0"/>
              <a:t>空结点处理</a:t>
            </a:r>
            <a:r>
              <a:rPr lang="en-US" altLang="zh-CN" sz="2400" dirty="0"/>
              <a:t>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firstPtr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headPtr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headPtr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 = *</a:t>
            </a:r>
            <a:r>
              <a:rPr lang="en-US" altLang="zh-CN" sz="2400" dirty="0" err="1"/>
              <a:t>lastPtrPtr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	/*</a:t>
            </a:r>
            <a:r>
              <a:rPr lang="zh-CN" altLang="en-US" sz="2400" dirty="0"/>
              <a:t>第一个</a:t>
            </a:r>
            <a:r>
              <a:rPr lang="zh-CN" altLang="en-US" sz="2400" dirty="0" smtClean="0"/>
              <a:t>数据结点处理 </a:t>
            </a:r>
            <a:r>
              <a:rPr lang="en-US" altLang="zh-CN" sz="2400" dirty="0"/>
              <a:t>*/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firstPtr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; 	</a:t>
            </a:r>
            <a:r>
              <a:rPr lang="en-US" altLang="zh-CN" sz="2400" dirty="0" err="1"/>
              <a:t>previousPtr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firstPtr</a:t>
            </a:r>
            <a:r>
              <a:rPr lang="en-US" altLang="zh-CN" sz="2400" dirty="0"/>
              <a:t>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firstPtr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=NULL;  //</a:t>
            </a:r>
            <a:r>
              <a:rPr lang="zh-CN" altLang="en-US" sz="2400" dirty="0"/>
              <a:t>很重要，反向后的链表结束标记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3332E6BE-3475-47D5-A132-77C27CB9D42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F6B398DA-5CEF-4F60-9E6D-DCF9FEA78B82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FAB89BD-7E06-462C-84B0-F5246F55B6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链表逆序</a:t>
            </a:r>
            <a:endParaRPr lang="en-US" altLang="zh-CN" b="1" dirty="0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AF40157-BAA2-4503-AD97-AB6D34B93F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4264" y="1340768"/>
            <a:ext cx="8424936" cy="470284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/*</a:t>
            </a:r>
            <a:r>
              <a:rPr lang="zh-CN" altLang="en-US" sz="2400" dirty="0"/>
              <a:t>循环处理后续</a:t>
            </a:r>
            <a:r>
              <a:rPr lang="zh-CN" altLang="en-US" sz="2400" dirty="0" smtClean="0"/>
              <a:t>所有结点</a:t>
            </a:r>
            <a:r>
              <a:rPr lang="en-US" altLang="zh-CN" sz="2400" dirty="0" smtClean="0"/>
              <a:t>*/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while ( 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 != NULL 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	   </a:t>
            </a:r>
            <a:r>
              <a:rPr lang="en-US" altLang="zh-CN" sz="2400" dirty="0" err="1"/>
              <a:t>tempPtr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	   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-&gt;</a:t>
            </a:r>
            <a:r>
              <a:rPr lang="en-US" altLang="zh-CN" sz="2400" dirty="0" err="1"/>
              <a:t>nextPtr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previousPtr</a:t>
            </a:r>
            <a:r>
              <a:rPr lang="en-US" altLang="zh-CN" sz="2400" dirty="0"/>
              <a:t>;/*</a:t>
            </a:r>
            <a:r>
              <a:rPr lang="zh-CN" altLang="en-US" sz="2400" dirty="0"/>
              <a:t>反向连接*</a:t>
            </a:r>
            <a:r>
              <a:rPr lang="en-US" altLang="zh-CN" sz="24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	   </a:t>
            </a:r>
            <a:r>
              <a:rPr lang="en-US" altLang="zh-CN" sz="2400" dirty="0" err="1"/>
              <a:t>previousPtr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;/*</a:t>
            </a:r>
            <a:r>
              <a:rPr lang="zh-CN" altLang="en-US" sz="2400" dirty="0"/>
              <a:t>下次循环准备工作*</a:t>
            </a:r>
            <a:r>
              <a:rPr lang="en-US" altLang="zh-CN" sz="24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	   </a:t>
            </a:r>
            <a:r>
              <a:rPr lang="en-US" altLang="zh-CN" sz="2400" dirty="0" err="1"/>
              <a:t>currentPtr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tempPtr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}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    *</a:t>
            </a:r>
            <a:r>
              <a:rPr lang="en-US" altLang="zh-CN" sz="2400" dirty="0" err="1"/>
              <a:t>lastPtrPtr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firstPtr</a:t>
            </a:r>
            <a:r>
              <a:rPr lang="en-US" altLang="zh-CN" sz="2400" dirty="0"/>
              <a:t>; /*</a:t>
            </a:r>
            <a:r>
              <a:rPr lang="zh-CN" altLang="en-US" sz="2400" dirty="0"/>
              <a:t>返回更新后的尾指针*</a:t>
            </a:r>
            <a:r>
              <a:rPr lang="en-US" altLang="zh-CN" sz="2400" dirty="0"/>
              <a:t>/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322943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6C661BDE-2929-48CD-B513-802680B9CB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C90E1491-F601-424D-A6CC-48BF6EBEC34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39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39A1E31-BCB8-4861-AB2C-6D59C10CC5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200" b="1" dirty="0"/>
              <a:t>/</a:t>
            </a:r>
            <a:r>
              <a:rPr lang="zh-CN" altLang="en-US" sz="3200" b="1" dirty="0"/>
              <a:t>*有序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升序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链表的归并*</a:t>
            </a:r>
            <a:r>
              <a:rPr lang="en-US" altLang="zh-CN" sz="3200" b="1" dirty="0"/>
              <a:t>/</a:t>
            </a:r>
            <a:endParaRPr lang="zh-CN" altLang="en-US" sz="3200" b="1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pSp>
        <p:nvGrpSpPr>
          <p:cNvPr id="36868" name="Group 103">
            <a:extLst>
              <a:ext uri="{FF2B5EF4-FFF2-40B4-BE49-F238E27FC236}">
                <a16:creationId xmlns:a16="http://schemas.microsoft.com/office/drawing/2014/main" id="{DA0A34D3-1088-4A17-875D-4FC64FD07107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844675"/>
            <a:ext cx="5526087" cy="1546225"/>
            <a:chOff x="0" y="0"/>
            <a:chExt cx="3481" cy="974"/>
          </a:xfrm>
        </p:grpSpPr>
        <p:grpSp>
          <p:nvGrpSpPr>
            <p:cNvPr id="36932" name="Group 4">
              <a:extLst>
                <a:ext uri="{FF2B5EF4-FFF2-40B4-BE49-F238E27FC236}">
                  <a16:creationId xmlns:a16="http://schemas.microsoft.com/office/drawing/2014/main" id="{D46DEAFA-2A48-43F1-B123-6490E8309A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" y="680"/>
              <a:ext cx="624" cy="294"/>
              <a:chOff x="0" y="0"/>
              <a:chExt cx="624" cy="294"/>
            </a:xfrm>
          </p:grpSpPr>
          <p:sp>
            <p:nvSpPr>
              <p:cNvPr id="36951" name="Text Box 5">
                <a:extLst>
                  <a:ext uri="{FF2B5EF4-FFF2-40B4-BE49-F238E27FC236}">
                    <a16:creationId xmlns:a16="http://schemas.microsoft.com/office/drawing/2014/main" id="{A37C1615-FECB-487A-8CFA-27F433152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3     </a:t>
                </a:r>
              </a:p>
            </p:txBody>
          </p:sp>
          <p:sp>
            <p:nvSpPr>
              <p:cNvPr id="36952" name="Line 6">
                <a:extLst>
                  <a:ext uri="{FF2B5EF4-FFF2-40B4-BE49-F238E27FC236}">
                    <a16:creationId xmlns:a16="http://schemas.microsoft.com/office/drawing/2014/main" id="{5D9C0683-5D68-4CAD-9650-C0EF147F9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933" name="Group 7">
              <a:extLst>
                <a:ext uri="{FF2B5EF4-FFF2-40B4-BE49-F238E27FC236}">
                  <a16:creationId xmlns:a16="http://schemas.microsoft.com/office/drawing/2014/main" id="{A60C3AA7-C48A-4384-9168-E4DABF8B28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" y="680"/>
              <a:ext cx="624" cy="294"/>
              <a:chOff x="0" y="0"/>
              <a:chExt cx="624" cy="294"/>
            </a:xfrm>
          </p:grpSpPr>
          <p:sp>
            <p:nvSpPr>
              <p:cNvPr id="36949" name="Text Box 8">
                <a:extLst>
                  <a:ext uri="{FF2B5EF4-FFF2-40B4-BE49-F238E27FC236}">
                    <a16:creationId xmlns:a16="http://schemas.microsoft.com/office/drawing/2014/main" id="{5A87623E-570C-416A-BCCB-0EF06C6DD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8  </a:t>
                </a:r>
              </a:p>
            </p:txBody>
          </p:sp>
          <p:sp>
            <p:nvSpPr>
              <p:cNvPr id="36950" name="Line 9">
                <a:extLst>
                  <a:ext uri="{FF2B5EF4-FFF2-40B4-BE49-F238E27FC236}">
                    <a16:creationId xmlns:a16="http://schemas.microsoft.com/office/drawing/2014/main" id="{1A558008-33AB-4EF1-9CF8-362806905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934" name="Group 10">
              <a:extLst>
                <a:ext uri="{FF2B5EF4-FFF2-40B4-BE49-F238E27FC236}">
                  <a16:creationId xmlns:a16="http://schemas.microsoft.com/office/drawing/2014/main" id="{AF257067-79D1-4E66-9F86-998182539C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680"/>
              <a:ext cx="624" cy="294"/>
              <a:chOff x="0" y="0"/>
              <a:chExt cx="624" cy="294"/>
            </a:xfrm>
          </p:grpSpPr>
          <p:sp>
            <p:nvSpPr>
              <p:cNvPr id="36947" name="Text Box 11">
                <a:extLst>
                  <a:ext uri="{FF2B5EF4-FFF2-40B4-BE49-F238E27FC236}">
                    <a16:creationId xmlns:a16="http://schemas.microsoft.com/office/drawing/2014/main" id="{DB73F7C8-4493-4E8D-B7D1-F2381326AD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47  </a:t>
                </a:r>
              </a:p>
            </p:txBody>
          </p:sp>
          <p:sp>
            <p:nvSpPr>
              <p:cNvPr id="36948" name="Line 12">
                <a:extLst>
                  <a:ext uri="{FF2B5EF4-FFF2-40B4-BE49-F238E27FC236}">
                    <a16:creationId xmlns:a16="http://schemas.microsoft.com/office/drawing/2014/main" id="{B449A8C0-2DC6-4C32-8BD1-DD4E96BD9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935" name="Group 13">
              <a:extLst>
                <a:ext uri="{FF2B5EF4-FFF2-40B4-BE49-F238E27FC236}">
                  <a16:creationId xmlns:a16="http://schemas.microsoft.com/office/drawing/2014/main" id="{CE53D377-8983-4C2C-A24F-1C5327CEAD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5" y="803"/>
              <a:ext cx="528" cy="48"/>
              <a:chOff x="0" y="0"/>
              <a:chExt cx="528" cy="48"/>
            </a:xfrm>
          </p:grpSpPr>
          <p:sp>
            <p:nvSpPr>
              <p:cNvPr id="36945" name="Line 14">
                <a:extLst>
                  <a:ext uri="{FF2B5EF4-FFF2-40B4-BE49-F238E27FC236}">
                    <a16:creationId xmlns:a16="http://schemas.microsoft.com/office/drawing/2014/main" id="{EC8BBA92-A56E-430D-908E-AB727CDC0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6" name="Oval 15">
                <a:extLst>
                  <a:ext uri="{FF2B5EF4-FFF2-40B4-BE49-F238E27FC236}">
                    <a16:creationId xmlns:a16="http://schemas.microsoft.com/office/drawing/2014/main" id="{F5D23363-5EAC-401B-961E-DACB8BD94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36" name="Group 16">
              <a:extLst>
                <a:ext uri="{FF2B5EF4-FFF2-40B4-BE49-F238E27FC236}">
                  <a16:creationId xmlns:a16="http://schemas.microsoft.com/office/drawing/2014/main" id="{4FDE65E5-1EF6-450D-A510-45D60AEA0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3" y="806"/>
              <a:ext cx="528" cy="48"/>
              <a:chOff x="0" y="0"/>
              <a:chExt cx="528" cy="48"/>
            </a:xfrm>
          </p:grpSpPr>
          <p:sp>
            <p:nvSpPr>
              <p:cNvPr id="36943" name="Line 17">
                <a:extLst>
                  <a:ext uri="{FF2B5EF4-FFF2-40B4-BE49-F238E27FC236}">
                    <a16:creationId xmlns:a16="http://schemas.microsoft.com/office/drawing/2014/main" id="{C2325729-BD68-4A06-9E1A-00F7BE468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4" name="Oval 18">
                <a:extLst>
                  <a:ext uri="{FF2B5EF4-FFF2-40B4-BE49-F238E27FC236}">
                    <a16:creationId xmlns:a16="http://schemas.microsoft.com/office/drawing/2014/main" id="{EF98302D-EFA3-4E00-AA26-F91EB85AA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937" name="Text Box 20">
              <a:extLst>
                <a:ext uri="{FF2B5EF4-FFF2-40B4-BE49-F238E27FC236}">
                  <a16:creationId xmlns:a16="http://schemas.microsoft.com/office/drawing/2014/main" id="{F5EE7188-7213-4A35-83CB-CE1692A04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" y="272"/>
              <a:ext cx="336" cy="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6938" name="Text Box 21">
              <a:extLst>
                <a:ext uri="{FF2B5EF4-FFF2-40B4-BE49-F238E27FC236}">
                  <a16:creationId xmlns:a16="http://schemas.microsoft.com/office/drawing/2014/main" id="{00DF01F2-BC44-4496-A688-1B1D8A540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0">
                  <a:latin typeface="Times New Roman" panose="02020603050405020304" pitchFamily="18" charset="0"/>
                </a:rPr>
                <a:t>headPtr1</a:t>
              </a:r>
            </a:p>
          </p:txBody>
        </p:sp>
        <p:sp>
          <p:nvSpPr>
            <p:cNvPr id="36939" name="Oval 23">
              <a:extLst>
                <a:ext uri="{FF2B5EF4-FFF2-40B4-BE49-F238E27FC236}">
                  <a16:creationId xmlns:a16="http://schemas.microsoft.com/office/drawing/2014/main" id="{F2761440-7CBD-4A3D-B042-EA3B33F91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431"/>
              <a:ext cx="48" cy="5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6940" name="Line 46">
              <a:extLst>
                <a:ext uri="{FF2B5EF4-FFF2-40B4-BE49-F238E27FC236}">
                  <a16:creationId xmlns:a16="http://schemas.microsoft.com/office/drawing/2014/main" id="{26EAB701-DB66-43FA-B800-C0C7E67B7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45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1" name="Line 47">
              <a:extLst>
                <a:ext uri="{FF2B5EF4-FFF2-40B4-BE49-F238E27FC236}">
                  <a16:creationId xmlns:a16="http://schemas.microsoft.com/office/drawing/2014/main" id="{AB91A924-6FAB-4563-8EF5-28315460A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" y="81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2" name="Line 68">
              <a:extLst>
                <a:ext uri="{FF2B5EF4-FFF2-40B4-BE49-F238E27FC236}">
                  <a16:creationId xmlns:a16="http://schemas.microsoft.com/office/drawing/2014/main" id="{A04868F2-73D1-475B-859A-29A29605D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68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69" name="Group 69">
            <a:extLst>
              <a:ext uri="{FF2B5EF4-FFF2-40B4-BE49-F238E27FC236}">
                <a16:creationId xmlns:a16="http://schemas.microsoft.com/office/drawing/2014/main" id="{A1C5B319-FA05-47B7-AB51-7E4086D59E68}"/>
              </a:ext>
            </a:extLst>
          </p:cNvPr>
          <p:cNvGrpSpPr>
            <a:grpSpLocks/>
          </p:cNvGrpSpPr>
          <p:nvPr/>
        </p:nvGrpSpPr>
        <p:grpSpPr bwMode="auto">
          <a:xfrm>
            <a:off x="1720850" y="5915025"/>
            <a:ext cx="990600" cy="466725"/>
            <a:chOff x="0" y="0"/>
            <a:chExt cx="624" cy="294"/>
          </a:xfrm>
        </p:grpSpPr>
        <p:sp>
          <p:nvSpPr>
            <p:cNvPr id="36930" name="Text Box 70">
              <a:extLst>
                <a:ext uri="{FF2B5EF4-FFF2-40B4-BE49-F238E27FC236}">
                  <a16:creationId xmlns:a16="http://schemas.microsoft.com/office/drawing/2014/main" id="{61A2315E-5C5D-46F5-A5A0-6EC1408C7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3     </a:t>
              </a:r>
            </a:p>
          </p:txBody>
        </p:sp>
        <p:sp>
          <p:nvSpPr>
            <p:cNvPr id="36931" name="Line 71">
              <a:extLst>
                <a:ext uri="{FF2B5EF4-FFF2-40B4-BE49-F238E27FC236}">
                  <a16:creationId xmlns:a16="http://schemas.microsoft.com/office/drawing/2014/main" id="{CC229EBB-EEA8-45F7-A824-17DA43DE8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70" name="Group 72">
            <a:extLst>
              <a:ext uri="{FF2B5EF4-FFF2-40B4-BE49-F238E27FC236}">
                <a16:creationId xmlns:a16="http://schemas.microsoft.com/office/drawing/2014/main" id="{C3BCCA1F-9E65-4E28-855B-3E7AF4DB625F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5915025"/>
            <a:ext cx="990600" cy="466725"/>
            <a:chOff x="0" y="0"/>
            <a:chExt cx="624" cy="294"/>
          </a:xfrm>
        </p:grpSpPr>
        <p:sp>
          <p:nvSpPr>
            <p:cNvPr id="36928" name="Text Box 73">
              <a:extLst>
                <a:ext uri="{FF2B5EF4-FFF2-40B4-BE49-F238E27FC236}">
                  <a16:creationId xmlns:a16="http://schemas.microsoft.com/office/drawing/2014/main" id="{921D8917-2A40-496A-94C1-CC9D851B9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5  </a:t>
              </a:r>
            </a:p>
          </p:txBody>
        </p:sp>
        <p:sp>
          <p:nvSpPr>
            <p:cNvPr id="36929" name="Line 74">
              <a:extLst>
                <a:ext uri="{FF2B5EF4-FFF2-40B4-BE49-F238E27FC236}">
                  <a16:creationId xmlns:a16="http://schemas.microsoft.com/office/drawing/2014/main" id="{2A6115CA-BAB3-443E-8782-B184E158A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71" name="Group 78">
            <a:extLst>
              <a:ext uri="{FF2B5EF4-FFF2-40B4-BE49-F238E27FC236}">
                <a16:creationId xmlns:a16="http://schemas.microsoft.com/office/drawing/2014/main" id="{E0552732-AF4D-42EC-AEF3-5497F9958DF6}"/>
              </a:ext>
            </a:extLst>
          </p:cNvPr>
          <p:cNvGrpSpPr>
            <a:grpSpLocks/>
          </p:cNvGrpSpPr>
          <p:nvPr/>
        </p:nvGrpSpPr>
        <p:grpSpPr bwMode="auto">
          <a:xfrm>
            <a:off x="2482850" y="6110288"/>
            <a:ext cx="433388" cy="69850"/>
            <a:chOff x="0" y="0"/>
            <a:chExt cx="528" cy="48"/>
          </a:xfrm>
        </p:grpSpPr>
        <p:sp>
          <p:nvSpPr>
            <p:cNvPr id="36926" name="Line 79">
              <a:extLst>
                <a:ext uri="{FF2B5EF4-FFF2-40B4-BE49-F238E27FC236}">
                  <a16:creationId xmlns:a16="http://schemas.microsoft.com/office/drawing/2014/main" id="{153DAC3A-F2E6-41B9-81AC-314126F15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7" name="Oval 80">
              <a:extLst>
                <a:ext uri="{FF2B5EF4-FFF2-40B4-BE49-F238E27FC236}">
                  <a16:creationId xmlns:a16="http://schemas.microsoft.com/office/drawing/2014/main" id="{1E075DCA-C89B-4045-AD8B-1899C2523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872" name="Group 81">
            <a:extLst>
              <a:ext uri="{FF2B5EF4-FFF2-40B4-BE49-F238E27FC236}">
                <a16:creationId xmlns:a16="http://schemas.microsoft.com/office/drawing/2014/main" id="{165E0FB4-EE04-4579-9180-3928B603DFB7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6115050"/>
            <a:ext cx="488950" cy="69850"/>
            <a:chOff x="0" y="0"/>
            <a:chExt cx="528" cy="48"/>
          </a:xfrm>
        </p:grpSpPr>
        <p:sp>
          <p:nvSpPr>
            <p:cNvPr id="36924" name="Line 82">
              <a:extLst>
                <a:ext uri="{FF2B5EF4-FFF2-40B4-BE49-F238E27FC236}">
                  <a16:creationId xmlns:a16="http://schemas.microsoft.com/office/drawing/2014/main" id="{68259A3C-9E6D-4877-B28B-C5958670C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5" name="Oval 83">
              <a:extLst>
                <a:ext uri="{FF2B5EF4-FFF2-40B4-BE49-F238E27FC236}">
                  <a16:creationId xmlns:a16="http://schemas.microsoft.com/office/drawing/2014/main" id="{19C702C3-C33F-4347-9C20-238DBF9B5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6873" name="Text Box 84">
            <a:extLst>
              <a:ext uri="{FF2B5EF4-FFF2-40B4-BE49-F238E27FC236}">
                <a16:creationId xmlns:a16="http://schemas.microsoft.com/office/drawing/2014/main" id="{BDC6C47F-1F13-4F67-BB8D-8455A32FD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267325"/>
            <a:ext cx="533400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36874" name="Oval 85">
            <a:extLst>
              <a:ext uri="{FF2B5EF4-FFF2-40B4-BE49-F238E27FC236}">
                <a16:creationId xmlns:a16="http://schemas.microsoft.com/office/drawing/2014/main" id="{1513EE4F-692B-4331-9E95-615D8FC14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519738"/>
            <a:ext cx="76200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36875" name="Line 86">
            <a:extLst>
              <a:ext uri="{FF2B5EF4-FFF2-40B4-BE49-F238E27FC236}">
                <a16:creationId xmlns:a16="http://schemas.microsoft.com/office/drawing/2014/main" id="{4CFB41AD-FF23-4E88-BA80-4A4E925F8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588" y="55546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Line 87">
            <a:extLst>
              <a:ext uri="{FF2B5EF4-FFF2-40B4-BE49-F238E27FC236}">
                <a16:creationId xmlns:a16="http://schemas.microsoft.com/office/drawing/2014/main" id="{9FE42F38-7617-423F-8EE3-4CE5E9356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2988" y="61309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6877" name="Group 90">
            <a:extLst>
              <a:ext uri="{FF2B5EF4-FFF2-40B4-BE49-F238E27FC236}">
                <a16:creationId xmlns:a16="http://schemas.microsoft.com/office/drawing/2014/main" id="{6D35818F-FE87-4DA3-9BD0-769FE400F7D4}"/>
              </a:ext>
            </a:extLst>
          </p:cNvPr>
          <p:cNvGrpSpPr>
            <a:grpSpLocks/>
          </p:cNvGrpSpPr>
          <p:nvPr/>
        </p:nvGrpSpPr>
        <p:grpSpPr bwMode="auto">
          <a:xfrm>
            <a:off x="8101013" y="5876925"/>
            <a:ext cx="990600" cy="466725"/>
            <a:chOff x="0" y="0"/>
            <a:chExt cx="624" cy="294"/>
          </a:xfrm>
        </p:grpSpPr>
        <p:grpSp>
          <p:nvGrpSpPr>
            <p:cNvPr id="36920" name="Group 75">
              <a:extLst>
                <a:ext uri="{FF2B5EF4-FFF2-40B4-BE49-F238E27FC236}">
                  <a16:creationId xmlns:a16="http://schemas.microsoft.com/office/drawing/2014/main" id="{DDF01A72-BF01-4C23-9920-8934AB99BF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294"/>
              <a:chOff x="0" y="0"/>
              <a:chExt cx="624" cy="294"/>
            </a:xfrm>
          </p:grpSpPr>
          <p:sp>
            <p:nvSpPr>
              <p:cNvPr id="36922" name="Text Box 76">
                <a:extLst>
                  <a:ext uri="{FF2B5EF4-FFF2-40B4-BE49-F238E27FC236}">
                    <a16:creationId xmlns:a16="http://schemas.microsoft.com/office/drawing/2014/main" id="{A820C8D1-8A99-422A-8A23-277BD27D80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60  </a:t>
                </a:r>
              </a:p>
            </p:txBody>
          </p:sp>
          <p:sp>
            <p:nvSpPr>
              <p:cNvPr id="36923" name="Line 77">
                <a:extLst>
                  <a:ext uri="{FF2B5EF4-FFF2-40B4-BE49-F238E27FC236}">
                    <a16:creationId xmlns:a16="http://schemas.microsoft.com/office/drawing/2014/main" id="{F0BB4C74-9FF1-49D2-98AD-64587F7E2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921" name="Line 88">
              <a:extLst>
                <a:ext uri="{FF2B5EF4-FFF2-40B4-BE49-F238E27FC236}">
                  <a16:creationId xmlns:a16="http://schemas.microsoft.com/office/drawing/2014/main" id="{2FB3FE6F-9E1B-4B15-B778-CB8239430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" y="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78" name="Text Box 89">
            <a:extLst>
              <a:ext uri="{FF2B5EF4-FFF2-40B4-BE49-F238E27FC236}">
                <a16:creationId xmlns:a16="http://schemas.microsoft.com/office/drawing/2014/main" id="{A7D7D8B6-8ECA-4926-BBA1-95811E3A0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802188"/>
            <a:ext cx="1219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00" b="0">
                <a:latin typeface="Times New Roman" panose="02020603050405020304" pitchFamily="18" charset="0"/>
              </a:rPr>
              <a:t>headPtr1</a:t>
            </a:r>
          </a:p>
        </p:txBody>
      </p:sp>
      <p:grpSp>
        <p:nvGrpSpPr>
          <p:cNvPr id="36879" name="Group 91">
            <a:extLst>
              <a:ext uri="{FF2B5EF4-FFF2-40B4-BE49-F238E27FC236}">
                <a16:creationId xmlns:a16="http://schemas.microsoft.com/office/drawing/2014/main" id="{2B197FA2-4E03-4D5B-A08C-BA6EFEAEEF18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876925"/>
            <a:ext cx="990600" cy="466725"/>
            <a:chOff x="0" y="0"/>
            <a:chExt cx="624" cy="294"/>
          </a:xfrm>
        </p:grpSpPr>
        <p:sp>
          <p:nvSpPr>
            <p:cNvPr id="36918" name="Text Box 92">
              <a:extLst>
                <a:ext uri="{FF2B5EF4-FFF2-40B4-BE49-F238E27FC236}">
                  <a16:creationId xmlns:a16="http://schemas.microsoft.com/office/drawing/2014/main" id="{A3C06B29-22E3-4CE5-861C-48C025E8F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7 </a:t>
              </a:r>
            </a:p>
          </p:txBody>
        </p:sp>
        <p:sp>
          <p:nvSpPr>
            <p:cNvPr id="36919" name="Line 93">
              <a:extLst>
                <a:ext uri="{FF2B5EF4-FFF2-40B4-BE49-F238E27FC236}">
                  <a16:creationId xmlns:a16="http://schemas.microsoft.com/office/drawing/2014/main" id="{E1D2C7C1-D2E3-450A-B28C-F5668B90C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80" name="Group 94">
            <a:extLst>
              <a:ext uri="{FF2B5EF4-FFF2-40B4-BE49-F238E27FC236}">
                <a16:creationId xmlns:a16="http://schemas.microsoft.com/office/drawing/2014/main" id="{F0B077E2-8C4E-4614-9552-6D16371D631F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5876925"/>
            <a:ext cx="990600" cy="466725"/>
            <a:chOff x="0" y="0"/>
            <a:chExt cx="624" cy="294"/>
          </a:xfrm>
        </p:grpSpPr>
        <p:sp>
          <p:nvSpPr>
            <p:cNvPr id="36916" name="Text Box 95">
              <a:extLst>
                <a:ext uri="{FF2B5EF4-FFF2-40B4-BE49-F238E27FC236}">
                  <a16:creationId xmlns:a16="http://schemas.microsoft.com/office/drawing/2014/main" id="{6486DDEF-1E08-448A-B2BE-75B230B98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8  </a:t>
              </a:r>
            </a:p>
          </p:txBody>
        </p:sp>
        <p:sp>
          <p:nvSpPr>
            <p:cNvPr id="36917" name="Line 96">
              <a:extLst>
                <a:ext uri="{FF2B5EF4-FFF2-40B4-BE49-F238E27FC236}">
                  <a16:creationId xmlns:a16="http://schemas.microsoft.com/office/drawing/2014/main" id="{B792235C-3471-456A-A47A-36E9296ED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81" name="Group 97">
            <a:extLst>
              <a:ext uri="{FF2B5EF4-FFF2-40B4-BE49-F238E27FC236}">
                <a16:creationId xmlns:a16="http://schemas.microsoft.com/office/drawing/2014/main" id="{9B80B105-CD26-43BD-9238-0D801CEEBFA7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6110288"/>
            <a:ext cx="503238" cy="69850"/>
            <a:chOff x="0" y="0"/>
            <a:chExt cx="528" cy="48"/>
          </a:xfrm>
        </p:grpSpPr>
        <p:sp>
          <p:nvSpPr>
            <p:cNvPr id="36914" name="Line 98">
              <a:extLst>
                <a:ext uri="{FF2B5EF4-FFF2-40B4-BE49-F238E27FC236}">
                  <a16:creationId xmlns:a16="http://schemas.microsoft.com/office/drawing/2014/main" id="{07925943-E670-4B87-A9E2-23FCF43EB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Oval 99">
              <a:extLst>
                <a:ext uri="{FF2B5EF4-FFF2-40B4-BE49-F238E27FC236}">
                  <a16:creationId xmlns:a16="http://schemas.microsoft.com/office/drawing/2014/main" id="{1322716F-76D8-4AA8-AEFC-2D63738E1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882" name="Group 100">
            <a:extLst>
              <a:ext uri="{FF2B5EF4-FFF2-40B4-BE49-F238E27FC236}">
                <a16:creationId xmlns:a16="http://schemas.microsoft.com/office/drawing/2014/main" id="{0D56BCE9-A643-4D1E-ACEA-D92768C779D2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6115050"/>
            <a:ext cx="487362" cy="76200"/>
            <a:chOff x="0" y="0"/>
            <a:chExt cx="528" cy="48"/>
          </a:xfrm>
        </p:grpSpPr>
        <p:sp>
          <p:nvSpPr>
            <p:cNvPr id="36912" name="Line 101">
              <a:extLst>
                <a:ext uri="{FF2B5EF4-FFF2-40B4-BE49-F238E27FC236}">
                  <a16:creationId xmlns:a16="http://schemas.microsoft.com/office/drawing/2014/main" id="{1CB1AC89-809B-4831-8D81-085623173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3" name="Oval 102">
              <a:extLst>
                <a:ext uri="{FF2B5EF4-FFF2-40B4-BE49-F238E27FC236}">
                  <a16:creationId xmlns:a16="http://schemas.microsoft.com/office/drawing/2014/main" id="{34D879BD-A0BC-4187-BF39-8E4129DB7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6883" name="Text Box 105">
            <a:extLst>
              <a:ext uri="{FF2B5EF4-FFF2-40B4-BE49-F238E27FC236}">
                <a16:creationId xmlns:a16="http://schemas.microsoft.com/office/drawing/2014/main" id="{368BED36-E0AC-4B7A-94B4-093AF20C1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084763"/>
            <a:ext cx="4464050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归并后的链表</a:t>
            </a:r>
          </a:p>
        </p:txBody>
      </p:sp>
      <p:grpSp>
        <p:nvGrpSpPr>
          <p:cNvPr id="36884" name="Group 118">
            <a:extLst>
              <a:ext uri="{FF2B5EF4-FFF2-40B4-BE49-F238E27FC236}">
                <a16:creationId xmlns:a16="http://schemas.microsoft.com/office/drawing/2014/main" id="{7597C160-5078-420B-8EF9-3B818B477D4D}"/>
              </a:ext>
            </a:extLst>
          </p:cNvPr>
          <p:cNvGrpSpPr>
            <a:grpSpLocks/>
          </p:cNvGrpSpPr>
          <p:nvPr/>
        </p:nvGrpSpPr>
        <p:grpSpPr bwMode="auto">
          <a:xfrm>
            <a:off x="1303338" y="3357563"/>
            <a:ext cx="5573712" cy="1546225"/>
            <a:chOff x="0" y="0"/>
            <a:chExt cx="3511" cy="974"/>
          </a:xfrm>
        </p:grpSpPr>
        <p:sp>
          <p:nvSpPr>
            <p:cNvPr id="36891" name="Line 25">
              <a:extLst>
                <a:ext uri="{FF2B5EF4-FFF2-40B4-BE49-F238E27FC236}">
                  <a16:creationId xmlns:a16="http://schemas.microsoft.com/office/drawing/2014/main" id="{87C12169-D7A6-4272-9177-253FC6C3A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3" y="712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892" name="Group 48">
              <a:extLst>
                <a:ext uri="{FF2B5EF4-FFF2-40B4-BE49-F238E27FC236}">
                  <a16:creationId xmlns:a16="http://schemas.microsoft.com/office/drawing/2014/main" id="{CE4F402B-0C6C-4885-BD29-5134A1937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" y="680"/>
              <a:ext cx="624" cy="294"/>
              <a:chOff x="0" y="0"/>
              <a:chExt cx="624" cy="294"/>
            </a:xfrm>
          </p:grpSpPr>
          <p:sp>
            <p:nvSpPr>
              <p:cNvPr id="36910" name="Text Box 49">
                <a:extLst>
                  <a:ext uri="{FF2B5EF4-FFF2-40B4-BE49-F238E27FC236}">
                    <a16:creationId xmlns:a16="http://schemas.microsoft.com/office/drawing/2014/main" id="{24C2B552-C7FC-4239-8B4E-9A9E8071F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5     </a:t>
                </a:r>
              </a:p>
            </p:txBody>
          </p:sp>
          <p:sp>
            <p:nvSpPr>
              <p:cNvPr id="36911" name="Line 50">
                <a:extLst>
                  <a:ext uri="{FF2B5EF4-FFF2-40B4-BE49-F238E27FC236}">
                    <a16:creationId xmlns:a16="http://schemas.microsoft.com/office/drawing/2014/main" id="{2B61A675-867D-40D9-BF08-7CEB4FE95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893" name="Group 51">
              <a:extLst>
                <a:ext uri="{FF2B5EF4-FFF2-40B4-BE49-F238E27FC236}">
                  <a16:creationId xmlns:a16="http://schemas.microsoft.com/office/drawing/2014/main" id="{3A4DBD04-2502-4B61-8A70-BC9763406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680"/>
              <a:ext cx="624" cy="294"/>
              <a:chOff x="0" y="0"/>
              <a:chExt cx="624" cy="294"/>
            </a:xfrm>
          </p:grpSpPr>
          <p:sp>
            <p:nvSpPr>
              <p:cNvPr id="36908" name="Text Box 52">
                <a:extLst>
                  <a:ext uri="{FF2B5EF4-FFF2-40B4-BE49-F238E27FC236}">
                    <a16:creationId xmlns:a16="http://schemas.microsoft.com/office/drawing/2014/main" id="{FF381DD7-2907-4ACA-BD91-56E332AFB3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7 </a:t>
                </a:r>
              </a:p>
            </p:txBody>
          </p:sp>
          <p:sp>
            <p:nvSpPr>
              <p:cNvPr id="36909" name="Line 53">
                <a:extLst>
                  <a:ext uri="{FF2B5EF4-FFF2-40B4-BE49-F238E27FC236}">
                    <a16:creationId xmlns:a16="http://schemas.microsoft.com/office/drawing/2014/main" id="{C9CC507D-9ACF-4D2E-B55D-B3467025E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894" name="Group 57">
              <a:extLst>
                <a:ext uri="{FF2B5EF4-FFF2-40B4-BE49-F238E27FC236}">
                  <a16:creationId xmlns:a16="http://schemas.microsoft.com/office/drawing/2014/main" id="{D353E235-AEE4-469B-A51E-CAB104860A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5" y="803"/>
              <a:ext cx="528" cy="48"/>
              <a:chOff x="0" y="0"/>
              <a:chExt cx="528" cy="48"/>
            </a:xfrm>
          </p:grpSpPr>
          <p:sp>
            <p:nvSpPr>
              <p:cNvPr id="36906" name="Line 58">
                <a:extLst>
                  <a:ext uri="{FF2B5EF4-FFF2-40B4-BE49-F238E27FC236}">
                    <a16:creationId xmlns:a16="http://schemas.microsoft.com/office/drawing/2014/main" id="{9BEC6545-7162-4912-9277-8E491B0F7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7" name="Oval 59">
                <a:extLst>
                  <a:ext uri="{FF2B5EF4-FFF2-40B4-BE49-F238E27FC236}">
                    <a16:creationId xmlns:a16="http://schemas.microsoft.com/office/drawing/2014/main" id="{64E620EC-E625-4135-86FA-41130D102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895" name="Text Box 63">
              <a:extLst>
                <a:ext uri="{FF2B5EF4-FFF2-40B4-BE49-F238E27FC236}">
                  <a16:creationId xmlns:a16="http://schemas.microsoft.com/office/drawing/2014/main" id="{50B83B52-882B-4F79-8457-A06DE5C25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" y="272"/>
              <a:ext cx="336" cy="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6896" name="Text Box 64">
              <a:extLst>
                <a:ext uri="{FF2B5EF4-FFF2-40B4-BE49-F238E27FC236}">
                  <a16:creationId xmlns:a16="http://schemas.microsoft.com/office/drawing/2014/main" id="{D5106F0E-7C2C-4172-9477-B9DA852DE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0">
                  <a:latin typeface="Times New Roman" panose="02020603050405020304" pitchFamily="18" charset="0"/>
                </a:rPr>
                <a:t>headPtr2</a:t>
              </a:r>
            </a:p>
          </p:txBody>
        </p:sp>
        <p:sp>
          <p:nvSpPr>
            <p:cNvPr id="36897" name="Oval 65">
              <a:extLst>
                <a:ext uri="{FF2B5EF4-FFF2-40B4-BE49-F238E27FC236}">
                  <a16:creationId xmlns:a16="http://schemas.microsoft.com/office/drawing/2014/main" id="{45FF288E-C8ED-48F4-9F98-1C1F89505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431"/>
              <a:ext cx="48" cy="5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6898" name="Line 66">
              <a:extLst>
                <a:ext uri="{FF2B5EF4-FFF2-40B4-BE49-F238E27FC236}">
                  <a16:creationId xmlns:a16="http://schemas.microsoft.com/office/drawing/2014/main" id="{15673D38-9AC7-4888-9E17-A7EB5C68D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45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Line 67">
              <a:extLst>
                <a:ext uri="{FF2B5EF4-FFF2-40B4-BE49-F238E27FC236}">
                  <a16:creationId xmlns:a16="http://schemas.microsoft.com/office/drawing/2014/main" id="{12F7F539-48CC-4599-822A-C7615855D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" y="81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900" name="Group 106">
              <a:extLst>
                <a:ext uri="{FF2B5EF4-FFF2-40B4-BE49-F238E27FC236}">
                  <a16:creationId xmlns:a16="http://schemas.microsoft.com/office/drawing/2014/main" id="{A71C17AA-96B4-4F39-A089-CCC141D54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5" y="680"/>
              <a:ext cx="624" cy="294"/>
              <a:chOff x="0" y="0"/>
              <a:chExt cx="624" cy="294"/>
            </a:xfrm>
          </p:grpSpPr>
          <p:sp>
            <p:nvSpPr>
              <p:cNvPr id="36904" name="Text Box 107">
                <a:extLst>
                  <a:ext uri="{FF2B5EF4-FFF2-40B4-BE49-F238E27FC236}">
                    <a16:creationId xmlns:a16="http://schemas.microsoft.com/office/drawing/2014/main" id="{17DDB78A-219F-4E9C-9174-FBC154E6DB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60     </a:t>
                </a:r>
              </a:p>
            </p:txBody>
          </p:sp>
          <p:sp>
            <p:nvSpPr>
              <p:cNvPr id="36905" name="Line 108">
                <a:extLst>
                  <a:ext uri="{FF2B5EF4-FFF2-40B4-BE49-F238E27FC236}">
                    <a16:creationId xmlns:a16="http://schemas.microsoft.com/office/drawing/2014/main" id="{404E9E2A-8F7A-46E8-8BF2-445986088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901" name="Group 109">
              <a:extLst>
                <a:ext uri="{FF2B5EF4-FFF2-40B4-BE49-F238E27FC236}">
                  <a16:creationId xmlns:a16="http://schemas.microsoft.com/office/drawing/2014/main" id="{40F814F5-6745-4B0D-93F4-A689058218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2" y="816"/>
              <a:ext cx="528" cy="48"/>
              <a:chOff x="0" y="0"/>
              <a:chExt cx="528" cy="48"/>
            </a:xfrm>
          </p:grpSpPr>
          <p:sp>
            <p:nvSpPr>
              <p:cNvPr id="36902" name="Line 110">
                <a:extLst>
                  <a:ext uri="{FF2B5EF4-FFF2-40B4-BE49-F238E27FC236}">
                    <a16:creationId xmlns:a16="http://schemas.microsoft.com/office/drawing/2014/main" id="{DB8EC489-5243-4A2E-BDA0-C25F96CF2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3" name="Oval 111">
                <a:extLst>
                  <a:ext uri="{FF2B5EF4-FFF2-40B4-BE49-F238E27FC236}">
                    <a16:creationId xmlns:a16="http://schemas.microsoft.com/office/drawing/2014/main" id="{527088F3-AD8E-44DB-A035-127265421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6885" name="Group 112">
            <a:extLst>
              <a:ext uri="{FF2B5EF4-FFF2-40B4-BE49-F238E27FC236}">
                <a16:creationId xmlns:a16="http://schemas.microsoft.com/office/drawing/2014/main" id="{009BAB32-639C-4E86-822E-C2A813D08F5F}"/>
              </a:ext>
            </a:extLst>
          </p:cNvPr>
          <p:cNvGrpSpPr>
            <a:grpSpLocks/>
          </p:cNvGrpSpPr>
          <p:nvPr/>
        </p:nvGrpSpPr>
        <p:grpSpPr bwMode="auto">
          <a:xfrm>
            <a:off x="6821488" y="5876925"/>
            <a:ext cx="990600" cy="466725"/>
            <a:chOff x="0" y="0"/>
            <a:chExt cx="624" cy="294"/>
          </a:xfrm>
        </p:grpSpPr>
        <p:sp>
          <p:nvSpPr>
            <p:cNvPr id="36889" name="Text Box 113">
              <a:extLst>
                <a:ext uri="{FF2B5EF4-FFF2-40B4-BE49-F238E27FC236}">
                  <a16:creationId xmlns:a16="http://schemas.microsoft.com/office/drawing/2014/main" id="{7F3B6627-0F07-4BED-95E6-FC127EABC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47  </a:t>
              </a:r>
            </a:p>
          </p:txBody>
        </p:sp>
        <p:sp>
          <p:nvSpPr>
            <p:cNvPr id="36890" name="Line 114">
              <a:extLst>
                <a:ext uri="{FF2B5EF4-FFF2-40B4-BE49-F238E27FC236}">
                  <a16:creationId xmlns:a16="http://schemas.microsoft.com/office/drawing/2014/main" id="{7E04AAFF-5276-41F1-AE3E-E31042123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86" name="Group 115">
            <a:extLst>
              <a:ext uri="{FF2B5EF4-FFF2-40B4-BE49-F238E27FC236}">
                <a16:creationId xmlns:a16="http://schemas.microsoft.com/office/drawing/2014/main" id="{F6AD028E-977D-446B-B2BF-E04202B142A9}"/>
              </a:ext>
            </a:extLst>
          </p:cNvPr>
          <p:cNvGrpSpPr>
            <a:grpSpLocks/>
          </p:cNvGrpSpPr>
          <p:nvPr/>
        </p:nvGrpSpPr>
        <p:grpSpPr bwMode="auto">
          <a:xfrm>
            <a:off x="7596188" y="6092825"/>
            <a:ext cx="487362" cy="76200"/>
            <a:chOff x="0" y="0"/>
            <a:chExt cx="528" cy="48"/>
          </a:xfrm>
        </p:grpSpPr>
        <p:sp>
          <p:nvSpPr>
            <p:cNvPr id="36887" name="Line 116">
              <a:extLst>
                <a:ext uri="{FF2B5EF4-FFF2-40B4-BE49-F238E27FC236}">
                  <a16:creationId xmlns:a16="http://schemas.microsoft.com/office/drawing/2014/main" id="{29FA8D1B-560B-4778-B666-2A594EC7E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Oval 117">
              <a:extLst>
                <a:ext uri="{FF2B5EF4-FFF2-40B4-BE49-F238E27FC236}">
                  <a16:creationId xmlns:a16="http://schemas.microsoft.com/office/drawing/2014/main" id="{9D8CD91A-6809-4149-82FF-F7990752E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89" name="Rectangle 2">
            <a:extLst>
              <a:ext uri="{FF2B5EF4-FFF2-40B4-BE49-F238E27FC236}">
                <a16:creationId xmlns:a16="http://schemas.microsoft.com/office/drawing/2014/main" id="{F4415B5A-9986-4A0F-B65D-951A4FD5F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进深操作－链表归并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4472415E-3B50-476B-8986-0267C77F7F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62AA40D1-A717-4B2F-93FA-26ED01FBF128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grpSp>
        <p:nvGrpSpPr>
          <p:cNvPr id="37891" name="Group 4">
            <a:extLst>
              <a:ext uri="{FF2B5EF4-FFF2-40B4-BE49-F238E27FC236}">
                <a16:creationId xmlns:a16="http://schemas.microsoft.com/office/drawing/2014/main" id="{B8054569-A395-4CFB-A69B-298DD44198F8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92088"/>
            <a:ext cx="5526088" cy="1546225"/>
            <a:chOff x="0" y="0"/>
            <a:chExt cx="3481" cy="974"/>
          </a:xfrm>
        </p:grpSpPr>
        <p:grpSp>
          <p:nvGrpSpPr>
            <p:cNvPr id="37927" name="Group 5">
              <a:extLst>
                <a:ext uri="{FF2B5EF4-FFF2-40B4-BE49-F238E27FC236}">
                  <a16:creationId xmlns:a16="http://schemas.microsoft.com/office/drawing/2014/main" id="{B130CD23-8378-4923-951A-8CD5A0B00F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" y="680"/>
              <a:ext cx="624" cy="294"/>
              <a:chOff x="0" y="0"/>
              <a:chExt cx="624" cy="294"/>
            </a:xfrm>
          </p:grpSpPr>
          <p:sp>
            <p:nvSpPr>
              <p:cNvPr id="37946" name="Text Box 6">
                <a:extLst>
                  <a:ext uri="{FF2B5EF4-FFF2-40B4-BE49-F238E27FC236}">
                    <a16:creationId xmlns:a16="http://schemas.microsoft.com/office/drawing/2014/main" id="{07B95D29-CE87-4DA1-8618-3AA6FF4F0B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3     </a:t>
                </a:r>
              </a:p>
            </p:txBody>
          </p:sp>
          <p:sp>
            <p:nvSpPr>
              <p:cNvPr id="37947" name="Line 7">
                <a:extLst>
                  <a:ext uri="{FF2B5EF4-FFF2-40B4-BE49-F238E27FC236}">
                    <a16:creationId xmlns:a16="http://schemas.microsoft.com/office/drawing/2014/main" id="{5BCF863C-39FE-48A5-B2BE-B2B129000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8" name="Group 8">
              <a:extLst>
                <a:ext uri="{FF2B5EF4-FFF2-40B4-BE49-F238E27FC236}">
                  <a16:creationId xmlns:a16="http://schemas.microsoft.com/office/drawing/2014/main" id="{6B13A719-B026-4B3F-B4E6-44B6A79687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" y="680"/>
              <a:ext cx="624" cy="294"/>
              <a:chOff x="0" y="0"/>
              <a:chExt cx="624" cy="294"/>
            </a:xfrm>
          </p:grpSpPr>
          <p:sp>
            <p:nvSpPr>
              <p:cNvPr id="37944" name="Text Box 9">
                <a:extLst>
                  <a:ext uri="{FF2B5EF4-FFF2-40B4-BE49-F238E27FC236}">
                    <a16:creationId xmlns:a16="http://schemas.microsoft.com/office/drawing/2014/main" id="{F3DFA9A3-29A1-40EC-8370-70B17DEF29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8  </a:t>
                </a:r>
              </a:p>
            </p:txBody>
          </p:sp>
          <p:sp>
            <p:nvSpPr>
              <p:cNvPr id="37945" name="Line 10">
                <a:extLst>
                  <a:ext uri="{FF2B5EF4-FFF2-40B4-BE49-F238E27FC236}">
                    <a16:creationId xmlns:a16="http://schemas.microsoft.com/office/drawing/2014/main" id="{4ABC8752-750C-4083-B0CF-A88A31744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9" name="Group 11">
              <a:extLst>
                <a:ext uri="{FF2B5EF4-FFF2-40B4-BE49-F238E27FC236}">
                  <a16:creationId xmlns:a16="http://schemas.microsoft.com/office/drawing/2014/main" id="{23B85F9D-A1F1-441B-834C-C2A3D1A45E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680"/>
              <a:ext cx="624" cy="294"/>
              <a:chOff x="0" y="0"/>
              <a:chExt cx="624" cy="294"/>
            </a:xfrm>
          </p:grpSpPr>
          <p:sp>
            <p:nvSpPr>
              <p:cNvPr id="37942" name="Text Box 12">
                <a:extLst>
                  <a:ext uri="{FF2B5EF4-FFF2-40B4-BE49-F238E27FC236}">
                    <a16:creationId xmlns:a16="http://schemas.microsoft.com/office/drawing/2014/main" id="{19C80799-19F4-45FF-9A06-1649EDEA6B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47  </a:t>
                </a:r>
              </a:p>
            </p:txBody>
          </p:sp>
          <p:sp>
            <p:nvSpPr>
              <p:cNvPr id="37943" name="Line 13">
                <a:extLst>
                  <a:ext uri="{FF2B5EF4-FFF2-40B4-BE49-F238E27FC236}">
                    <a16:creationId xmlns:a16="http://schemas.microsoft.com/office/drawing/2014/main" id="{D5225FB8-D5BB-4F0D-A32E-261023709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30" name="Group 14">
              <a:extLst>
                <a:ext uri="{FF2B5EF4-FFF2-40B4-BE49-F238E27FC236}">
                  <a16:creationId xmlns:a16="http://schemas.microsoft.com/office/drawing/2014/main" id="{CE666145-ABE4-4651-873E-B3C88A989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5" y="803"/>
              <a:ext cx="528" cy="48"/>
              <a:chOff x="0" y="0"/>
              <a:chExt cx="528" cy="48"/>
            </a:xfrm>
          </p:grpSpPr>
          <p:sp>
            <p:nvSpPr>
              <p:cNvPr id="37940" name="Line 15">
                <a:extLst>
                  <a:ext uri="{FF2B5EF4-FFF2-40B4-BE49-F238E27FC236}">
                    <a16:creationId xmlns:a16="http://schemas.microsoft.com/office/drawing/2014/main" id="{C5B5CE33-56CA-49D2-BC80-3299644B6D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1" name="Oval 16">
                <a:extLst>
                  <a:ext uri="{FF2B5EF4-FFF2-40B4-BE49-F238E27FC236}">
                    <a16:creationId xmlns:a16="http://schemas.microsoft.com/office/drawing/2014/main" id="{93B6DA4A-93AE-4067-B2B5-D26CAB519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31" name="Group 17">
              <a:extLst>
                <a:ext uri="{FF2B5EF4-FFF2-40B4-BE49-F238E27FC236}">
                  <a16:creationId xmlns:a16="http://schemas.microsoft.com/office/drawing/2014/main" id="{0579AF0B-F40A-45AF-BE7A-0658E84C68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3" y="806"/>
              <a:ext cx="528" cy="48"/>
              <a:chOff x="0" y="0"/>
              <a:chExt cx="528" cy="48"/>
            </a:xfrm>
          </p:grpSpPr>
          <p:sp>
            <p:nvSpPr>
              <p:cNvPr id="37938" name="Line 18">
                <a:extLst>
                  <a:ext uri="{FF2B5EF4-FFF2-40B4-BE49-F238E27FC236}">
                    <a16:creationId xmlns:a16="http://schemas.microsoft.com/office/drawing/2014/main" id="{C18AB1EC-2C43-4050-BA3F-DA23BD51D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9" name="Oval 19">
                <a:extLst>
                  <a:ext uri="{FF2B5EF4-FFF2-40B4-BE49-F238E27FC236}">
                    <a16:creationId xmlns:a16="http://schemas.microsoft.com/office/drawing/2014/main" id="{4A8092F4-9111-4FFF-AFAC-C68FCA29F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932" name="Text Box 20">
              <a:extLst>
                <a:ext uri="{FF2B5EF4-FFF2-40B4-BE49-F238E27FC236}">
                  <a16:creationId xmlns:a16="http://schemas.microsoft.com/office/drawing/2014/main" id="{31BAF50B-21D1-411A-8770-1F64F231E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" y="272"/>
              <a:ext cx="336" cy="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33" name="Text Box 21">
              <a:extLst>
                <a:ext uri="{FF2B5EF4-FFF2-40B4-BE49-F238E27FC236}">
                  <a16:creationId xmlns:a16="http://schemas.microsoft.com/office/drawing/2014/main" id="{522403D5-4574-4324-A86C-D11F0E0C7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0">
                  <a:latin typeface="Times New Roman" panose="02020603050405020304" pitchFamily="18" charset="0"/>
                </a:rPr>
                <a:t>headPtr1</a:t>
              </a:r>
            </a:p>
          </p:txBody>
        </p:sp>
        <p:sp>
          <p:nvSpPr>
            <p:cNvPr id="37934" name="Oval 22">
              <a:extLst>
                <a:ext uri="{FF2B5EF4-FFF2-40B4-BE49-F238E27FC236}">
                  <a16:creationId xmlns:a16="http://schemas.microsoft.com/office/drawing/2014/main" id="{3F975909-1C22-4225-A473-6B51AFAF2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431"/>
              <a:ext cx="48" cy="5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935" name="Line 23">
              <a:extLst>
                <a:ext uri="{FF2B5EF4-FFF2-40B4-BE49-F238E27FC236}">
                  <a16:creationId xmlns:a16="http://schemas.microsoft.com/office/drawing/2014/main" id="{E94B50AF-CF2C-4726-9C1C-EA4172C4A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45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6" name="Line 24">
              <a:extLst>
                <a:ext uri="{FF2B5EF4-FFF2-40B4-BE49-F238E27FC236}">
                  <a16:creationId xmlns:a16="http://schemas.microsoft.com/office/drawing/2014/main" id="{D56CA29C-C196-49FE-B4F6-DBE1F9034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" y="81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7" name="Line 25">
              <a:extLst>
                <a:ext uri="{FF2B5EF4-FFF2-40B4-BE49-F238E27FC236}">
                  <a16:creationId xmlns:a16="http://schemas.microsoft.com/office/drawing/2014/main" id="{1D5522C8-D2A9-4FA6-BF19-93D9B9A0E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68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892" name="Group 26">
            <a:extLst>
              <a:ext uri="{FF2B5EF4-FFF2-40B4-BE49-F238E27FC236}">
                <a16:creationId xmlns:a16="http://schemas.microsoft.com/office/drawing/2014/main" id="{70145AF4-0256-4E4C-8CDA-E867C81FE993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1844675"/>
            <a:ext cx="5573713" cy="1546225"/>
            <a:chOff x="0" y="0"/>
            <a:chExt cx="3511" cy="974"/>
          </a:xfrm>
        </p:grpSpPr>
        <p:sp>
          <p:nvSpPr>
            <p:cNvPr id="37906" name="Line 27">
              <a:extLst>
                <a:ext uri="{FF2B5EF4-FFF2-40B4-BE49-F238E27FC236}">
                  <a16:creationId xmlns:a16="http://schemas.microsoft.com/office/drawing/2014/main" id="{E9D2864E-47AA-4844-97BE-E134891D3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3" y="712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07" name="Group 28">
              <a:extLst>
                <a:ext uri="{FF2B5EF4-FFF2-40B4-BE49-F238E27FC236}">
                  <a16:creationId xmlns:a16="http://schemas.microsoft.com/office/drawing/2014/main" id="{75192AFE-D7AF-4999-A132-3C9921617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" y="680"/>
              <a:ext cx="624" cy="294"/>
              <a:chOff x="0" y="0"/>
              <a:chExt cx="624" cy="294"/>
            </a:xfrm>
          </p:grpSpPr>
          <p:sp>
            <p:nvSpPr>
              <p:cNvPr id="37925" name="Text Box 29">
                <a:extLst>
                  <a:ext uri="{FF2B5EF4-FFF2-40B4-BE49-F238E27FC236}">
                    <a16:creationId xmlns:a16="http://schemas.microsoft.com/office/drawing/2014/main" id="{AC9E9AF7-29B9-4DA6-AB24-4AC1403735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5     </a:t>
                </a:r>
              </a:p>
            </p:txBody>
          </p:sp>
          <p:sp>
            <p:nvSpPr>
              <p:cNvPr id="37926" name="Line 30">
                <a:extLst>
                  <a:ext uri="{FF2B5EF4-FFF2-40B4-BE49-F238E27FC236}">
                    <a16:creationId xmlns:a16="http://schemas.microsoft.com/office/drawing/2014/main" id="{BD952097-BD8B-45E7-A647-9739C4A6E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08" name="Group 31">
              <a:extLst>
                <a:ext uri="{FF2B5EF4-FFF2-40B4-BE49-F238E27FC236}">
                  <a16:creationId xmlns:a16="http://schemas.microsoft.com/office/drawing/2014/main" id="{B0D1C8D0-E209-4349-B76C-2DDB83869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680"/>
              <a:ext cx="624" cy="294"/>
              <a:chOff x="0" y="0"/>
              <a:chExt cx="624" cy="294"/>
            </a:xfrm>
          </p:grpSpPr>
          <p:sp>
            <p:nvSpPr>
              <p:cNvPr id="37923" name="Text Box 32">
                <a:extLst>
                  <a:ext uri="{FF2B5EF4-FFF2-40B4-BE49-F238E27FC236}">
                    <a16:creationId xmlns:a16="http://schemas.microsoft.com/office/drawing/2014/main" id="{4ADE866A-77A6-4F6B-87DC-FA4740F3C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7 </a:t>
                </a:r>
              </a:p>
            </p:txBody>
          </p:sp>
          <p:sp>
            <p:nvSpPr>
              <p:cNvPr id="37924" name="Line 33">
                <a:extLst>
                  <a:ext uri="{FF2B5EF4-FFF2-40B4-BE49-F238E27FC236}">
                    <a16:creationId xmlns:a16="http://schemas.microsoft.com/office/drawing/2014/main" id="{1A24B37A-BE56-4990-B5A4-668358461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09" name="Group 34">
              <a:extLst>
                <a:ext uri="{FF2B5EF4-FFF2-40B4-BE49-F238E27FC236}">
                  <a16:creationId xmlns:a16="http://schemas.microsoft.com/office/drawing/2014/main" id="{F6059160-8B43-4888-A2B3-1D4A3D7BB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5" y="803"/>
              <a:ext cx="528" cy="48"/>
              <a:chOff x="0" y="0"/>
              <a:chExt cx="528" cy="48"/>
            </a:xfrm>
          </p:grpSpPr>
          <p:sp>
            <p:nvSpPr>
              <p:cNvPr id="37921" name="Line 35">
                <a:extLst>
                  <a:ext uri="{FF2B5EF4-FFF2-40B4-BE49-F238E27FC236}">
                    <a16:creationId xmlns:a16="http://schemas.microsoft.com/office/drawing/2014/main" id="{ADBC3F0E-CEEF-4F11-935E-B332F0500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22" name="Oval 36">
                <a:extLst>
                  <a:ext uri="{FF2B5EF4-FFF2-40B4-BE49-F238E27FC236}">
                    <a16:creationId xmlns:a16="http://schemas.microsoft.com/office/drawing/2014/main" id="{BFDE2189-5737-4214-A666-F4CC4B6CD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910" name="Text Box 37">
              <a:extLst>
                <a:ext uri="{FF2B5EF4-FFF2-40B4-BE49-F238E27FC236}">
                  <a16:creationId xmlns:a16="http://schemas.microsoft.com/office/drawing/2014/main" id="{CD1E3CCF-F592-4BF6-8B74-916BB764E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" y="272"/>
              <a:ext cx="336" cy="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11" name="Text Box 38">
              <a:extLst>
                <a:ext uri="{FF2B5EF4-FFF2-40B4-BE49-F238E27FC236}">
                  <a16:creationId xmlns:a16="http://schemas.microsoft.com/office/drawing/2014/main" id="{FC9456F0-7EE4-40EE-9F6D-7213738EB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0">
                  <a:latin typeface="Times New Roman" panose="02020603050405020304" pitchFamily="18" charset="0"/>
                </a:rPr>
                <a:t>headPtr2</a:t>
              </a:r>
            </a:p>
          </p:txBody>
        </p:sp>
        <p:sp>
          <p:nvSpPr>
            <p:cNvPr id="37912" name="Oval 39">
              <a:extLst>
                <a:ext uri="{FF2B5EF4-FFF2-40B4-BE49-F238E27FC236}">
                  <a16:creationId xmlns:a16="http://schemas.microsoft.com/office/drawing/2014/main" id="{DA2E1B0C-2A67-407D-A89C-69B22793A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431"/>
              <a:ext cx="48" cy="5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913" name="Line 40">
              <a:extLst>
                <a:ext uri="{FF2B5EF4-FFF2-40B4-BE49-F238E27FC236}">
                  <a16:creationId xmlns:a16="http://schemas.microsoft.com/office/drawing/2014/main" id="{BD7A9C0A-9DFC-4E3A-A1A6-4508A2285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45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Line 41">
              <a:extLst>
                <a:ext uri="{FF2B5EF4-FFF2-40B4-BE49-F238E27FC236}">
                  <a16:creationId xmlns:a16="http://schemas.microsoft.com/office/drawing/2014/main" id="{65934FAA-592B-4780-9493-10CF8CD92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" y="81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5" name="Group 42">
              <a:extLst>
                <a:ext uri="{FF2B5EF4-FFF2-40B4-BE49-F238E27FC236}">
                  <a16:creationId xmlns:a16="http://schemas.microsoft.com/office/drawing/2014/main" id="{BABA2360-1BFB-4BAF-B434-4B14CACDCF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5" y="680"/>
              <a:ext cx="624" cy="294"/>
              <a:chOff x="0" y="0"/>
              <a:chExt cx="624" cy="294"/>
            </a:xfrm>
          </p:grpSpPr>
          <p:sp>
            <p:nvSpPr>
              <p:cNvPr id="37919" name="Text Box 43">
                <a:extLst>
                  <a:ext uri="{FF2B5EF4-FFF2-40B4-BE49-F238E27FC236}">
                    <a16:creationId xmlns:a16="http://schemas.microsoft.com/office/drawing/2014/main" id="{4B213E7F-A60E-43AF-9208-D4F93275E0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60     </a:t>
                </a:r>
              </a:p>
            </p:txBody>
          </p:sp>
          <p:sp>
            <p:nvSpPr>
              <p:cNvPr id="37920" name="Line 44">
                <a:extLst>
                  <a:ext uri="{FF2B5EF4-FFF2-40B4-BE49-F238E27FC236}">
                    <a16:creationId xmlns:a16="http://schemas.microsoft.com/office/drawing/2014/main" id="{CED29B65-894C-4AB6-8613-2FA337AF0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16" name="Group 45">
              <a:extLst>
                <a:ext uri="{FF2B5EF4-FFF2-40B4-BE49-F238E27FC236}">
                  <a16:creationId xmlns:a16="http://schemas.microsoft.com/office/drawing/2014/main" id="{B6AC5DEC-77CD-43D2-B6EB-49F088B3F4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2" y="816"/>
              <a:ext cx="528" cy="48"/>
              <a:chOff x="0" y="0"/>
              <a:chExt cx="528" cy="48"/>
            </a:xfrm>
          </p:grpSpPr>
          <p:sp>
            <p:nvSpPr>
              <p:cNvPr id="37917" name="Line 46">
                <a:extLst>
                  <a:ext uri="{FF2B5EF4-FFF2-40B4-BE49-F238E27FC236}">
                    <a16:creationId xmlns:a16="http://schemas.microsoft.com/office/drawing/2014/main" id="{8F9AD2ED-2391-4548-BCD7-CF1B4ADBD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8" name="Oval 47">
                <a:extLst>
                  <a:ext uri="{FF2B5EF4-FFF2-40B4-BE49-F238E27FC236}">
                    <a16:creationId xmlns:a16="http://schemas.microsoft.com/office/drawing/2014/main" id="{965113F0-9572-4DAB-96FE-36C3D48A0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7893" name="Text Box 49">
            <a:extLst>
              <a:ext uri="{FF2B5EF4-FFF2-40B4-BE49-F238E27FC236}">
                <a16:creationId xmlns:a16="http://schemas.microsoft.com/office/drawing/2014/main" id="{17276CCD-9D4F-430F-B1CD-2AD513C23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357188"/>
            <a:ext cx="63341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37894" name="Text Box 50">
            <a:extLst>
              <a:ext uri="{FF2B5EF4-FFF2-40B4-BE49-F238E27FC236}">
                <a16:creationId xmlns:a16="http://schemas.microsoft.com/office/drawing/2014/main" id="{4378317C-C3B5-4C05-A910-64D49899B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7088" y="-100013"/>
            <a:ext cx="1204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first1Ptr</a:t>
            </a:r>
          </a:p>
        </p:txBody>
      </p:sp>
      <p:grpSp>
        <p:nvGrpSpPr>
          <p:cNvPr id="37895" name="Group 51">
            <a:extLst>
              <a:ext uri="{FF2B5EF4-FFF2-40B4-BE49-F238E27FC236}">
                <a16:creationId xmlns:a16="http://schemas.microsoft.com/office/drawing/2014/main" id="{30C67C86-C3C0-47CD-95BF-FEC2E61371B5}"/>
              </a:ext>
            </a:extLst>
          </p:cNvPr>
          <p:cNvGrpSpPr>
            <a:grpSpLocks/>
          </p:cNvGrpSpPr>
          <p:nvPr/>
        </p:nvGrpSpPr>
        <p:grpSpPr bwMode="auto">
          <a:xfrm>
            <a:off x="4214813" y="585788"/>
            <a:ext cx="90487" cy="685800"/>
            <a:chOff x="0" y="0"/>
            <a:chExt cx="48" cy="432"/>
          </a:xfrm>
        </p:grpSpPr>
        <p:sp>
          <p:nvSpPr>
            <p:cNvPr id="37904" name="Oval 52">
              <a:extLst>
                <a:ext uri="{FF2B5EF4-FFF2-40B4-BE49-F238E27FC236}">
                  <a16:creationId xmlns:a16="http://schemas.microsoft.com/office/drawing/2014/main" id="{DB3B71F3-267F-48CD-8C2C-0C1E1CEBE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905" name="Line 53">
              <a:extLst>
                <a:ext uri="{FF2B5EF4-FFF2-40B4-BE49-F238E27FC236}">
                  <a16:creationId xmlns:a16="http://schemas.microsoft.com/office/drawing/2014/main" id="{99DB9F3C-2F7A-4824-A7F8-F37EE6B2D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896" name="Group 55">
            <a:extLst>
              <a:ext uri="{FF2B5EF4-FFF2-40B4-BE49-F238E27FC236}">
                <a16:creationId xmlns:a16="http://schemas.microsoft.com/office/drawing/2014/main" id="{B5D5BE2A-A9EE-4508-B739-B313A48312B2}"/>
              </a:ext>
            </a:extLst>
          </p:cNvPr>
          <p:cNvGrpSpPr>
            <a:grpSpLocks/>
          </p:cNvGrpSpPr>
          <p:nvPr/>
        </p:nvGrpSpPr>
        <p:grpSpPr bwMode="auto">
          <a:xfrm>
            <a:off x="3382962" y="1814511"/>
            <a:ext cx="1582738" cy="1109663"/>
            <a:chOff x="-1079" y="1204"/>
            <a:chExt cx="997" cy="699"/>
          </a:xfrm>
        </p:grpSpPr>
        <p:sp>
          <p:nvSpPr>
            <p:cNvPr id="37899" name="Text Box 56">
              <a:extLst>
                <a:ext uri="{FF2B5EF4-FFF2-40B4-BE49-F238E27FC236}">
                  <a16:creationId xmlns:a16="http://schemas.microsoft.com/office/drawing/2014/main" id="{980326EC-5989-4C20-8B8B-77F13EEEB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54" y="1395"/>
              <a:ext cx="39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00" name="Text Box 57">
              <a:extLst>
                <a:ext uri="{FF2B5EF4-FFF2-40B4-BE49-F238E27FC236}">
                  <a16:creationId xmlns:a16="http://schemas.microsoft.com/office/drawing/2014/main" id="{7E7FA5FB-9F12-4001-94EB-22554B221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" y="1204"/>
              <a:ext cx="9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first2Ptr</a:t>
              </a:r>
            </a:p>
          </p:txBody>
        </p:sp>
        <p:grpSp>
          <p:nvGrpSpPr>
            <p:cNvPr id="37901" name="Group 58">
              <a:extLst>
                <a:ext uri="{FF2B5EF4-FFF2-40B4-BE49-F238E27FC236}">
                  <a16:creationId xmlns:a16="http://schemas.microsoft.com/office/drawing/2014/main" id="{144DAECA-3FE4-4121-AE34-267D9D9BC3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818" y="1488"/>
              <a:ext cx="58" cy="415"/>
              <a:chOff x="-1009" y="1056"/>
              <a:chExt cx="48" cy="415"/>
            </a:xfrm>
          </p:grpSpPr>
          <p:sp>
            <p:nvSpPr>
              <p:cNvPr id="37902" name="Oval 59">
                <a:extLst>
                  <a:ext uri="{FF2B5EF4-FFF2-40B4-BE49-F238E27FC236}">
                    <a16:creationId xmlns:a16="http://schemas.microsoft.com/office/drawing/2014/main" id="{B0DD29F6-7862-413C-B8F3-E804A03F9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009" y="10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3" name="Line 60">
                <a:extLst>
                  <a:ext uri="{FF2B5EF4-FFF2-40B4-BE49-F238E27FC236}">
                    <a16:creationId xmlns:a16="http://schemas.microsoft.com/office/drawing/2014/main" id="{92A08910-3FA8-4449-A9EA-ACFBCCFA42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000" y="108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7897" name="Text Box 70">
            <a:extLst>
              <a:ext uri="{FF2B5EF4-FFF2-40B4-BE49-F238E27FC236}">
                <a16:creationId xmlns:a16="http://schemas.microsoft.com/office/drawing/2014/main" id="{84583C79-66FE-4271-981E-D2C1C4527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6" y="3573463"/>
            <a:ext cx="8353622" cy="2677656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思路：类似数组归并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当链表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和链表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的结点都</a:t>
            </a:r>
            <a:r>
              <a:rPr lang="zh-CN" altLang="en-US" sz="2400" dirty="0">
                <a:latin typeface="Times New Roman" panose="02020603050405020304" pitchFamily="18" charset="0"/>
              </a:rPr>
              <a:t>没有遍历完时重复做如下操作：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if(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链表</a:t>
            </a:r>
            <a:r>
              <a:rPr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结点元素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值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&lt;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链表</a:t>
            </a:r>
            <a:r>
              <a:rPr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结点元素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值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将链表</a:t>
            </a:r>
            <a:r>
              <a:rPr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结点插入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到链表</a:t>
            </a:r>
            <a:r>
              <a:rPr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结点前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if (</a:t>
            </a:r>
            <a:r>
              <a:rPr lang="zh-CN" altLang="en-US" sz="2400" dirty="0">
                <a:latin typeface="Times New Roman" panose="02020603050405020304" pitchFamily="18" charset="0"/>
              </a:rPr>
              <a:t>链表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没有结束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</a:rPr>
              <a:t>将链表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的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尾结点指向</a:t>
            </a:r>
            <a:r>
              <a:rPr lang="zh-CN" altLang="en-US" sz="2400" dirty="0">
                <a:latin typeface="Times New Roman" panose="02020603050405020304" pitchFamily="18" charset="0"/>
              </a:rPr>
              <a:t>链表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当前结点；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</a:rPr>
              <a:t>然后修正链表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尾指针；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7898" name="Line 89">
            <a:extLst>
              <a:ext uri="{FF2B5EF4-FFF2-40B4-BE49-F238E27FC236}">
                <a16:creationId xmlns:a16="http://schemas.microsoft.com/office/drawing/2014/main" id="{48D51084-3E69-4A7F-A5F1-5E53405E33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9751" y="1725613"/>
            <a:ext cx="995358" cy="118904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F8F572FA-9622-4FBF-9723-F757173DCE9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780900D9-8079-42AC-8357-A4D092ACEDE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3E386876-D69A-4ED7-A603-C89EAB8FCF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有序</a:t>
            </a:r>
            <a:r>
              <a:rPr lang="en-US" altLang="zh-CN" sz="3600" b="1"/>
              <a:t>(</a:t>
            </a:r>
            <a:r>
              <a:rPr lang="zh-CN" altLang="en-US" sz="3600" b="1"/>
              <a:t>升序</a:t>
            </a:r>
            <a:r>
              <a:rPr lang="en-US" altLang="zh-CN" sz="3600" b="1"/>
              <a:t>)</a:t>
            </a:r>
            <a:r>
              <a:rPr lang="zh-CN" altLang="en-US" sz="3600" b="1"/>
              <a:t>链表的归并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FEADCA3-7B73-41EA-8D6F-6749C8DA57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/</a:t>
            </a:r>
            <a:r>
              <a:rPr lang="zh-CN" altLang="en-US" sz="2400" b="1" dirty="0"/>
              <a:t>*有序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升序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链表的归并函数*</a:t>
            </a:r>
            <a:r>
              <a:rPr lang="en-US" altLang="zh-CN" sz="2400" b="1" dirty="0"/>
              <a:t>/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void </a:t>
            </a:r>
            <a:r>
              <a:rPr lang="en-US" altLang="zh-CN" sz="2400" b="1" dirty="0" err="1"/>
              <a:t>mergeSortList</a:t>
            </a:r>
            <a:r>
              <a:rPr lang="en-US" altLang="zh-CN" sz="2400" b="1" dirty="0"/>
              <a:t>(LISTNODEPTR head1Ptr, LISTNODEPTR * last1PtrPtr, LISTNODEPTR head2Ptr, LISTNODEPTR * last2PtrPtr )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</a:t>
            </a:r>
            <a:r>
              <a:rPr lang="zh-CN" altLang="en-US" sz="2400" b="1" dirty="0"/>
              <a:t>参数：</a:t>
            </a:r>
            <a:r>
              <a:rPr lang="en-US" altLang="zh-CN" sz="2400" b="1" dirty="0"/>
              <a:t>head1Ptr</a:t>
            </a:r>
            <a:r>
              <a:rPr lang="zh-CN" altLang="en-US" sz="2400" b="1" dirty="0"/>
              <a:t>指向链表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的头指针；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		   </a:t>
            </a:r>
            <a:r>
              <a:rPr lang="en-US" altLang="zh-CN" sz="2400" b="1" dirty="0"/>
              <a:t>head2Ptr</a:t>
            </a:r>
            <a:r>
              <a:rPr lang="zh-CN" altLang="en-US" sz="2400" b="1" dirty="0"/>
              <a:t>指向链表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的头指针；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 		   last1PtrPtr</a:t>
            </a:r>
            <a:r>
              <a:rPr lang="zh-CN" altLang="en-US" sz="2400" b="1" dirty="0"/>
              <a:t>指向链表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的尾指针；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		   </a:t>
            </a:r>
            <a:r>
              <a:rPr lang="en-US" altLang="zh-CN" sz="2400" b="1" dirty="0"/>
              <a:t>last2PtrPtr</a:t>
            </a:r>
            <a:r>
              <a:rPr lang="zh-CN" altLang="en-US" sz="2400" b="1" dirty="0"/>
              <a:t>指向链表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的尾指针；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返回值：无，因为</a:t>
            </a:r>
            <a:r>
              <a:rPr lang="zh-CN" altLang="en-US" sz="2400" b="1" dirty="0" smtClean="0"/>
              <a:t>空结点的</a:t>
            </a:r>
            <a:r>
              <a:rPr lang="zh-CN" altLang="en-US" sz="2400" b="1" dirty="0"/>
              <a:t>添加保证了头指针不会变化，尾指针的变化可以通过二级指针带回。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97ED9562-556C-42E8-AAB3-E3050A7B6F9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DFC74224-D288-4D42-BEB9-D0D2BC9139A4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5EB8A83-011D-48B4-AD72-5C08E5D9F6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有序</a:t>
            </a:r>
            <a:r>
              <a:rPr lang="en-US" altLang="zh-CN" sz="3600" b="1"/>
              <a:t>(</a:t>
            </a:r>
            <a:r>
              <a:rPr lang="zh-CN" altLang="en-US" sz="3600" b="1"/>
              <a:t>升序</a:t>
            </a:r>
            <a:r>
              <a:rPr lang="en-US" altLang="zh-CN" sz="3600" b="1"/>
              <a:t>)</a:t>
            </a:r>
            <a:r>
              <a:rPr lang="zh-CN" altLang="en-US" sz="3600" b="1"/>
              <a:t>链表的归并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971E02E-6232-489F-A4DA-DB8B94F90A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8950" y="1213133"/>
            <a:ext cx="8350250" cy="5349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mergeSortList</a:t>
            </a:r>
            <a:r>
              <a:rPr lang="en-US" altLang="zh-CN" sz="2000" dirty="0"/>
              <a:t>(LISTNODEPTR head1Ptr, LISTNODEPTR * last1PtrPtr, LISTNODEPTR head2Ptr, LISTNODEPTR * last2PtrPtr )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{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LISTNODEPTR first1, first2, pre1, temp2;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first1 = head1Ptr-&gt;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  first2 = head2Ptr-&gt;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pre1 = head1Ptr; 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while ( first1 != NULL &amp;&amp; first2 != NULL){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	if ( first2-&gt;data &lt; first1-&gt;data){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	temp2 = first2-&gt;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	pre1-&gt;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first2;	pre1 = first2;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	first2-&gt;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first1;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	first2  = temp2;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} else {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	pre1 = first1;	first1 = first1-&gt;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 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		}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97ED9562-556C-42E8-AAB3-E3050A7B6F9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DFC74224-D288-4D42-BEB9-D0D2BC9139A4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5EB8A83-011D-48B4-AD72-5C08E5D9F6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有序</a:t>
            </a:r>
            <a:r>
              <a:rPr lang="en-US" altLang="zh-CN" sz="3600" b="1"/>
              <a:t>(</a:t>
            </a:r>
            <a:r>
              <a:rPr lang="zh-CN" altLang="en-US" sz="3600" b="1"/>
              <a:t>升序</a:t>
            </a:r>
            <a:r>
              <a:rPr lang="en-US" altLang="zh-CN" sz="3600" b="1"/>
              <a:t>)</a:t>
            </a:r>
            <a:r>
              <a:rPr lang="zh-CN" altLang="en-US" sz="3600" b="1"/>
              <a:t>链表的归并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971E02E-6232-489F-A4DA-DB8B94F90A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8950" y="1212481"/>
            <a:ext cx="8350250" cy="498383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}//end</a:t>
            </a:r>
            <a:r>
              <a:rPr lang="zh-CN" altLang="en-US" sz="2000" dirty="0"/>
              <a:t> </a:t>
            </a:r>
            <a:r>
              <a:rPr lang="en-US" altLang="zh-CN" sz="2000" dirty="0"/>
              <a:t>while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if (first2 != NULL 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	pre1-&gt;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first2;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//</a:t>
            </a:r>
            <a:r>
              <a:rPr lang="zh-CN" altLang="en-US" sz="2000" dirty="0"/>
              <a:t>也可以</a:t>
            </a:r>
            <a:r>
              <a:rPr lang="en-US" altLang="zh-CN" sz="2000" dirty="0"/>
              <a:t>	(*last1PtrPtr)-&gt;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first2;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	*last1PtrPtr = *last2PtrPtr;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/*</a:t>
            </a:r>
            <a:r>
              <a:rPr lang="zh-CN" altLang="en-US" sz="2000" dirty="0"/>
              <a:t>修正链表</a:t>
            </a:r>
            <a:r>
              <a:rPr lang="en-US" altLang="zh-CN" sz="2000" dirty="0"/>
              <a:t>2</a:t>
            </a:r>
            <a:r>
              <a:rPr lang="zh-CN" altLang="en-US" sz="2000" dirty="0"/>
              <a:t>为空链表*</a:t>
            </a:r>
            <a:r>
              <a:rPr lang="en-US" altLang="zh-CN" sz="20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head2Ptr-&gt;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	*last2PtrPtr = head2Ptr;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669582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C20DD3A0-C977-4336-AB6B-CA6AE233F7C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476781" y="6221974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CD81CA59-1494-4325-BAE1-388BA6292E31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FF357A9-A780-436F-92D8-DB23A3F05B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环形链表</a:t>
            </a:r>
            <a:endParaRPr lang="zh-CN" altLang="zh-CN" dirty="0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D0A84DE-CDFC-4683-8FFE-8D9FBFDA52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4139" y="1166698"/>
            <a:ext cx="7772400" cy="282986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借助约瑟夫环问题示例，认识环形链表。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例</a:t>
            </a:r>
            <a:r>
              <a:rPr lang="en-US" altLang="zh-CN" b="1" dirty="0"/>
              <a:t>5</a:t>
            </a:r>
            <a:r>
              <a:rPr lang="zh-CN" altLang="en-US" b="1" dirty="0"/>
              <a:t>：猴子选大王：有</a:t>
            </a:r>
            <a:r>
              <a:rPr lang="en-US" altLang="zh-CN" b="1" dirty="0"/>
              <a:t>N</a:t>
            </a:r>
            <a:r>
              <a:rPr lang="zh-CN" altLang="en-US" b="1" dirty="0"/>
              <a:t>只猴子围成一圈，每只猴子从</a:t>
            </a:r>
            <a:r>
              <a:rPr lang="en-US" altLang="zh-CN" b="1" dirty="0"/>
              <a:t>1</a:t>
            </a:r>
            <a:r>
              <a:rPr lang="zh-CN" altLang="en-US" b="1" dirty="0"/>
              <a:t>到</a:t>
            </a:r>
            <a:r>
              <a:rPr lang="en-US" altLang="zh-CN" b="1" dirty="0"/>
              <a:t>N</a:t>
            </a:r>
            <a:r>
              <a:rPr lang="zh-CN" altLang="en-US" b="1" dirty="0"/>
              <a:t>依次编号。打算从中选出一个大王，经过协商，决定出选大王的规则：从第一个猴子开始循环报数，数到</a:t>
            </a:r>
            <a:r>
              <a:rPr lang="en-US" altLang="zh-CN" b="1" dirty="0"/>
              <a:t>M</a:t>
            </a:r>
            <a:r>
              <a:rPr lang="zh-CN" altLang="en-US" b="1" dirty="0"/>
              <a:t>的猴子出圈，最后剩下来的就是大王。 </a:t>
            </a:r>
          </a:p>
        </p:txBody>
      </p:sp>
      <p:sp>
        <p:nvSpPr>
          <p:cNvPr id="30725" name="Oval 4">
            <a:extLst>
              <a:ext uri="{FF2B5EF4-FFF2-40B4-BE49-F238E27FC236}">
                <a16:creationId xmlns:a16="http://schemas.microsoft.com/office/drawing/2014/main" id="{4763F85B-B5A3-489F-9BA2-D15A44320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333" y="4365104"/>
            <a:ext cx="2449512" cy="1943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CC4AC232-DE30-4EE4-AF9D-FCE44857B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2920" y="4509566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②</a:t>
            </a: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4D5491D0-A9AB-44E7-B908-E369B1966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395" y="3860279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①</a:t>
            </a:r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9E5C6F5F-3B80-4348-AE7C-8A4387F2A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2920" y="5589066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③</a:t>
            </a:r>
          </a:p>
        </p:txBody>
      </p:sp>
      <p:sp>
        <p:nvSpPr>
          <p:cNvPr id="30729" name="Rectangle 8">
            <a:extLst>
              <a:ext uri="{FF2B5EF4-FFF2-40B4-BE49-F238E27FC236}">
                <a16:creationId xmlns:a16="http://schemas.microsoft.com/office/drawing/2014/main" id="{B54E1D89-4DA9-4363-ADC1-8CC6C7EEC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395" y="6165329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④</a:t>
            </a:r>
          </a:p>
        </p:txBody>
      </p:sp>
      <p:sp>
        <p:nvSpPr>
          <p:cNvPr id="30730" name="Rectangle 9">
            <a:extLst>
              <a:ext uri="{FF2B5EF4-FFF2-40B4-BE49-F238E27FC236}">
                <a16:creationId xmlns:a16="http://schemas.microsoft.com/office/drawing/2014/main" id="{42DD26B7-44DA-43C3-B283-68020BB01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558" y="5589066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⑤</a:t>
            </a:r>
          </a:p>
        </p:txBody>
      </p:sp>
      <p:sp>
        <p:nvSpPr>
          <p:cNvPr id="30731" name="Rectangle 10">
            <a:extLst>
              <a:ext uri="{FF2B5EF4-FFF2-40B4-BE49-F238E27FC236}">
                <a16:creationId xmlns:a16="http://schemas.microsoft.com/office/drawing/2014/main" id="{E1C33379-11B4-4AC5-ADEB-1032CF05A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995" y="4509566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⑥</a:t>
            </a:r>
          </a:p>
        </p:txBody>
      </p:sp>
      <p:sp>
        <p:nvSpPr>
          <p:cNvPr id="30732" name="Text Box 12">
            <a:extLst>
              <a:ext uri="{FF2B5EF4-FFF2-40B4-BE49-F238E27FC236}">
                <a16:creationId xmlns:a16="http://schemas.microsoft.com/office/drawing/2014/main" id="{B7FA0AE3-3A00-40FF-8A68-8821DB1CA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128" y="3678005"/>
            <a:ext cx="2881312" cy="246538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若数到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的猴子出圈，则出圈的猴子编号依次是：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编号为</a:t>
            </a: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</a:rPr>
              <a:t>的猴子即为大王。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723625C3-03D7-4FFC-99D4-098A9580F76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8DA8D2C9-577C-4FC8-BE88-12F9D3BA3484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962409F-4904-401B-9A21-B504408CC6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环形</a:t>
            </a:r>
            <a:r>
              <a:rPr lang="en-US" altLang="zh-CN" b="1" dirty="0"/>
              <a:t>-</a:t>
            </a:r>
            <a:r>
              <a:rPr lang="zh-CN" altLang="en-US" b="1" dirty="0"/>
              <a:t>头尾相接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A4370FC-0802-4EE7-9DA2-6A6939B92A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8724" y="3702845"/>
            <a:ext cx="6171954" cy="1893887"/>
          </a:xfrm>
        </p:spPr>
        <p:txBody>
          <a:bodyPr/>
          <a:lstStyle/>
          <a:p>
            <a:pPr marL="457200" indent="-457200" eaLnBrk="1" hangingPunct="1">
              <a:spcBef>
                <a:spcPct val="50000"/>
              </a:spcBef>
              <a:buFontTx/>
              <a:buAutoNum type="arabicPeriod"/>
            </a:pPr>
            <a:r>
              <a:rPr lang="zh-CN" altLang="en-US" sz="2400" b="1" dirty="0"/>
              <a:t>初始的空链表：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endParaRPr lang="en-US" altLang="zh-CN" sz="2400" b="1" dirty="0"/>
          </a:p>
          <a:p>
            <a:pPr marL="457200" indent="-457200" eaLnBrk="1" hangingPunct="1">
              <a:spcBef>
                <a:spcPct val="50000"/>
              </a:spcBef>
              <a:buFontTx/>
              <a:buAutoNum type="arabicPeriod"/>
            </a:pPr>
            <a:r>
              <a:rPr lang="zh-CN" altLang="en-US" sz="2400" b="1" dirty="0"/>
              <a:t>不断插入</a:t>
            </a:r>
            <a:r>
              <a:rPr lang="zh-CN" altLang="en-US" sz="2400" b="1" dirty="0" smtClean="0"/>
              <a:t>新结点时</a:t>
            </a:r>
            <a:r>
              <a:rPr lang="zh-CN" altLang="en-US" sz="2400" b="1" dirty="0"/>
              <a:t>始终保持头尾相接。</a:t>
            </a:r>
            <a:endParaRPr lang="en-US" altLang="zh-CN" sz="2400" b="1" dirty="0"/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zh-CN" sz="2400" dirty="0" err="1">
                <a:latin typeface="Times New Roman" panose="02020603050405020304" pitchFamily="18" charset="0"/>
              </a:rPr>
              <a:t>lastPtr</a:t>
            </a:r>
            <a:r>
              <a:rPr lang="en-US" altLang="zh-CN" sz="2400" dirty="0">
                <a:latin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nextPtr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headPtr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endParaRPr lang="zh-CN" altLang="en-US" sz="2400" b="1" dirty="0"/>
          </a:p>
        </p:txBody>
      </p:sp>
      <p:grpSp>
        <p:nvGrpSpPr>
          <p:cNvPr id="89122" name="Group 40">
            <a:extLst>
              <a:ext uri="{FF2B5EF4-FFF2-40B4-BE49-F238E27FC236}">
                <a16:creationId xmlns:a16="http://schemas.microsoft.com/office/drawing/2014/main" id="{F6BADDF6-9209-4F9D-8DEF-4E9C5CAF1B28}"/>
              </a:ext>
            </a:extLst>
          </p:cNvPr>
          <p:cNvGrpSpPr>
            <a:grpSpLocks/>
          </p:cNvGrpSpPr>
          <p:nvPr/>
        </p:nvGrpSpPr>
        <p:grpSpPr bwMode="auto">
          <a:xfrm>
            <a:off x="6885940" y="3429000"/>
            <a:ext cx="1219200" cy="2133600"/>
            <a:chOff x="0" y="0"/>
            <a:chExt cx="768" cy="1344"/>
          </a:xfrm>
        </p:grpSpPr>
        <p:sp>
          <p:nvSpPr>
            <p:cNvPr id="31772" name="Text Box 41">
              <a:extLst>
                <a:ext uri="{FF2B5EF4-FFF2-40B4-BE49-F238E27FC236}">
                  <a16:creationId xmlns:a16="http://schemas.microsoft.com/office/drawing/2014/main" id="{BCF43F9B-E2DE-4291-B2A1-18DAE8A27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725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31773" name="Line 42">
              <a:extLst>
                <a:ext uri="{FF2B5EF4-FFF2-40B4-BE49-F238E27FC236}">
                  <a16:creationId xmlns:a16="http://schemas.microsoft.com/office/drawing/2014/main" id="{3A48335F-5877-4401-989F-2FF2BAAB4A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" y="11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4" name="Line 43">
              <a:extLst>
                <a:ext uri="{FF2B5EF4-FFF2-40B4-BE49-F238E27FC236}">
                  <a16:creationId xmlns:a16="http://schemas.microsoft.com/office/drawing/2014/main" id="{C1E78694-0632-4E39-B0EE-5C175A3467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51" y="1322"/>
              <a:ext cx="36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5" name="Text Box 44">
              <a:extLst>
                <a:ext uri="{FF2B5EF4-FFF2-40B4-BE49-F238E27FC236}">
                  <a16:creationId xmlns:a16="http://schemas.microsoft.com/office/drawing/2014/main" id="{A04DBBC6-7932-46BB-9F00-9E1EEDE35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272"/>
              <a:ext cx="336" cy="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1776" name="Text Box 45">
              <a:extLst>
                <a:ext uri="{FF2B5EF4-FFF2-40B4-BE49-F238E27FC236}">
                  <a16:creationId xmlns:a16="http://schemas.microsoft.com/office/drawing/2014/main" id="{D1CBF3CF-E59C-4B50-B0D7-5D21694D2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0">
                  <a:latin typeface="Times New Roman" panose="02020603050405020304" pitchFamily="18" charset="0"/>
                </a:rPr>
                <a:t>headPtr</a:t>
              </a:r>
            </a:p>
          </p:txBody>
        </p:sp>
        <p:sp>
          <p:nvSpPr>
            <p:cNvPr id="31777" name="Line 46">
              <a:extLst>
                <a:ext uri="{FF2B5EF4-FFF2-40B4-BE49-F238E27FC236}">
                  <a16:creationId xmlns:a16="http://schemas.microsoft.com/office/drawing/2014/main" id="{0A6F632C-30CE-40AD-81F7-03E27B0F22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0" y="592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8" name="Oval 47">
              <a:extLst>
                <a:ext uri="{FF2B5EF4-FFF2-40B4-BE49-F238E27FC236}">
                  <a16:creationId xmlns:a16="http://schemas.microsoft.com/office/drawing/2014/main" id="{E9759127-2FCB-4D04-B61C-96B9C66AA3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9" y="4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79" name="Line 48">
              <a:extLst>
                <a:ext uri="{FF2B5EF4-FFF2-40B4-BE49-F238E27FC236}">
                  <a16:creationId xmlns:a16="http://schemas.microsoft.com/office/drawing/2014/main" id="{D3B8E90C-F6E7-49C7-84FD-8478E2038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" y="709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0" name="Oval 49">
              <a:extLst>
                <a:ext uri="{FF2B5EF4-FFF2-40B4-BE49-F238E27FC236}">
                  <a16:creationId xmlns:a16="http://schemas.microsoft.com/office/drawing/2014/main" id="{5936EFAE-2863-409C-89B1-06254D35FA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6" y="84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81" name="Line 50">
              <a:extLst>
                <a:ext uri="{FF2B5EF4-FFF2-40B4-BE49-F238E27FC236}">
                  <a16:creationId xmlns:a16="http://schemas.microsoft.com/office/drawing/2014/main" id="{14468C32-53B7-4DED-8734-807AE13C40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" y="1170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CB7B30B-155F-47E1-B3F8-6C222570DB1F}"/>
              </a:ext>
            </a:extLst>
          </p:cNvPr>
          <p:cNvGrpSpPr/>
          <p:nvPr/>
        </p:nvGrpSpPr>
        <p:grpSpPr>
          <a:xfrm>
            <a:off x="1115616" y="1268760"/>
            <a:ext cx="5616575" cy="1946275"/>
            <a:chOff x="2124075" y="1989138"/>
            <a:chExt cx="5616575" cy="1946275"/>
          </a:xfrm>
        </p:grpSpPr>
        <p:grpSp>
          <p:nvGrpSpPr>
            <p:cNvPr id="31749" name="Group 5">
              <a:extLst>
                <a:ext uri="{FF2B5EF4-FFF2-40B4-BE49-F238E27FC236}">
                  <a16:creationId xmlns:a16="http://schemas.microsoft.com/office/drawing/2014/main" id="{F506C2D4-44E4-470A-A3B9-530B36FADB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9638" y="3144838"/>
              <a:ext cx="990600" cy="466725"/>
              <a:chOff x="0" y="0"/>
              <a:chExt cx="624" cy="294"/>
            </a:xfrm>
          </p:grpSpPr>
          <p:sp>
            <p:nvSpPr>
              <p:cNvPr id="31790" name="Text Box 6">
                <a:extLst>
                  <a:ext uri="{FF2B5EF4-FFF2-40B4-BE49-F238E27FC236}">
                    <a16:creationId xmlns:a16="http://schemas.microsoft.com/office/drawing/2014/main" id="{A5084F08-808A-4E68-BC72-5F88F0CAF3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     </a:t>
                </a:r>
              </a:p>
            </p:txBody>
          </p:sp>
          <p:sp>
            <p:nvSpPr>
              <p:cNvPr id="31791" name="Line 7">
                <a:extLst>
                  <a:ext uri="{FF2B5EF4-FFF2-40B4-BE49-F238E27FC236}">
                    <a16:creationId xmlns:a16="http://schemas.microsoft.com/office/drawing/2014/main" id="{0670090F-C845-49F9-9236-318C3300F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50" name="Group 8">
              <a:extLst>
                <a:ext uri="{FF2B5EF4-FFF2-40B4-BE49-F238E27FC236}">
                  <a16:creationId xmlns:a16="http://schemas.microsoft.com/office/drawing/2014/main" id="{33F95767-0A99-4A6D-A2A8-E2CDA5CF9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2375" y="3144838"/>
              <a:ext cx="990600" cy="466725"/>
              <a:chOff x="0" y="0"/>
              <a:chExt cx="624" cy="294"/>
            </a:xfrm>
          </p:grpSpPr>
          <p:sp>
            <p:nvSpPr>
              <p:cNvPr id="31788" name="Text Box 9">
                <a:extLst>
                  <a:ext uri="{FF2B5EF4-FFF2-40B4-BE49-F238E27FC236}">
                    <a16:creationId xmlns:a16="http://schemas.microsoft.com/office/drawing/2014/main" id="{D1AEBAC4-FEA6-489D-BA0C-503C600620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1 </a:t>
                </a:r>
              </a:p>
            </p:txBody>
          </p:sp>
          <p:sp>
            <p:nvSpPr>
              <p:cNvPr id="31789" name="Line 10">
                <a:extLst>
                  <a:ext uri="{FF2B5EF4-FFF2-40B4-BE49-F238E27FC236}">
                    <a16:creationId xmlns:a16="http://schemas.microsoft.com/office/drawing/2014/main" id="{B48C5D71-5633-4270-8AD0-97A9BCA741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51" name="Group 11">
              <a:extLst>
                <a:ext uri="{FF2B5EF4-FFF2-40B4-BE49-F238E27FC236}">
                  <a16:creationId xmlns:a16="http://schemas.microsoft.com/office/drawing/2014/main" id="{9B664557-FBAA-4F35-9EF7-F374EF693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1638" y="3340100"/>
              <a:ext cx="838200" cy="76200"/>
              <a:chOff x="0" y="0"/>
              <a:chExt cx="528" cy="48"/>
            </a:xfrm>
          </p:grpSpPr>
          <p:sp>
            <p:nvSpPr>
              <p:cNvPr id="31786" name="Line 12">
                <a:extLst>
                  <a:ext uri="{FF2B5EF4-FFF2-40B4-BE49-F238E27FC236}">
                    <a16:creationId xmlns:a16="http://schemas.microsoft.com/office/drawing/2014/main" id="{45CED886-34E4-4CED-AB35-77E8F0F0E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7" name="Oval 13">
                <a:extLst>
                  <a:ext uri="{FF2B5EF4-FFF2-40B4-BE49-F238E27FC236}">
                    <a16:creationId xmlns:a16="http://schemas.microsoft.com/office/drawing/2014/main" id="{B2C11C3E-D0CF-43A3-8A87-A97C20C25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752" name="Text Box 14">
              <a:extLst>
                <a:ext uri="{FF2B5EF4-FFF2-40B4-BE49-F238E27FC236}">
                  <a16:creationId xmlns:a16="http://schemas.microsoft.com/office/drawing/2014/main" id="{EB4546D8-D6D9-4132-84D1-68B6A096D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438" y="2497138"/>
              <a:ext cx="533400" cy="4683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1753" name="Text Box 15">
              <a:extLst>
                <a:ext uri="{FF2B5EF4-FFF2-40B4-BE49-F238E27FC236}">
                  <a16:creationId xmlns:a16="http://schemas.microsoft.com/office/drawing/2014/main" id="{27DDA8A2-B63C-4BB5-84BA-6C264BE54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075" y="2065338"/>
              <a:ext cx="1219200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0">
                  <a:latin typeface="Times New Roman" panose="02020603050405020304" pitchFamily="18" charset="0"/>
                </a:rPr>
                <a:t>headPtr</a:t>
              </a:r>
            </a:p>
          </p:txBody>
        </p:sp>
        <p:sp>
          <p:nvSpPr>
            <p:cNvPr id="31754" name="Oval 16">
              <a:extLst>
                <a:ext uri="{FF2B5EF4-FFF2-40B4-BE49-F238E27FC236}">
                  <a16:creationId xmlns:a16="http://schemas.microsoft.com/office/drawing/2014/main" id="{1C7E0461-C5AC-423F-BCB4-7ACB58B85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2749550"/>
              <a:ext cx="76200" cy="841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55" name="Line 17">
              <a:extLst>
                <a:ext uri="{FF2B5EF4-FFF2-40B4-BE49-F238E27FC236}">
                  <a16:creationId xmlns:a16="http://schemas.microsoft.com/office/drawing/2014/main" id="{1F593168-F635-4FF8-93EC-8E1EFF715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375" y="2784475"/>
              <a:ext cx="0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6" name="Line 18">
              <a:extLst>
                <a:ext uri="{FF2B5EF4-FFF2-40B4-BE49-F238E27FC236}">
                  <a16:creationId xmlns:a16="http://schemas.microsoft.com/office/drawing/2014/main" id="{BC62ED7A-6A1D-4D3D-9D2A-AD1478F90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775" y="3360738"/>
              <a:ext cx="647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Text Box 19">
              <a:extLst>
                <a:ext uri="{FF2B5EF4-FFF2-40B4-BE49-F238E27FC236}">
                  <a16:creationId xmlns:a16="http://schemas.microsoft.com/office/drawing/2014/main" id="{BA12167F-3B04-423E-9AAF-0C4502451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588" y="3144838"/>
              <a:ext cx="9906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7     </a:t>
              </a:r>
            </a:p>
          </p:txBody>
        </p:sp>
        <p:sp>
          <p:nvSpPr>
            <p:cNvPr id="31758" name="Line 20">
              <a:extLst>
                <a:ext uri="{FF2B5EF4-FFF2-40B4-BE49-F238E27FC236}">
                  <a16:creationId xmlns:a16="http://schemas.microsoft.com/office/drawing/2014/main" id="{D055BA02-7F40-4CCE-B7ED-CC77C67C9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1538" y="314483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Line 22">
              <a:extLst>
                <a:ext uri="{FF2B5EF4-FFF2-40B4-BE49-F238E27FC236}">
                  <a16:creationId xmlns:a16="http://schemas.microsoft.com/office/drawing/2014/main" id="{1017DA6E-BE80-49AF-8E82-B604E169C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3425" y="3392488"/>
              <a:ext cx="342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Oval 23">
              <a:extLst>
                <a:ext uri="{FF2B5EF4-FFF2-40B4-BE49-F238E27FC236}">
                  <a16:creationId xmlns:a16="http://schemas.microsoft.com/office/drawing/2014/main" id="{A4C4FE6C-E8B2-4019-806F-E3C450925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8500" y="3360738"/>
              <a:ext cx="34925" cy="730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61" name="Line 24">
              <a:extLst>
                <a:ext uri="{FF2B5EF4-FFF2-40B4-BE49-F238E27FC236}">
                  <a16:creationId xmlns:a16="http://schemas.microsoft.com/office/drawing/2014/main" id="{D8D32F4F-E8B2-4A1C-BFD1-D5E35D3EB5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85819" y="3625056"/>
              <a:ext cx="568325" cy="42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2" name="Line 26">
              <a:extLst>
                <a:ext uri="{FF2B5EF4-FFF2-40B4-BE49-F238E27FC236}">
                  <a16:creationId xmlns:a16="http://schemas.microsoft.com/office/drawing/2014/main" id="{B91D779A-E119-4FC3-8730-280E03FA73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635375" y="3933825"/>
              <a:ext cx="38671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3" name="Line 27">
              <a:extLst>
                <a:ext uri="{FF2B5EF4-FFF2-40B4-BE49-F238E27FC236}">
                  <a16:creationId xmlns:a16="http://schemas.microsoft.com/office/drawing/2014/main" id="{8364A713-C927-48E5-8669-6D56B6D00B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75037" y="3773488"/>
              <a:ext cx="320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4" name="Text Box 32">
              <a:extLst>
                <a:ext uri="{FF2B5EF4-FFF2-40B4-BE49-F238E27FC236}">
                  <a16:creationId xmlns:a16="http://schemas.microsoft.com/office/drawing/2014/main" id="{7774FE4A-A45E-4C4B-9B3C-7E7101F75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350" y="3073400"/>
              <a:ext cx="574675" cy="457200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1765" name="Oval 33">
              <a:extLst>
                <a:ext uri="{FF2B5EF4-FFF2-40B4-BE49-F238E27FC236}">
                  <a16:creationId xmlns:a16="http://schemas.microsoft.com/office/drawing/2014/main" id="{627C9BCC-B604-4502-8CED-3FB2F212B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3362325"/>
              <a:ext cx="73025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>
              <a:prstShdw prst="shdw17" dist="17961" dir="13500000">
                <a:srgbClr val="007A5C"/>
              </a:prst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89117" name="Group 35">
              <a:extLst>
                <a:ext uri="{FF2B5EF4-FFF2-40B4-BE49-F238E27FC236}">
                  <a16:creationId xmlns:a16="http://schemas.microsoft.com/office/drawing/2014/main" id="{3C490C4A-091B-49D1-A304-C2D7FF5D3E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1450" y="1989138"/>
              <a:ext cx="1219200" cy="1155700"/>
              <a:chOff x="0" y="0"/>
              <a:chExt cx="768" cy="728"/>
            </a:xfrm>
          </p:grpSpPr>
          <p:sp>
            <p:nvSpPr>
              <p:cNvPr id="31782" name="Text Box 36">
                <a:extLst>
                  <a:ext uri="{FF2B5EF4-FFF2-40B4-BE49-F238E27FC236}">
                    <a16:creationId xmlns:a16="http://schemas.microsoft.com/office/drawing/2014/main" id="{FE7DDA83-0233-4C83-A3D1-FA5698F9E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" y="272"/>
                <a:ext cx="336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83" name="Text Box 37">
                <a:extLst>
                  <a:ext uri="{FF2B5EF4-FFF2-40B4-BE49-F238E27FC236}">
                    <a16:creationId xmlns:a16="http://schemas.microsoft.com/office/drawing/2014/main" id="{ECB70D1D-AAD2-4B0F-BDD4-A822E22C9E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6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200" b="0">
                    <a:latin typeface="Times New Roman" panose="02020603050405020304" pitchFamily="18" charset="0"/>
                  </a:rPr>
                  <a:t>lastPtr</a:t>
                </a:r>
              </a:p>
            </p:txBody>
          </p:sp>
          <p:sp>
            <p:nvSpPr>
              <p:cNvPr id="31784" name="Line 38">
                <a:extLst>
                  <a:ext uri="{FF2B5EF4-FFF2-40B4-BE49-F238E27FC236}">
                    <a16:creationId xmlns:a16="http://schemas.microsoft.com/office/drawing/2014/main" id="{AE3298CE-94C9-4ACD-AEFE-C50F068C4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60" y="59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5" name="Oval 39">
                <a:extLst>
                  <a:ext uri="{FF2B5EF4-FFF2-40B4-BE49-F238E27FC236}">
                    <a16:creationId xmlns:a16="http://schemas.microsoft.com/office/drawing/2014/main" id="{4BD21BE2-24F1-46B2-88A7-7FDAF2430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69" y="4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771" name="Line 54">
              <a:extLst>
                <a:ext uri="{FF2B5EF4-FFF2-40B4-BE49-F238E27FC236}">
                  <a16:creationId xmlns:a16="http://schemas.microsoft.com/office/drawing/2014/main" id="{E2E6E809-A346-4F2D-AD73-C84484CAA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2725" y="3400425"/>
              <a:ext cx="198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723625C3-03D7-4FFC-99D4-098A9580F76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8DA8D2C9-577C-4FC8-BE88-12F9D3BA3484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962409F-4904-401B-9A21-B504408CC6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环形链表的尾</a:t>
            </a:r>
            <a:r>
              <a:rPr lang="zh-CN" altLang="en-US" b="1" dirty="0" smtClean="0"/>
              <a:t>插结点</a:t>
            </a:r>
            <a:endParaRPr lang="zh-CN" altLang="en-US" b="1" dirty="0"/>
          </a:p>
        </p:txBody>
      </p: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E3B36769-FEF7-4D33-B949-923632AF513B}"/>
              </a:ext>
            </a:extLst>
          </p:cNvPr>
          <p:cNvSpPr txBox="1">
            <a:spLocks/>
          </p:cNvSpPr>
          <p:nvPr/>
        </p:nvSpPr>
        <p:spPr>
          <a:xfrm>
            <a:off x="539552" y="1196752"/>
            <a:ext cx="8352928" cy="4611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b="0" dirty="0"/>
              <a:t>/*</a:t>
            </a:r>
            <a:r>
              <a:rPr lang="zh-CN" altLang="en-US" sz="2000" b="0" dirty="0"/>
              <a:t>把一个新值插入到</a:t>
            </a:r>
            <a:r>
              <a:rPr lang="zh-CN" altLang="en-US" sz="2000" dirty="0"/>
              <a:t>环形</a:t>
            </a:r>
            <a:r>
              <a:rPr lang="zh-CN" altLang="en-US" sz="2000" b="0" dirty="0"/>
              <a:t>链表尾部，利用尾指针*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void insertCirEnd2 (</a:t>
            </a:r>
            <a:r>
              <a:rPr lang="en-US" altLang="zh-CN" sz="2000" b="0" dirty="0">
                <a:solidFill>
                  <a:srgbClr val="FF0000"/>
                </a:solidFill>
              </a:rPr>
              <a:t>LISTNODEPTR * </a:t>
            </a:r>
            <a:r>
              <a:rPr lang="en-US" altLang="zh-CN" sz="2000" b="0" dirty="0" err="1"/>
              <a:t>lastPtrPtr</a:t>
            </a:r>
            <a:r>
              <a:rPr lang="en-US" altLang="zh-CN" sz="2000" b="0" dirty="0"/>
              <a:t> , </a:t>
            </a:r>
            <a:r>
              <a:rPr lang="en-US" altLang="zh-CN" sz="2000" b="0" dirty="0" err="1"/>
              <a:t>ElementType</a:t>
            </a:r>
            <a:r>
              <a:rPr lang="en-US" altLang="zh-CN" sz="2000" b="0" dirty="0"/>
              <a:t> value){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LISTNODEPTR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/*</a:t>
            </a:r>
            <a:r>
              <a:rPr lang="zh-CN" altLang="en-US" sz="2000" b="0" dirty="0"/>
              <a:t>动态分配</a:t>
            </a:r>
            <a:r>
              <a:rPr lang="zh-CN" altLang="en-US" sz="2000" b="0" dirty="0" smtClean="0"/>
              <a:t>新结点，</a:t>
            </a:r>
            <a:r>
              <a:rPr lang="zh-CN" altLang="en-US" sz="2000" b="0" dirty="0"/>
              <a:t>将新值存入*</a:t>
            </a:r>
            <a:r>
              <a:rPr lang="en-US" altLang="zh-CN" sz="2000" b="0" dirty="0"/>
              <a:t>/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= malloc(</a:t>
            </a:r>
            <a:r>
              <a:rPr lang="en-US" altLang="zh-CN" sz="2000" b="0" dirty="0" err="1"/>
              <a:t>sizeof</a:t>
            </a:r>
            <a:r>
              <a:rPr lang="en-US" altLang="zh-CN" sz="2000" b="0" dirty="0"/>
              <a:t>(LISTNODE));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if (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!= NULL){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-&gt;data = value;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</a:t>
            </a:r>
            <a:r>
              <a:rPr lang="en-US" altLang="zh-CN" sz="2000" b="0" dirty="0">
                <a:solidFill>
                  <a:srgbClr val="FF0000"/>
                </a:solidFill>
              </a:rPr>
              <a:t>(*</a:t>
            </a:r>
            <a:r>
              <a:rPr lang="en-US" altLang="zh-CN" sz="2000" b="0" dirty="0" err="1">
                <a:solidFill>
                  <a:srgbClr val="FF0000"/>
                </a:solidFill>
              </a:rPr>
              <a:t>lastPtrPtr</a:t>
            </a:r>
            <a:r>
              <a:rPr lang="en-US" altLang="zh-CN" sz="2000" b="0" dirty="0">
                <a:solidFill>
                  <a:srgbClr val="FF0000"/>
                </a:solidFill>
              </a:rPr>
              <a:t>)-&gt;</a:t>
            </a:r>
            <a:r>
              <a:rPr lang="en-US" altLang="zh-CN" sz="2000" b="0" dirty="0" err="1">
                <a:solidFill>
                  <a:srgbClr val="FF0000"/>
                </a:solidFill>
              </a:rPr>
              <a:t>nextPtr</a:t>
            </a:r>
            <a:r>
              <a:rPr lang="en-US" altLang="zh-CN" sz="2000" b="0" dirty="0">
                <a:solidFill>
                  <a:srgbClr val="FF0000"/>
                </a:solidFill>
              </a:rPr>
              <a:t> 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/*</a:t>
            </a:r>
            <a:r>
              <a:rPr lang="zh-CN" altLang="en-US" sz="2000" b="0" dirty="0"/>
              <a:t>直接在</a:t>
            </a:r>
            <a:r>
              <a:rPr lang="zh-CN" altLang="en-US" sz="2000" b="0" dirty="0" smtClean="0"/>
              <a:t>尾结点后</a:t>
            </a:r>
            <a:r>
              <a:rPr lang="zh-CN" altLang="en-US" sz="2000" b="0" dirty="0"/>
              <a:t>链接</a:t>
            </a:r>
            <a:r>
              <a:rPr lang="zh-CN" altLang="en-US" sz="2000" b="0" dirty="0" smtClean="0"/>
              <a:t>新结点*</a:t>
            </a:r>
            <a:r>
              <a:rPr lang="en-US" altLang="zh-CN" sz="2000" b="0" dirty="0" smtClean="0"/>
              <a:t>/</a:t>
            </a:r>
            <a:endParaRPr lang="en-US" altLang="zh-CN" sz="2000" b="0" dirty="0"/>
          </a:p>
          <a:p>
            <a:pPr marL="0" indent="0">
              <a:buFontTx/>
              <a:buNone/>
            </a:pPr>
            <a:r>
              <a:rPr lang="en-US" altLang="zh-CN" sz="2000" b="0" dirty="0"/>
              <a:t>		(*</a:t>
            </a:r>
            <a:r>
              <a:rPr lang="en-US" altLang="zh-CN" sz="2000" b="0" dirty="0" err="1"/>
              <a:t>lastPtrPtr</a:t>
            </a:r>
            <a:r>
              <a:rPr lang="en-US" altLang="zh-CN" sz="2000" b="0" dirty="0"/>
              <a:t>)-&gt;</a:t>
            </a:r>
            <a:r>
              <a:rPr lang="en-US" altLang="zh-CN" sz="2000" b="0" dirty="0" err="1"/>
              <a:t>nextPtr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 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	*</a:t>
            </a:r>
            <a:r>
              <a:rPr lang="en-US" altLang="zh-CN" sz="2000" b="0" dirty="0" err="1"/>
              <a:t>lastPtrPtr</a:t>
            </a:r>
            <a:r>
              <a:rPr lang="en-US" altLang="zh-CN" sz="2000" b="0" dirty="0"/>
              <a:t> = </a:t>
            </a:r>
            <a:r>
              <a:rPr lang="en-US" altLang="zh-CN" sz="2000" b="0" dirty="0" err="1"/>
              <a:t>newPtr</a:t>
            </a:r>
            <a:r>
              <a:rPr lang="en-US" altLang="zh-CN" sz="2000" b="0" dirty="0"/>
              <a:t>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}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else 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	    </a:t>
            </a:r>
            <a:r>
              <a:rPr lang="en-US" altLang="zh-CN" sz="2000" b="0" dirty="0" err="1"/>
              <a:t>printf</a:t>
            </a:r>
            <a:r>
              <a:rPr lang="en-US" altLang="zh-CN" sz="2000" b="0" dirty="0"/>
              <a:t>("Not inserted. No memory </a:t>
            </a:r>
            <a:r>
              <a:rPr lang="en-US" altLang="zh-CN" sz="2000" b="0" dirty="0" err="1"/>
              <a:t>avaliable</a:t>
            </a:r>
            <a:r>
              <a:rPr lang="en-US" altLang="zh-CN" sz="2000" b="0" dirty="0"/>
              <a:t>.\n");</a:t>
            </a:r>
          </a:p>
          <a:p>
            <a:pPr marL="0" indent="0">
              <a:buFontTx/>
              <a:buNone/>
            </a:pPr>
            <a:r>
              <a:rPr lang="en-US" altLang="zh-CN" sz="2000" b="0" dirty="0"/>
              <a:t>}</a:t>
            </a:r>
          </a:p>
          <a:p>
            <a:pPr marL="0" indent="0">
              <a:buFontTx/>
              <a:buNone/>
            </a:pP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51717077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BC5AA-AE95-4193-8BDE-39AF85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约瑟夫问题的主程序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56289-5129-498F-9533-8374CA36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#define N 6</a:t>
            </a:r>
          </a:p>
          <a:p>
            <a:pPr marL="0" indent="0">
              <a:buNone/>
            </a:pPr>
            <a:r>
              <a:rPr lang="en-US" altLang="zh-CN" sz="2000" dirty="0"/>
              <a:t>#define M 4</a:t>
            </a:r>
          </a:p>
          <a:p>
            <a:pPr marL="0" indent="0">
              <a:buNone/>
            </a:pPr>
            <a:r>
              <a:rPr lang="en-US" altLang="zh-CN" sz="2000" dirty="0"/>
              <a:t>int main(){</a:t>
            </a:r>
          </a:p>
          <a:p>
            <a:pPr marL="0" indent="0">
              <a:buNone/>
            </a:pPr>
            <a:r>
              <a:rPr lang="en-US" altLang="zh-CN" sz="2000" dirty="0"/>
              <a:t>	LISTNODEPTR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 = NULL,</a:t>
            </a:r>
            <a:r>
              <a:rPr lang="zh-CN" altLang="en-US" sz="2000" dirty="0"/>
              <a:t> </a:t>
            </a:r>
            <a:r>
              <a:rPr lang="en-US" altLang="zh-CN" sz="2000" dirty="0" err="1"/>
              <a:t>lastPtr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NULL;</a:t>
            </a:r>
          </a:p>
          <a:p>
            <a:pPr marL="0" indent="0">
              <a:buNone/>
            </a:pPr>
            <a:r>
              <a:rPr lang="en-US" altLang="zh-CN" sz="2000" dirty="0"/>
              <a:t>	/</a:t>
            </a:r>
            <a:r>
              <a:rPr lang="zh-CN" altLang="en-US" sz="2000" dirty="0"/>
              <a:t>*预备</a:t>
            </a:r>
            <a:r>
              <a:rPr lang="zh-CN" altLang="en-US" sz="2000" dirty="0" smtClean="0"/>
              <a:t>空结点和</a:t>
            </a:r>
            <a:r>
              <a:rPr lang="zh-CN" altLang="en-US" sz="2000" dirty="0"/>
              <a:t>尾指针*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 =malloc(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(LISTNODE));</a:t>
            </a:r>
          </a:p>
          <a:p>
            <a:pPr marL="0" indent="0">
              <a:buNone/>
            </a:pPr>
            <a:r>
              <a:rPr lang="en-US" altLang="zh-CN" sz="2000" dirty="0"/>
              <a:t>	if (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 != NULL){</a:t>
            </a:r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</a:t>
            </a:r>
            <a:r>
              <a:rPr lang="en-US" altLang="zh-CN" sz="2000" dirty="0" err="1">
                <a:solidFill>
                  <a:srgbClr val="FF0000"/>
                </a:solidFill>
              </a:rPr>
              <a:t>headPtr</a:t>
            </a:r>
            <a:r>
              <a:rPr lang="en-US" altLang="zh-CN" sz="2000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lastPtr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; /*</a:t>
            </a:r>
            <a:r>
              <a:rPr lang="zh-CN" altLang="en-US" sz="2000" dirty="0"/>
              <a:t>尾指针初始指向</a:t>
            </a:r>
            <a:r>
              <a:rPr lang="zh-CN" altLang="en-US" sz="2000" dirty="0" smtClean="0"/>
              <a:t>空结点</a:t>
            </a:r>
            <a:r>
              <a:rPr lang="en-US" altLang="zh-CN" sz="2000" dirty="0" smtClean="0"/>
              <a:t>*/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} </a:t>
            </a:r>
          </a:p>
          <a:p>
            <a:pPr marL="0" indent="0">
              <a:buNone/>
            </a:pPr>
            <a:r>
              <a:rPr lang="en-US" altLang="zh-CN" sz="2000" dirty="0"/>
              <a:t>	else {</a:t>
            </a:r>
          </a:p>
          <a:p>
            <a:pPr marL="0" indent="0">
              <a:buNone/>
            </a:pPr>
            <a:r>
              <a:rPr lang="en-US" altLang="zh-CN" sz="2000" dirty="0"/>
              <a:t>	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("List not </a:t>
            </a:r>
            <a:r>
              <a:rPr lang="en-US" altLang="zh-CN" sz="2000" dirty="0" err="1"/>
              <a:t>ctreated</a:t>
            </a:r>
            <a:r>
              <a:rPr lang="en-US" altLang="zh-CN" sz="2000" dirty="0"/>
              <a:t>. No memory </a:t>
            </a:r>
            <a:r>
              <a:rPr lang="en-US" altLang="zh-CN" sz="2000" dirty="0" err="1"/>
              <a:t>avaliable</a:t>
            </a:r>
            <a:r>
              <a:rPr lang="en-US" altLang="zh-CN" sz="2000" dirty="0"/>
              <a:t>.\n\n");</a:t>
            </a:r>
          </a:p>
          <a:p>
            <a:pPr marL="0" indent="0">
              <a:buNone/>
            </a:pPr>
            <a:r>
              <a:rPr lang="en-US" altLang="zh-CN" sz="2000" dirty="0"/>
              <a:t>	     exit(-1);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60423571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BC5AA-AE95-4193-8BDE-39AF85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约瑟夫问题的主程序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56289-5129-498F-9533-8374CA363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269554"/>
            <a:ext cx="7772400" cy="496775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	/*</a:t>
            </a:r>
            <a:r>
              <a:rPr lang="zh-CN" altLang="en-US" sz="2000" dirty="0"/>
              <a:t>调用尾插函数建立</a:t>
            </a:r>
            <a:r>
              <a:rPr lang="en-US" altLang="zh-CN" sz="2000" dirty="0"/>
              <a:t>N</a:t>
            </a:r>
            <a:r>
              <a:rPr lang="zh-CN" altLang="en-US" sz="2000" dirty="0" smtClean="0"/>
              <a:t>个结点的</a:t>
            </a:r>
            <a:r>
              <a:rPr lang="zh-CN" altLang="en-US" sz="2000" dirty="0"/>
              <a:t>环形链表</a:t>
            </a:r>
            <a:r>
              <a:rPr lang="en-US" altLang="zh-CN" sz="2000" dirty="0"/>
              <a:t>*/</a:t>
            </a:r>
          </a:p>
          <a:p>
            <a:pPr marL="0" indent="0">
              <a:buNone/>
            </a:pPr>
            <a:r>
              <a:rPr lang="en-US" altLang="zh-CN" sz="2000" dirty="0"/>
              <a:t>	for 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=1;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&lt;=N;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</a:t>
            </a:r>
          </a:p>
          <a:p>
            <a:pPr marL="0" indent="0">
              <a:buNone/>
            </a:pPr>
            <a:r>
              <a:rPr lang="en-US" altLang="zh-CN" sz="2000" dirty="0"/>
              <a:t>		insertCirEnd2(&amp;</a:t>
            </a:r>
            <a:r>
              <a:rPr lang="en-US" altLang="zh-CN" sz="2000" dirty="0" err="1"/>
              <a:t>lastPtr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);  </a:t>
            </a:r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printCirList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);           </a:t>
            </a:r>
          </a:p>
          <a:p>
            <a:pPr marL="0" indent="0">
              <a:buNone/>
            </a:pPr>
            <a:r>
              <a:rPr lang="en-US" altLang="zh-CN" sz="2000" dirty="0"/>
              <a:t>	/*</a:t>
            </a:r>
            <a:r>
              <a:rPr lang="zh-CN" altLang="en-US" sz="2000" dirty="0"/>
              <a:t>遍历链表，第</a:t>
            </a:r>
            <a:r>
              <a:rPr lang="en-US" altLang="zh-CN" sz="2000" dirty="0"/>
              <a:t>M</a:t>
            </a:r>
            <a:r>
              <a:rPr lang="zh-CN" altLang="en-US" sz="2000" dirty="0" smtClean="0"/>
              <a:t>个结点删除</a:t>
            </a:r>
            <a:r>
              <a:rPr lang="zh-CN" altLang="en-US" sz="2000" dirty="0"/>
              <a:t>，到</a:t>
            </a:r>
            <a:r>
              <a:rPr lang="zh-CN" altLang="en-US" sz="2000" dirty="0">
                <a:solidFill>
                  <a:srgbClr val="FF0000"/>
                </a:solidFill>
              </a:rPr>
              <a:t>只剩一</a:t>
            </a:r>
            <a:r>
              <a:rPr lang="zh-CN" altLang="en-US" sz="2000" dirty="0" smtClean="0">
                <a:solidFill>
                  <a:srgbClr val="FF0000"/>
                </a:solidFill>
              </a:rPr>
              <a:t>个结点</a:t>
            </a:r>
            <a:r>
              <a:rPr lang="en-US" altLang="zh-CN" sz="2000" dirty="0" smtClean="0"/>
              <a:t>*/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 LISTNODEPTR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,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 ;</a:t>
            </a:r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	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for ( int j=1; j &lt;= (N-1)*M; </a:t>
            </a:r>
            <a:r>
              <a:rPr lang="en-US" altLang="zh-CN" sz="2000" dirty="0" err="1"/>
              <a:t>j++</a:t>
            </a:r>
            <a:r>
              <a:rPr lang="en-US" altLang="zh-CN" sz="2000" dirty="0"/>
              <a:t>){</a:t>
            </a:r>
          </a:p>
          <a:p>
            <a:pPr marL="0" indent="0">
              <a:buNone/>
            </a:pPr>
            <a:r>
              <a:rPr lang="en-US" altLang="zh-CN" sz="2000" dirty="0"/>
              <a:t>		/*</a:t>
            </a:r>
            <a:r>
              <a:rPr lang="zh-CN" altLang="en-US" sz="2000" dirty="0"/>
              <a:t>遇到</a:t>
            </a:r>
            <a:r>
              <a:rPr lang="zh-CN" altLang="en-US" sz="2000" dirty="0" smtClean="0"/>
              <a:t>空结点则</a:t>
            </a:r>
            <a:r>
              <a:rPr lang="zh-CN" altLang="en-US" sz="2000" dirty="0"/>
              <a:t>跳过*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		if (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== 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){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	}</a:t>
            </a:r>
          </a:p>
          <a:p>
            <a:pPr marL="0" indent="0"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92957371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BC5AA-AE95-4193-8BDE-39AF85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约瑟夫问题的主程序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56289-5129-498F-9533-8374CA363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230771"/>
            <a:ext cx="8676456" cy="439645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		if ( </a:t>
            </a:r>
            <a:r>
              <a:rPr lang="en-US" altLang="zh-CN" sz="2000" dirty="0" err="1"/>
              <a:t>j%M</a:t>
            </a:r>
            <a:r>
              <a:rPr lang="en-US" altLang="zh-CN" sz="2000" dirty="0"/>
              <a:t> == 0 ){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 "j=%</a:t>
            </a:r>
            <a:r>
              <a:rPr lang="en-US" altLang="zh-CN" sz="2000" dirty="0" err="1"/>
              <a:t>d,delete</a:t>
            </a:r>
            <a:r>
              <a:rPr lang="en-US" altLang="zh-CN" sz="2000" dirty="0"/>
              <a:t> %d\n",</a:t>
            </a:r>
            <a:r>
              <a:rPr lang="en-US" altLang="zh-CN" sz="2000" dirty="0" err="1"/>
              <a:t>j,currentPtr</a:t>
            </a:r>
            <a:r>
              <a:rPr lang="en-US" altLang="zh-CN" sz="2000" dirty="0"/>
              <a:t>-&gt;data);</a:t>
            </a:r>
          </a:p>
          <a:p>
            <a:pPr marL="0" indent="0">
              <a:buNone/>
            </a:pPr>
            <a:r>
              <a:rPr lang="en-US" altLang="zh-CN" sz="2000" dirty="0"/>
              <a:t>			free(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);		</a:t>
            </a:r>
            <a:r>
              <a:rPr lang="en-US" altLang="zh-CN" sz="2000" dirty="0" err="1"/>
              <a:t>printCirList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);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	} else {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previousPtr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currentPtr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nextPtr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		}</a:t>
            </a:r>
          </a:p>
          <a:p>
            <a:pPr marL="0" indent="0">
              <a:buNone/>
            </a:pPr>
            <a:r>
              <a:rPr lang="en-US" altLang="zh-CN" sz="2000" dirty="0"/>
              <a:t>	}</a:t>
            </a:r>
          </a:p>
          <a:p>
            <a:pPr marL="0" indent="0">
              <a:buNone/>
            </a:pPr>
            <a:r>
              <a:rPr lang="en-US" altLang="zh-CN" sz="2000" dirty="0"/>
              <a:t>	/*</a:t>
            </a:r>
            <a:r>
              <a:rPr lang="zh-CN" altLang="en-US" sz="2000" dirty="0"/>
              <a:t>打印剩下的环形链表*</a:t>
            </a:r>
            <a:r>
              <a:rPr lang="en-US" altLang="zh-CN" sz="2000" dirty="0"/>
              <a:t>/	</a:t>
            </a:r>
            <a:r>
              <a:rPr lang="en-US" altLang="zh-CN" sz="2000" dirty="0" err="1"/>
              <a:t>printCirList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);           </a:t>
            </a:r>
          </a:p>
          <a:p>
            <a:pPr marL="0" indent="0">
              <a:buNone/>
            </a:pPr>
            <a:r>
              <a:rPr lang="en-US" altLang="zh-CN" sz="2000" dirty="0"/>
              <a:t>	/*</a:t>
            </a:r>
            <a:r>
              <a:rPr lang="zh-CN" altLang="en-US" sz="2000" dirty="0"/>
              <a:t>销毁链表*</a:t>
            </a:r>
            <a:r>
              <a:rPr lang="en-US" altLang="zh-CN" sz="2000" dirty="0"/>
              <a:t>/	</a:t>
            </a:r>
            <a:r>
              <a:rPr lang="en-US" altLang="zh-CN" sz="2000" dirty="0" err="1"/>
              <a:t>destroyCirList</a:t>
            </a:r>
            <a:r>
              <a:rPr lang="en-US" altLang="zh-CN" sz="2000" dirty="0"/>
              <a:t>(&amp;</a:t>
            </a:r>
            <a:r>
              <a:rPr lang="en-US" altLang="zh-CN" sz="2000" dirty="0" err="1"/>
              <a:t>headPtr</a:t>
            </a:r>
            <a:r>
              <a:rPr lang="en-US" altLang="zh-CN" sz="2000" dirty="0"/>
              <a:t>);           </a:t>
            </a:r>
          </a:p>
          <a:p>
            <a:pPr marL="0" indent="0">
              <a:buNone/>
            </a:pPr>
            <a:r>
              <a:rPr lang="en-US" altLang="zh-CN" sz="2000" dirty="0"/>
              <a:t>	return 0;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174186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D7EEBF11-7A5C-4A2F-9213-873287D1403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5E429960-A614-4024-8390-5A9D73F6BFC0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50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568" name="Text Box 45">
            <a:extLst>
              <a:ext uri="{FF2B5EF4-FFF2-40B4-BE49-F238E27FC236}">
                <a16:creationId xmlns:a16="http://schemas.microsoft.com/office/drawing/2014/main" id="{0A0C76A9-D115-4BA3-B78E-4A48B4C92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04813"/>
            <a:ext cx="57800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遍历环形链表</a:t>
            </a: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DA6271E2-8A51-4A56-97D1-DFDEAB526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58905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100" b="0" dirty="0"/>
              <a:t>void </a:t>
            </a:r>
            <a:r>
              <a:rPr lang="en-US" altLang="zh-CN" sz="2100" b="0" dirty="0" err="1"/>
              <a:t>printCirList</a:t>
            </a:r>
            <a:r>
              <a:rPr lang="en-US" altLang="zh-CN" sz="2100" b="0" dirty="0"/>
              <a:t>(LISTNODEPTR </a:t>
            </a:r>
            <a:r>
              <a:rPr lang="en-US" altLang="zh-CN" sz="2100" b="0" dirty="0" err="1"/>
              <a:t>headPtr</a:t>
            </a:r>
            <a:r>
              <a:rPr lang="en-US" altLang="zh-CN" sz="2100" b="0" dirty="0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{	LISTNODEPTR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 = </a:t>
            </a:r>
            <a:r>
              <a:rPr lang="en-US" altLang="zh-CN" sz="2100" b="0" dirty="0" err="1"/>
              <a:t>headPtr</a:t>
            </a:r>
            <a:r>
              <a:rPr lang="en-US" altLang="zh-CN" sz="2100" b="0" dirty="0"/>
              <a:t>-&gt;</a:t>
            </a:r>
            <a:r>
              <a:rPr lang="en-US" altLang="zh-CN" sz="2100" b="0" dirty="0" err="1"/>
              <a:t>nextPtr</a:t>
            </a:r>
            <a:r>
              <a:rPr lang="en-US" altLang="zh-CN" sz="2100" b="0" dirty="0"/>
              <a:t>; /*</a:t>
            </a:r>
            <a:r>
              <a:rPr lang="zh-CN" altLang="en-US" sz="2100" b="0" dirty="0"/>
              <a:t>跳过</a:t>
            </a:r>
            <a:r>
              <a:rPr lang="zh-CN" altLang="en-US" sz="2100" b="0" dirty="0" smtClean="0"/>
              <a:t>空结点*</a:t>
            </a:r>
            <a:r>
              <a:rPr lang="en-US" altLang="zh-CN" sz="2100" b="0" dirty="0" smtClean="0"/>
              <a:t>/</a:t>
            </a:r>
            <a:endParaRPr lang="en-US" altLang="zh-CN" sz="2100" b="0" dirty="0"/>
          </a:p>
          <a:p>
            <a:pPr eaLnBrk="1" hangingPunct="1">
              <a:buFontTx/>
              <a:buNone/>
            </a:pPr>
            <a:r>
              <a:rPr lang="en-US" altLang="zh-CN" sz="2100" b="0" dirty="0"/>
              <a:t>    if (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 == NULL)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	   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("List is empty\n");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else{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	   	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("The list is:\n");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	   	while(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 </a:t>
            </a:r>
            <a:r>
              <a:rPr lang="en-US" altLang="zh-CN" sz="2100" b="0" dirty="0">
                <a:solidFill>
                  <a:srgbClr val="FF0000"/>
                </a:solidFill>
              </a:rPr>
              <a:t>!= </a:t>
            </a:r>
            <a:r>
              <a:rPr lang="en-US" altLang="zh-CN" sz="2100" b="0" dirty="0" err="1">
                <a:solidFill>
                  <a:srgbClr val="FF0000"/>
                </a:solidFill>
              </a:rPr>
              <a:t>headPtr</a:t>
            </a:r>
            <a:r>
              <a:rPr lang="en-US" altLang="zh-CN" sz="2100" b="0" dirty="0">
                <a:solidFill>
                  <a:srgbClr val="FF0000"/>
                </a:solidFill>
              </a:rPr>
              <a:t> </a:t>
            </a:r>
            <a:r>
              <a:rPr lang="en-US" altLang="zh-CN" sz="2100" b="0" dirty="0"/>
              <a:t>){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	        	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 "%d--&gt;",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-&gt;data);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        		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 = </a:t>
            </a:r>
            <a:r>
              <a:rPr lang="en-US" altLang="zh-CN" sz="2100" b="0" dirty="0" err="1"/>
              <a:t>currentPtr</a:t>
            </a:r>
            <a:r>
              <a:rPr lang="en-US" altLang="zh-CN" sz="2100" b="0" dirty="0"/>
              <a:t>-&gt;</a:t>
            </a:r>
            <a:r>
              <a:rPr lang="en-US" altLang="zh-CN" sz="2100" b="0" dirty="0" err="1"/>
              <a:t>nextPtr</a:t>
            </a:r>
            <a:r>
              <a:rPr lang="en-US" altLang="zh-CN" sz="21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    	} 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		</a:t>
            </a:r>
            <a:r>
              <a:rPr lang="en-US" altLang="zh-CN" sz="2100" b="0" dirty="0" err="1"/>
              <a:t>printf</a:t>
            </a:r>
            <a:r>
              <a:rPr lang="en-US" altLang="zh-CN" sz="2100" b="0" dirty="0"/>
              <a:t>("END\n\n");   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    	}</a:t>
            </a:r>
          </a:p>
          <a:p>
            <a:pPr eaLnBrk="1" hangingPunct="1">
              <a:buFontTx/>
              <a:buNone/>
            </a:pPr>
            <a:r>
              <a:rPr lang="en-US" altLang="zh-CN" sz="21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933264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1AB0A33C-F828-42C4-9D8C-9B928E4ECB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BBDA696-0D43-4525-A36E-C311F6CF4DE6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51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228BFD4-5A82-486D-98C4-699D08C40C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释放环形链表</a:t>
            </a: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5C637AE9-ABB7-4215-B534-4A1547FB5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268760"/>
            <a:ext cx="8388548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0" dirty="0"/>
              <a:t>void </a:t>
            </a:r>
            <a:r>
              <a:rPr lang="en-US" altLang="zh-CN" sz="2400" b="0" dirty="0" err="1"/>
              <a:t>destroyCirList</a:t>
            </a:r>
            <a:r>
              <a:rPr lang="en-US" altLang="zh-CN" sz="2400" b="0" dirty="0"/>
              <a:t>(LISTNODEPTR * </a:t>
            </a:r>
            <a:r>
              <a:rPr lang="en-US" altLang="zh-CN" sz="2400" b="0" dirty="0" err="1"/>
              <a:t>headPtrPtr</a:t>
            </a:r>
            <a:r>
              <a:rPr lang="en-US" altLang="zh-CN" sz="2400" b="0" dirty="0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LISTNODEPTR </a:t>
            </a:r>
            <a:r>
              <a:rPr lang="en-US" altLang="zh-CN" sz="2400" b="0" dirty="0" err="1"/>
              <a:t>tempPtr</a:t>
            </a:r>
            <a:r>
              <a:rPr lang="en-US" altLang="zh-CN" sz="2400" b="0" dirty="0"/>
              <a:t>,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 = (*</a:t>
            </a:r>
            <a:r>
              <a:rPr lang="en-US" altLang="zh-CN" sz="2400" b="0" dirty="0" err="1"/>
              <a:t>headPtrPtr</a:t>
            </a:r>
            <a:r>
              <a:rPr lang="en-US" altLang="zh-CN" sz="2400" b="0" dirty="0"/>
              <a:t>)-&gt;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while (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 </a:t>
            </a:r>
            <a:r>
              <a:rPr lang="en-US" altLang="zh-CN" sz="2400" b="0" dirty="0">
                <a:solidFill>
                  <a:srgbClr val="FF0000"/>
                </a:solidFill>
              </a:rPr>
              <a:t>!= *</a:t>
            </a:r>
            <a:r>
              <a:rPr lang="en-US" altLang="zh-CN" sz="2400" b="0" dirty="0" err="1">
                <a:solidFill>
                  <a:srgbClr val="FF0000"/>
                </a:solidFill>
              </a:rPr>
              <a:t>headPtrPtr</a:t>
            </a:r>
            <a:r>
              <a:rPr lang="en-US" altLang="zh-CN" sz="2400" b="0" dirty="0">
                <a:solidFill>
                  <a:srgbClr val="FF0000"/>
                </a:solidFill>
              </a:rPr>
              <a:t> </a:t>
            </a:r>
            <a:r>
              <a:rPr lang="en-US" altLang="zh-CN" sz="2400" b="0" dirty="0"/>
              <a:t>){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</a:t>
            </a:r>
            <a:r>
              <a:rPr lang="en-US" altLang="zh-CN" sz="2400" b="0" dirty="0" err="1"/>
              <a:t>tempPtr</a:t>
            </a:r>
            <a:r>
              <a:rPr lang="en-US" altLang="zh-CN" sz="2400" b="0" dirty="0"/>
              <a:t> =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 = </a:t>
            </a:r>
            <a:r>
              <a:rPr lang="en-US" altLang="zh-CN" sz="2400" b="0" dirty="0" err="1"/>
              <a:t>currentPtr</a:t>
            </a:r>
            <a:r>
              <a:rPr lang="en-US" altLang="zh-CN" sz="2400" b="0" dirty="0"/>
              <a:t>-&gt;</a:t>
            </a:r>
            <a:r>
              <a:rPr lang="en-US" altLang="zh-CN" sz="2400" b="0" dirty="0" err="1"/>
              <a:t>nextPtr</a:t>
            </a:r>
            <a:r>
              <a:rPr lang="en-US" altLang="zh-CN" sz="2400" b="0" dirty="0"/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    free(</a:t>
            </a:r>
            <a:r>
              <a:rPr lang="en-US" altLang="zh-CN" sz="2400" b="0" dirty="0" err="1"/>
              <a:t>tempPtr</a:t>
            </a:r>
            <a:r>
              <a:rPr lang="en-US" altLang="zh-CN" sz="2400" b="0" dirty="0"/>
              <a:t>);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}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    free(*</a:t>
            </a:r>
            <a:r>
              <a:rPr lang="en-US" altLang="zh-CN" sz="2400" b="0" dirty="0" err="1"/>
              <a:t>headPtrPtr</a:t>
            </a:r>
            <a:r>
              <a:rPr lang="en-US" altLang="zh-CN" sz="2400" b="0" dirty="0"/>
              <a:t>);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	*</a:t>
            </a:r>
            <a:r>
              <a:rPr lang="en-US" altLang="zh-CN" sz="2400" b="0" dirty="0" err="1"/>
              <a:t>headPtrPtr</a:t>
            </a:r>
            <a:r>
              <a:rPr lang="en-US" altLang="zh-CN" sz="2400" b="0" dirty="0"/>
              <a:t> = NULL; /*</a:t>
            </a:r>
            <a:r>
              <a:rPr lang="zh-CN" altLang="en-US" sz="2400" b="0" dirty="0"/>
              <a:t>被释放链表的头指针应该置为空</a:t>
            </a:r>
            <a:r>
              <a:rPr lang="en-US" altLang="zh-CN" sz="2400" b="0" dirty="0"/>
              <a:t>*/</a:t>
            </a:r>
          </a:p>
          <a:p>
            <a:pPr eaLnBrk="1" hangingPunct="1">
              <a:buFontTx/>
              <a:buNone/>
            </a:pPr>
            <a:r>
              <a:rPr lang="en-US" altLang="zh-CN" sz="24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548364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358DD366-0032-45DF-ADD3-2CB259020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6630CC72-8CF9-43A8-9CE1-E0865BB67DDD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52</a:t>
            </a:fld>
            <a:endParaRPr lang="zh-CN" altLang="en-US" b="0"/>
          </a:p>
        </p:txBody>
      </p:sp>
      <p:pic>
        <p:nvPicPr>
          <p:cNvPr id="28675" name="Object 4">
            <a:extLst>
              <a:ext uri="{FF2B5EF4-FFF2-40B4-BE49-F238E27FC236}">
                <a16:creationId xmlns:a16="http://schemas.microsoft.com/office/drawing/2014/main" id="{4F04C0CD-4ACD-4AB2-9F6A-D324AC1D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2640013"/>
            <a:ext cx="2376487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8|7.2|1.6|27.3|38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9|4.4|28.5|10.2|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9|12.7|3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4.7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7|10.6|22.8|0.9|11.8|1.4|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3|74.6|18.1|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2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8|11.1|1.2|0.9|0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4.8|1.4|1.4|1.6|8.3|0.4|10.3|0.6|0.7|0.7|0.5|0.6|0.5|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5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7|214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17.5|0.9|11.4|31.1"/>
</p:tagLst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1355</TotalTime>
  <Pages>0</Pages>
  <Words>2255</Words>
  <Characters>0</Characters>
  <Application>Microsoft Office PowerPoint</Application>
  <DocSecurity>0</DocSecurity>
  <PresentationFormat>全屏显示(4:3)</PresentationFormat>
  <Lines>0</Lines>
  <Paragraphs>662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8" baseType="lpstr">
      <vt:lpstr>宋体</vt:lpstr>
      <vt:lpstr>微软雅黑</vt:lpstr>
      <vt:lpstr>Arial</vt:lpstr>
      <vt:lpstr>Times New Roman</vt:lpstr>
      <vt:lpstr>Wingdings</vt:lpstr>
      <vt:lpstr>经分互动规范介绍</vt:lpstr>
      <vt:lpstr>提纲</vt:lpstr>
      <vt:lpstr>12.4.3 链表基本操作</vt:lpstr>
      <vt:lpstr>12.4.3 链表基本操作-1</vt:lpstr>
      <vt:lpstr>带空结点的链表</vt:lpstr>
      <vt:lpstr>预备：头指针和空结点</vt:lpstr>
      <vt:lpstr>主程序片断</vt:lpstr>
      <vt:lpstr>链表基本操作-1</vt:lpstr>
      <vt:lpstr>PowerPoint 演示文稿</vt:lpstr>
      <vt:lpstr>PowerPoint 演示文稿</vt:lpstr>
      <vt:lpstr>PowerPoint 演示文稿</vt:lpstr>
      <vt:lpstr>PowerPoint 演示文稿</vt:lpstr>
      <vt:lpstr>优化后预备：头/尾指针和空结点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基本操作5－按值删除结点</vt:lpstr>
      <vt:lpstr>基本操作5－按值删除结点</vt:lpstr>
      <vt:lpstr>基本操作5－按值删除结点</vt:lpstr>
      <vt:lpstr>基本操作5－删除多重结点</vt:lpstr>
      <vt:lpstr>PowerPoint 演示文稿</vt:lpstr>
      <vt:lpstr>基本操作5－删除指定位置结点</vt:lpstr>
      <vt:lpstr>PowerPoint 演示文稿</vt:lpstr>
      <vt:lpstr>基本操作2－释放链表</vt:lpstr>
      <vt:lpstr>基本操作2－释放链表</vt:lpstr>
      <vt:lpstr>基本操作2－判断空链表</vt:lpstr>
      <vt:lpstr>基本操作2－链表长度</vt:lpstr>
      <vt:lpstr>PowerPoint 演示文稿</vt:lpstr>
      <vt:lpstr>基本操作3－链表结点的检索</vt:lpstr>
      <vt:lpstr>PowerPoint 演示文稿</vt:lpstr>
      <vt:lpstr>PowerPoint 演示文稿</vt:lpstr>
      <vt:lpstr>链表逆序-思路</vt:lpstr>
      <vt:lpstr>链表逆序</vt:lpstr>
      <vt:lpstr>链表逆序</vt:lpstr>
      <vt:lpstr>PowerPoint 演示文稿</vt:lpstr>
      <vt:lpstr>PowerPoint 演示文稿</vt:lpstr>
      <vt:lpstr>有序(升序)链表的归并</vt:lpstr>
      <vt:lpstr>有序(升序)链表的归并</vt:lpstr>
      <vt:lpstr>有序(升序)链表的归并</vt:lpstr>
      <vt:lpstr>环形链表</vt:lpstr>
      <vt:lpstr>环形-头尾相接</vt:lpstr>
      <vt:lpstr>环形链表的尾插结点</vt:lpstr>
      <vt:lpstr>约瑟夫问题的主程序</vt:lpstr>
      <vt:lpstr>约瑟夫问题的主程序</vt:lpstr>
      <vt:lpstr>约瑟夫问题的主程序</vt:lpstr>
      <vt:lpstr>PowerPoint 演示文稿</vt:lpstr>
      <vt:lpstr>释放环形链表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   结构与链表</dc:title>
  <dc:subject/>
  <dc:creator>zhouchunyan</dc:creator>
  <cp:keywords/>
  <dc:description/>
  <cp:lastModifiedBy>yuanbaoku</cp:lastModifiedBy>
  <cp:revision>1222</cp:revision>
  <dcterms:created xsi:type="dcterms:W3CDTF">2001-04-18T13:38:17Z</dcterms:created>
  <dcterms:modified xsi:type="dcterms:W3CDTF">2026-03-18T01:01:33Z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2052-10.1.0.5457</vt:lpwstr>
  </property>
</Properties>
</file>